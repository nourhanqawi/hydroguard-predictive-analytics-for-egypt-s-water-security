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8288000" cy="10287000"/>
  <p:notesSz cx="6858000" cy="9144000"/>
  <p:embeddedFontLst>
    <p:embeddedFont>
      <p:font typeface="Dubai" panose="020B0503030403030204" pitchFamily="34" charset="-78"/>
      <p:regular r:id="rId18"/>
      <p:bold r:id="rId19"/>
    </p:embeddedFont>
    <p:embeddedFont>
      <p:font typeface="Playfair Display" panose="00000500000000000000" pitchFamily="2" charset="0"/>
      <p:regular r:id="rId20"/>
    </p:embeddedFont>
    <p:embeddedFont>
      <p:font typeface="Playfair Display Bold" panose="020B0604020202020204" charset="0"/>
      <p:regular r:id="rId21"/>
    </p:embeddedFont>
    <p:embeddedFont>
      <p:font typeface="Playfair Display Medium" panose="020B0604020202020204" charset="0"/>
      <p:regular r:id="rId22"/>
    </p:embeddedFont>
    <p:embeddedFont>
      <p:font typeface="Segoe UI" panose="020B0502040204020203" pitchFamily="34" charset="0"/>
      <p:regular r:id="rId23"/>
      <p:bold r:id="rId24"/>
      <p:italic r:id="rId25"/>
      <p:boldItalic r:id="rId26"/>
    </p:embeddedFont>
    <p:embeddedFont>
      <p:font typeface="Segoe UI Semibold" panose="020B0702040204020203" pitchFamily="34" charset="0"/>
      <p:bold r:id="rId27"/>
      <p:boldItalic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autoAdjust="0"/>
    <p:restoredTop sz="93447" autoAdjust="0"/>
  </p:normalViewPr>
  <p:slideViewPr>
    <p:cSldViewPr>
      <p:cViewPr varScale="1">
        <p:scale>
          <a:sx n="42" d="100"/>
          <a:sy n="42" d="100"/>
        </p:scale>
        <p:origin x="780" y="5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font" Target="fonts/font11.fntdata"/><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12/4/2025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 Id="rId4" Type="http://schemas.openxmlformats.org/officeDocument/2006/relationships/image" Target="../media/image4.svg"/></Relationships>
</file>

<file path=ppt/slides/_rels/slide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5.jpeg"/></Relationships>
</file>

<file path=ppt/slides/_rels/slide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eg"/><Relationship Id="rId1" Type="http://schemas.openxmlformats.org/officeDocument/2006/relationships/slideLayout" Target="../slideLayouts/slideLayout7.xml"/><Relationship Id="rId4" Type="http://schemas.openxmlformats.org/officeDocument/2006/relationships/image" Target="../media/image4.svg"/></Relationships>
</file>

<file path=ppt/slides/_rels/slide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e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4.sv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png"/><Relationship Id="rId1" Type="http://schemas.openxmlformats.org/officeDocument/2006/relationships/slideLayout" Target="../slideLayouts/slideLayout7.xml"/><Relationship Id="rId4" Type="http://schemas.openxmlformats.org/officeDocument/2006/relationships/image" Target="../media/image7.svg"/></Relationships>
</file>

<file path=ppt/slides/_rels/slide1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image" Target="../media/image16.png"/><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0F0F0"/>
        </a:solidFill>
        <a:effectLst/>
      </p:bgPr>
    </p:bg>
    <p:spTree>
      <p:nvGrpSpPr>
        <p:cNvPr id="1" name=""/>
        <p:cNvGrpSpPr/>
        <p:nvPr/>
      </p:nvGrpSpPr>
      <p:grpSpPr>
        <a:xfrm>
          <a:off x="0" y="0"/>
          <a:ext cx="0" cy="0"/>
          <a:chOff x="0" y="0"/>
          <a:chExt cx="0" cy="0"/>
        </a:xfrm>
      </p:grpSpPr>
      <p:grpSp>
        <p:nvGrpSpPr>
          <p:cNvPr id="2" name="Group 2"/>
          <p:cNvGrpSpPr/>
          <p:nvPr/>
        </p:nvGrpSpPr>
        <p:grpSpPr>
          <a:xfrm rot="-5400000">
            <a:off x="12117811" y="-2913286"/>
            <a:ext cx="1931778" cy="9333379"/>
            <a:chOff x="0" y="0"/>
            <a:chExt cx="508781" cy="2458174"/>
          </a:xfrm>
        </p:grpSpPr>
        <p:sp>
          <p:nvSpPr>
            <p:cNvPr id="3" name="Freeform 3"/>
            <p:cNvSpPr/>
            <p:nvPr/>
          </p:nvSpPr>
          <p:spPr>
            <a:xfrm>
              <a:off x="0" y="0"/>
              <a:ext cx="508781" cy="2458174"/>
            </a:xfrm>
            <a:custGeom>
              <a:avLst/>
              <a:gdLst/>
              <a:ahLst/>
              <a:cxnLst/>
              <a:rect l="l" t="t" r="r" b="b"/>
              <a:pathLst>
                <a:path w="508781" h="2458174">
                  <a:moveTo>
                    <a:pt x="0" y="0"/>
                  </a:moveTo>
                  <a:lnTo>
                    <a:pt x="508781" y="0"/>
                  </a:lnTo>
                  <a:lnTo>
                    <a:pt x="508781" y="2458174"/>
                  </a:lnTo>
                  <a:lnTo>
                    <a:pt x="0" y="2458174"/>
                  </a:lnTo>
                  <a:close/>
                </a:path>
              </a:pathLst>
            </a:custGeom>
            <a:gradFill rotWithShape="1">
              <a:gsLst>
                <a:gs pos="0">
                  <a:srgbClr val="000000">
                    <a:alpha val="100000"/>
                  </a:srgbClr>
                </a:gs>
                <a:gs pos="100000">
                  <a:srgbClr val="3533CD">
                    <a:alpha val="100000"/>
                  </a:srgbClr>
                </a:gs>
              </a:gsLst>
              <a:lin ang="2700000"/>
            </a:gradFill>
          </p:spPr>
          <p:txBody>
            <a:bodyPr/>
            <a:lstStyle/>
            <a:p>
              <a:endParaRPr lang="en-US"/>
            </a:p>
          </p:txBody>
        </p:sp>
        <p:sp>
          <p:nvSpPr>
            <p:cNvPr id="4" name="TextBox 4"/>
            <p:cNvSpPr txBox="1"/>
            <p:nvPr/>
          </p:nvSpPr>
          <p:spPr>
            <a:xfrm>
              <a:off x="0" y="19050"/>
              <a:ext cx="508781" cy="2439124"/>
            </a:xfrm>
            <a:prstGeom prst="rect">
              <a:avLst/>
            </a:prstGeom>
          </p:spPr>
          <p:txBody>
            <a:bodyPr lIns="50800" tIns="50800" rIns="50800" bIns="50800" rtlCol="0" anchor="ctr"/>
            <a:lstStyle/>
            <a:p>
              <a:pPr algn="ctr">
                <a:lnSpc>
                  <a:spcPts val="1712"/>
                </a:lnSpc>
              </a:pPr>
              <a:endParaRPr/>
            </a:p>
          </p:txBody>
        </p:sp>
      </p:grpSp>
      <p:sp>
        <p:nvSpPr>
          <p:cNvPr id="5" name="Freeform 5"/>
          <p:cNvSpPr/>
          <p:nvPr/>
        </p:nvSpPr>
        <p:spPr>
          <a:xfrm>
            <a:off x="0" y="2994064"/>
            <a:ext cx="18288000" cy="7292936"/>
          </a:xfrm>
          <a:custGeom>
            <a:avLst/>
            <a:gdLst/>
            <a:ahLst/>
            <a:cxnLst/>
            <a:rect l="l" t="t" r="r" b="b"/>
            <a:pathLst>
              <a:path w="18288000" h="6906218">
                <a:moveTo>
                  <a:pt x="0" y="0"/>
                </a:moveTo>
                <a:lnTo>
                  <a:pt x="18288000" y="0"/>
                </a:lnTo>
                <a:lnTo>
                  <a:pt x="18288000" y="6906217"/>
                </a:lnTo>
                <a:lnTo>
                  <a:pt x="0" y="6906217"/>
                </a:lnTo>
                <a:lnTo>
                  <a:pt x="0" y="0"/>
                </a:lnTo>
                <a:close/>
              </a:path>
            </a:pathLst>
          </a:custGeom>
          <a:blipFill>
            <a:blip r:embed="rId2"/>
            <a:stretch>
              <a:fillRect t="-33492" b="-41319"/>
            </a:stretch>
          </a:blipFill>
        </p:spPr>
        <p:txBody>
          <a:bodyPr/>
          <a:lstStyle/>
          <a:p>
            <a:endParaRPr lang="en-US"/>
          </a:p>
        </p:txBody>
      </p:sp>
      <p:sp>
        <p:nvSpPr>
          <p:cNvPr id="6" name="TextBox 6"/>
          <p:cNvSpPr txBox="1"/>
          <p:nvPr/>
        </p:nvSpPr>
        <p:spPr>
          <a:xfrm>
            <a:off x="8989637" y="1009650"/>
            <a:ext cx="8188125" cy="1368901"/>
          </a:xfrm>
          <a:prstGeom prst="rect">
            <a:avLst/>
          </a:prstGeom>
        </p:spPr>
        <p:txBody>
          <a:bodyPr lIns="0" tIns="0" rIns="0" bIns="0" rtlCol="0" anchor="t">
            <a:spAutoFit/>
          </a:bodyPr>
          <a:lstStyle/>
          <a:p>
            <a:pPr algn="r" rtl="1">
              <a:lnSpc>
                <a:spcPts val="11447"/>
              </a:lnSpc>
            </a:pPr>
            <a:r>
              <a:rPr lang="ar-EG" sz="9382" b="1" dirty="0">
                <a:solidFill>
                  <a:srgbClr val="F0F0F0"/>
                </a:solidFill>
                <a:latin typeface="Segoe UI Semibold" panose="020B0702040204020203" pitchFamily="34" charset="0"/>
                <a:ea typeface="Playfair Display Bold"/>
                <a:cs typeface="Segoe UI Semibold" panose="020B0702040204020203" pitchFamily="34" charset="0"/>
                <a:sym typeface="Playfair Display Bold"/>
                <a:rtl/>
              </a:rPr>
              <a:t>أمن مصر المائي </a:t>
            </a:r>
          </a:p>
        </p:txBody>
      </p:sp>
      <p:sp>
        <p:nvSpPr>
          <p:cNvPr id="7" name="TextBox 5">
            <a:extLst>
              <a:ext uri="{FF2B5EF4-FFF2-40B4-BE49-F238E27FC236}">
                <a16:creationId xmlns:a16="http://schemas.microsoft.com/office/drawing/2014/main" id="{2BCECEC7-DE47-7523-08BF-65AC35A3474A}"/>
              </a:ext>
            </a:extLst>
          </p:cNvPr>
          <p:cNvSpPr txBox="1"/>
          <p:nvPr/>
        </p:nvSpPr>
        <p:spPr>
          <a:xfrm>
            <a:off x="13868400" y="203200"/>
            <a:ext cx="3623826" cy="359073"/>
          </a:xfrm>
          <a:prstGeom prst="rect">
            <a:avLst/>
          </a:prstGeom>
        </p:spPr>
        <p:txBody>
          <a:bodyPr lIns="0" tIns="0" rIns="0" bIns="0" rtlCol="0" anchor="t">
            <a:spAutoFit/>
          </a:bodyPr>
          <a:lstStyle/>
          <a:p>
            <a:pPr algn="r" rtl="1">
              <a:lnSpc>
                <a:spcPts val="2799"/>
              </a:lnSpc>
              <a:spcBef>
                <a:spcPct val="0"/>
              </a:spcBef>
            </a:pPr>
            <a:r>
              <a:rPr lang="ar-EG" sz="1999" b="1" dirty="0">
                <a:solidFill>
                  <a:srgbClr val="0031BB"/>
                </a:solidFill>
                <a:latin typeface="Dubai" panose="020B0503030403030204" pitchFamily="34" charset="-78"/>
                <a:ea typeface="Playfair Display Bold"/>
                <a:cs typeface="Dubai" panose="020B0503030403030204" pitchFamily="34" charset="-78"/>
                <a:sym typeface="Playfair Display Bold"/>
                <a:rtl/>
              </a:rPr>
              <a:t>صفحة  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800AD"/>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10282335"/>
          </a:xfrm>
          <a:custGeom>
            <a:avLst/>
            <a:gdLst/>
            <a:ahLst/>
            <a:cxnLst/>
            <a:rect l="l" t="t" r="r" b="b"/>
            <a:pathLst>
              <a:path w="18288000" h="10282335">
                <a:moveTo>
                  <a:pt x="0" y="0"/>
                </a:moveTo>
                <a:lnTo>
                  <a:pt x="18288000" y="0"/>
                </a:lnTo>
                <a:lnTo>
                  <a:pt x="18288000" y="10282335"/>
                </a:lnTo>
                <a:lnTo>
                  <a:pt x="0" y="10282335"/>
                </a:lnTo>
                <a:lnTo>
                  <a:pt x="0" y="0"/>
                </a:lnTo>
                <a:close/>
              </a:path>
            </a:pathLst>
          </a:custGeom>
          <a:blipFill>
            <a:blip r:embed="rId2">
              <a:alphaModFix amt="50000"/>
            </a:blip>
            <a:stretch>
              <a:fillRect/>
            </a:stretch>
          </a:blipFill>
        </p:spPr>
        <p:txBody>
          <a:bodyPr/>
          <a:lstStyle/>
          <a:p>
            <a:endParaRPr lang="en-US" dirty="0"/>
          </a:p>
        </p:txBody>
      </p:sp>
      <p:sp>
        <p:nvSpPr>
          <p:cNvPr id="3" name="Freeform 3"/>
          <p:cNvSpPr/>
          <p:nvPr/>
        </p:nvSpPr>
        <p:spPr>
          <a:xfrm>
            <a:off x="1028700" y="1028700"/>
            <a:ext cx="764652" cy="790499"/>
          </a:xfrm>
          <a:custGeom>
            <a:avLst/>
            <a:gdLst/>
            <a:ahLst/>
            <a:cxnLst/>
            <a:rect l="l" t="t" r="r" b="b"/>
            <a:pathLst>
              <a:path w="764652" h="790499">
                <a:moveTo>
                  <a:pt x="0" y="0"/>
                </a:moveTo>
                <a:lnTo>
                  <a:pt x="764652" y="0"/>
                </a:lnTo>
                <a:lnTo>
                  <a:pt x="764652" y="790499"/>
                </a:lnTo>
                <a:lnTo>
                  <a:pt x="0" y="79049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4" name="TextBox 4"/>
          <p:cNvSpPr txBox="1"/>
          <p:nvPr/>
        </p:nvSpPr>
        <p:spPr>
          <a:xfrm>
            <a:off x="16527417" y="4932198"/>
            <a:ext cx="731883" cy="501650"/>
          </a:xfrm>
          <a:prstGeom prst="rect">
            <a:avLst/>
          </a:prstGeom>
        </p:spPr>
        <p:txBody>
          <a:bodyPr lIns="0" tIns="0" rIns="0" bIns="0" rtlCol="0" anchor="t">
            <a:spAutoFit/>
          </a:bodyPr>
          <a:lstStyle/>
          <a:p>
            <a:pPr algn="r" rtl="1">
              <a:lnSpc>
                <a:spcPts val="3850"/>
              </a:lnSpc>
            </a:pPr>
            <a:r>
              <a:rPr lang="en-US" sz="3500" b="1">
                <a:solidFill>
                  <a:srgbClr val="F0F0F0"/>
                </a:solidFill>
                <a:latin typeface="Playfair Display Medium"/>
                <a:ea typeface="Playfair Display Medium"/>
                <a:cs typeface="Playfair Display Medium"/>
                <a:sym typeface="Playfair Display Medium"/>
              </a:rPr>
              <a:t>١</a:t>
            </a:r>
            <a:r>
              <a:rPr lang="ar-EG" sz="3500" b="1">
                <a:solidFill>
                  <a:srgbClr val="F0F0F0"/>
                </a:solidFill>
                <a:latin typeface="Playfair Display Medium"/>
                <a:ea typeface="Playfair Display Medium"/>
                <a:cs typeface="Playfair Display Medium"/>
                <a:sym typeface="Playfair Display Medium"/>
                <a:rtl/>
              </a:rPr>
              <a:t> -</a:t>
            </a:r>
          </a:p>
        </p:txBody>
      </p:sp>
      <p:sp>
        <p:nvSpPr>
          <p:cNvPr id="5" name="TextBox 5"/>
          <p:cNvSpPr txBox="1"/>
          <p:nvPr/>
        </p:nvSpPr>
        <p:spPr>
          <a:xfrm>
            <a:off x="9572346" y="4930234"/>
            <a:ext cx="6726444" cy="509755"/>
          </a:xfrm>
          <a:prstGeom prst="rect">
            <a:avLst/>
          </a:prstGeom>
        </p:spPr>
        <p:txBody>
          <a:bodyPr lIns="0" tIns="0" rIns="0" bIns="0" rtlCol="0" anchor="t">
            <a:spAutoFit/>
          </a:bodyPr>
          <a:lstStyle/>
          <a:p>
            <a:pPr algn="just" rtl="1">
              <a:lnSpc>
                <a:spcPts val="3850"/>
              </a:lnSpc>
            </a:pPr>
            <a:r>
              <a:rPr lang="ar-EG" sz="3500" dirty="0">
                <a:solidFill>
                  <a:srgbClr val="F0F0F0"/>
                </a:solidFill>
                <a:latin typeface="Dubai" panose="020B0503030403030204" pitchFamily="34" charset="-78"/>
                <a:ea typeface="Playfair Display"/>
                <a:cs typeface="Dubai" panose="020B0503030403030204" pitchFamily="34" charset="-78"/>
                <a:sym typeface="Playfair Display"/>
                <a:rtl/>
              </a:rPr>
              <a:t>هبة فؤاد محمود</a:t>
            </a:r>
          </a:p>
        </p:txBody>
      </p:sp>
      <p:sp>
        <p:nvSpPr>
          <p:cNvPr id="6" name="TextBox 6"/>
          <p:cNvSpPr txBox="1"/>
          <p:nvPr/>
        </p:nvSpPr>
        <p:spPr>
          <a:xfrm>
            <a:off x="16527417" y="5882431"/>
            <a:ext cx="731883" cy="501650"/>
          </a:xfrm>
          <a:prstGeom prst="rect">
            <a:avLst/>
          </a:prstGeom>
        </p:spPr>
        <p:txBody>
          <a:bodyPr lIns="0" tIns="0" rIns="0" bIns="0" rtlCol="0" anchor="t">
            <a:spAutoFit/>
          </a:bodyPr>
          <a:lstStyle/>
          <a:p>
            <a:pPr algn="r" rtl="1">
              <a:lnSpc>
                <a:spcPts val="3850"/>
              </a:lnSpc>
            </a:pPr>
            <a:r>
              <a:rPr lang="en-US" sz="3500" b="1">
                <a:solidFill>
                  <a:srgbClr val="F0F0F0"/>
                </a:solidFill>
                <a:latin typeface="Playfair Display Medium"/>
                <a:ea typeface="Playfair Display Medium"/>
                <a:cs typeface="Playfair Display Medium"/>
                <a:sym typeface="Playfair Display Medium"/>
              </a:rPr>
              <a:t>٢</a:t>
            </a:r>
            <a:r>
              <a:rPr lang="ar-EG" sz="3500" b="1">
                <a:solidFill>
                  <a:srgbClr val="F0F0F0"/>
                </a:solidFill>
                <a:latin typeface="Playfair Display Medium"/>
                <a:ea typeface="Playfair Display Medium"/>
                <a:cs typeface="Playfair Display Medium"/>
                <a:sym typeface="Playfair Display Medium"/>
                <a:rtl/>
              </a:rPr>
              <a:t> -</a:t>
            </a:r>
          </a:p>
        </p:txBody>
      </p:sp>
      <p:sp>
        <p:nvSpPr>
          <p:cNvPr id="7" name="TextBox 7"/>
          <p:cNvSpPr txBox="1"/>
          <p:nvPr/>
        </p:nvSpPr>
        <p:spPr>
          <a:xfrm>
            <a:off x="9572346" y="5871998"/>
            <a:ext cx="6726444" cy="509755"/>
          </a:xfrm>
          <a:prstGeom prst="rect">
            <a:avLst/>
          </a:prstGeom>
        </p:spPr>
        <p:txBody>
          <a:bodyPr lIns="0" tIns="0" rIns="0" bIns="0" rtlCol="0" anchor="t">
            <a:spAutoFit/>
          </a:bodyPr>
          <a:lstStyle/>
          <a:p>
            <a:pPr algn="just" rtl="1">
              <a:lnSpc>
                <a:spcPts val="3850"/>
              </a:lnSpc>
            </a:pPr>
            <a:r>
              <a:rPr lang="ar-EG" sz="3500" dirty="0">
                <a:solidFill>
                  <a:srgbClr val="F0F0F0"/>
                </a:solidFill>
                <a:latin typeface="Segoe UI" panose="020B0502040204020203" pitchFamily="34" charset="0"/>
                <a:ea typeface="Playfair Display"/>
                <a:cs typeface="Segoe UI" panose="020B0502040204020203" pitchFamily="34" charset="0"/>
                <a:sym typeface="Playfair Display"/>
                <a:rtl/>
              </a:rPr>
              <a:t>ه</a:t>
            </a:r>
            <a:r>
              <a:rPr lang="ar-EG" sz="3500" dirty="0">
                <a:solidFill>
                  <a:srgbClr val="F0F0F0"/>
                </a:solidFill>
                <a:latin typeface="Playfair Display"/>
                <a:ea typeface="Playfair Display"/>
                <a:cs typeface="Segoe UI" panose="020B0502040204020203" pitchFamily="34" charset="0"/>
                <a:sym typeface="Playfair Display"/>
                <a:rtl/>
              </a:rPr>
              <a:t>نا </a:t>
            </a:r>
            <a:r>
              <a:rPr lang="ar-EG" sz="3500" dirty="0">
                <a:solidFill>
                  <a:srgbClr val="F0F0F0"/>
                </a:solidFill>
                <a:latin typeface="Dubai" panose="020B0503030403030204" pitchFamily="34" charset="-78"/>
                <a:cs typeface="Dubai" panose="020B0503030403030204" pitchFamily="34" charset="-78"/>
                <a:sym typeface="Playfair Display"/>
                <a:rtl/>
              </a:rPr>
              <a:t>وائل</a:t>
            </a:r>
            <a:r>
              <a:rPr lang="ar-EG" sz="3500" dirty="0">
                <a:solidFill>
                  <a:srgbClr val="F0F0F0"/>
                </a:solidFill>
                <a:latin typeface="Playfair Display"/>
                <a:ea typeface="Playfair Display"/>
                <a:cs typeface="Playfair Display"/>
                <a:sym typeface="Playfair Display"/>
                <a:rtl/>
              </a:rPr>
              <a:t> </a:t>
            </a:r>
            <a:r>
              <a:rPr lang="ar-EG" sz="3500" dirty="0">
                <a:solidFill>
                  <a:srgbClr val="F0F0F0"/>
                </a:solidFill>
                <a:latin typeface="Segoe UI" panose="020B0502040204020203" pitchFamily="34" charset="0"/>
                <a:ea typeface="Playfair Display"/>
                <a:cs typeface="Segoe UI" panose="020B0502040204020203" pitchFamily="34" charset="0"/>
                <a:sym typeface="Playfair Display"/>
                <a:rtl/>
              </a:rPr>
              <a:t>الخولي</a:t>
            </a:r>
            <a:r>
              <a:rPr lang="ar-EG" sz="3500" dirty="0">
                <a:solidFill>
                  <a:srgbClr val="F0F0F0"/>
                </a:solidFill>
                <a:latin typeface="Playfair Display"/>
                <a:ea typeface="Playfair Display"/>
                <a:cs typeface="Playfair Display"/>
                <a:sym typeface="Playfair Display"/>
                <a:rtl/>
              </a:rPr>
              <a:t> </a:t>
            </a:r>
          </a:p>
        </p:txBody>
      </p:sp>
      <p:sp>
        <p:nvSpPr>
          <p:cNvPr id="8" name="TextBox 8"/>
          <p:cNvSpPr txBox="1"/>
          <p:nvPr/>
        </p:nvSpPr>
        <p:spPr>
          <a:xfrm>
            <a:off x="16527417" y="6823320"/>
            <a:ext cx="731883" cy="501650"/>
          </a:xfrm>
          <a:prstGeom prst="rect">
            <a:avLst/>
          </a:prstGeom>
        </p:spPr>
        <p:txBody>
          <a:bodyPr lIns="0" tIns="0" rIns="0" bIns="0" rtlCol="0" anchor="t">
            <a:spAutoFit/>
          </a:bodyPr>
          <a:lstStyle/>
          <a:p>
            <a:pPr algn="r" rtl="1">
              <a:lnSpc>
                <a:spcPts val="3850"/>
              </a:lnSpc>
            </a:pPr>
            <a:r>
              <a:rPr lang="en-US" sz="3500" b="1">
                <a:solidFill>
                  <a:srgbClr val="F0F0F0"/>
                </a:solidFill>
                <a:latin typeface="Playfair Display Medium"/>
                <a:ea typeface="Playfair Display Medium"/>
                <a:cs typeface="Playfair Display Medium"/>
                <a:sym typeface="Playfair Display Medium"/>
              </a:rPr>
              <a:t>٣</a:t>
            </a:r>
            <a:r>
              <a:rPr lang="ar-EG" sz="3500" b="1">
                <a:solidFill>
                  <a:srgbClr val="F0F0F0"/>
                </a:solidFill>
                <a:latin typeface="Playfair Display Medium"/>
                <a:ea typeface="Playfair Display Medium"/>
                <a:cs typeface="Playfair Display Medium"/>
                <a:sym typeface="Playfair Display Medium"/>
                <a:rtl/>
              </a:rPr>
              <a:t> -</a:t>
            </a:r>
          </a:p>
        </p:txBody>
      </p:sp>
      <p:sp>
        <p:nvSpPr>
          <p:cNvPr id="9" name="TextBox 9"/>
          <p:cNvSpPr txBox="1"/>
          <p:nvPr/>
        </p:nvSpPr>
        <p:spPr>
          <a:xfrm>
            <a:off x="9572346" y="6822231"/>
            <a:ext cx="6726444" cy="501656"/>
          </a:xfrm>
          <a:prstGeom prst="rect">
            <a:avLst/>
          </a:prstGeom>
        </p:spPr>
        <p:txBody>
          <a:bodyPr lIns="0" tIns="0" rIns="0" bIns="0" rtlCol="0" anchor="t">
            <a:spAutoFit/>
          </a:bodyPr>
          <a:lstStyle/>
          <a:p>
            <a:pPr algn="just" rtl="1">
              <a:lnSpc>
                <a:spcPts val="3850"/>
              </a:lnSpc>
            </a:pPr>
            <a:r>
              <a:rPr lang="ar-EG" sz="3500" dirty="0">
                <a:solidFill>
                  <a:srgbClr val="F0F0F0"/>
                </a:solidFill>
                <a:latin typeface="Segoe UI" panose="020B0502040204020203" pitchFamily="34" charset="0"/>
                <a:ea typeface="Playfair Display"/>
                <a:cs typeface="Segoe UI" panose="020B0502040204020203" pitchFamily="34" charset="0"/>
                <a:sym typeface="Playfair Display"/>
                <a:rtl/>
              </a:rPr>
              <a:t>نورهان </a:t>
            </a:r>
            <a:r>
              <a:rPr lang="ar-EG" sz="3500" dirty="0">
                <a:solidFill>
                  <a:srgbClr val="F0F0F0"/>
                </a:solidFill>
                <a:latin typeface="Segoe UI" panose="020B0502040204020203" pitchFamily="34" charset="0"/>
                <a:cs typeface="Segoe UI" panose="020B0502040204020203" pitchFamily="34" charset="0"/>
                <a:sym typeface="Playfair Display"/>
                <a:rtl/>
              </a:rPr>
              <a:t>محمد</a:t>
            </a:r>
            <a:r>
              <a:rPr lang="ar-EG" sz="3500" dirty="0">
                <a:solidFill>
                  <a:srgbClr val="F0F0F0"/>
                </a:solidFill>
                <a:latin typeface="Segoe UI" panose="020B0502040204020203" pitchFamily="34" charset="0"/>
                <a:ea typeface="Playfair Display"/>
                <a:cs typeface="Segoe UI" panose="020B0502040204020203" pitchFamily="34" charset="0"/>
                <a:sym typeface="Playfair Display"/>
                <a:rtl/>
              </a:rPr>
              <a:t>  عبد القوي</a:t>
            </a:r>
          </a:p>
        </p:txBody>
      </p:sp>
      <p:sp>
        <p:nvSpPr>
          <p:cNvPr id="10" name="TextBox 10"/>
          <p:cNvSpPr txBox="1"/>
          <p:nvPr/>
        </p:nvSpPr>
        <p:spPr>
          <a:xfrm>
            <a:off x="16527417" y="7771562"/>
            <a:ext cx="731883" cy="501650"/>
          </a:xfrm>
          <a:prstGeom prst="rect">
            <a:avLst/>
          </a:prstGeom>
        </p:spPr>
        <p:txBody>
          <a:bodyPr lIns="0" tIns="0" rIns="0" bIns="0" rtlCol="0" anchor="t">
            <a:spAutoFit/>
          </a:bodyPr>
          <a:lstStyle/>
          <a:p>
            <a:pPr algn="r" rtl="1">
              <a:lnSpc>
                <a:spcPts val="3850"/>
              </a:lnSpc>
            </a:pPr>
            <a:r>
              <a:rPr lang="en-US" sz="3500" b="1">
                <a:solidFill>
                  <a:srgbClr val="F0F0F0"/>
                </a:solidFill>
                <a:latin typeface="Playfair Display Medium"/>
                <a:ea typeface="Playfair Display Medium"/>
                <a:cs typeface="Playfair Display Medium"/>
                <a:sym typeface="Playfair Display Medium"/>
              </a:rPr>
              <a:t>٤</a:t>
            </a:r>
            <a:r>
              <a:rPr lang="ar-EG" sz="3500" b="1">
                <a:solidFill>
                  <a:srgbClr val="F0F0F0"/>
                </a:solidFill>
                <a:latin typeface="Playfair Display Medium"/>
                <a:ea typeface="Playfair Display Medium"/>
                <a:cs typeface="Playfair Display Medium"/>
                <a:sym typeface="Playfair Display Medium"/>
                <a:rtl/>
              </a:rPr>
              <a:t> - </a:t>
            </a:r>
          </a:p>
        </p:txBody>
      </p:sp>
      <p:sp>
        <p:nvSpPr>
          <p:cNvPr id="11" name="TextBox 11"/>
          <p:cNvSpPr txBox="1"/>
          <p:nvPr/>
        </p:nvSpPr>
        <p:spPr>
          <a:xfrm>
            <a:off x="9572346" y="7763120"/>
            <a:ext cx="6726444" cy="501656"/>
          </a:xfrm>
          <a:prstGeom prst="rect">
            <a:avLst/>
          </a:prstGeom>
        </p:spPr>
        <p:txBody>
          <a:bodyPr lIns="0" tIns="0" rIns="0" bIns="0" rtlCol="0" anchor="t">
            <a:spAutoFit/>
          </a:bodyPr>
          <a:lstStyle/>
          <a:p>
            <a:pPr algn="just" rtl="1">
              <a:lnSpc>
                <a:spcPts val="3850"/>
              </a:lnSpc>
            </a:pPr>
            <a:r>
              <a:rPr lang="ar-EG" sz="3500" dirty="0">
                <a:solidFill>
                  <a:srgbClr val="F0F0F0"/>
                </a:solidFill>
                <a:latin typeface="Segoe UI" panose="020B0502040204020203" pitchFamily="34" charset="0"/>
                <a:ea typeface="Playfair Display"/>
                <a:cs typeface="Segoe UI" panose="020B0502040204020203" pitchFamily="34" charset="0"/>
                <a:sym typeface="Playfair Display"/>
                <a:rtl/>
              </a:rPr>
              <a:t>منى السيد محمد </a:t>
            </a:r>
          </a:p>
        </p:txBody>
      </p:sp>
      <p:sp>
        <p:nvSpPr>
          <p:cNvPr id="12" name="TextBox 12"/>
          <p:cNvSpPr txBox="1"/>
          <p:nvPr/>
        </p:nvSpPr>
        <p:spPr>
          <a:xfrm>
            <a:off x="9144000" y="2090933"/>
            <a:ext cx="8115300" cy="1754455"/>
          </a:xfrm>
          <a:prstGeom prst="rect">
            <a:avLst/>
          </a:prstGeom>
        </p:spPr>
        <p:txBody>
          <a:bodyPr lIns="0" tIns="0" rIns="0" bIns="0" rtlCol="0" anchor="t">
            <a:spAutoFit/>
          </a:bodyPr>
          <a:lstStyle/>
          <a:p>
            <a:pPr algn="l" rtl="1">
              <a:lnSpc>
                <a:spcPts val="15031"/>
              </a:lnSpc>
              <a:spcBef>
                <a:spcPct val="0"/>
              </a:spcBef>
            </a:pPr>
            <a:r>
              <a:rPr lang="ar-EG" sz="10736" b="1" dirty="0">
                <a:solidFill>
                  <a:srgbClr val="F0F0F0"/>
                </a:solidFill>
                <a:latin typeface="Segoe UI" panose="020B0502040204020203" pitchFamily="34" charset="0"/>
                <a:ea typeface="Playfair Display Bold"/>
                <a:cs typeface="Segoe UI" panose="020B0502040204020203" pitchFamily="34" charset="0"/>
                <a:sym typeface="Playfair Display Bold"/>
                <a:rtl/>
              </a:rPr>
              <a:t>اعضاء الفريق </a:t>
            </a:r>
          </a:p>
        </p:txBody>
      </p:sp>
      <p:sp>
        <p:nvSpPr>
          <p:cNvPr id="13" name="TextBox 13"/>
          <p:cNvSpPr txBox="1"/>
          <p:nvPr/>
        </p:nvSpPr>
        <p:spPr>
          <a:xfrm>
            <a:off x="16527417" y="8756650"/>
            <a:ext cx="731883" cy="501650"/>
          </a:xfrm>
          <a:prstGeom prst="rect">
            <a:avLst/>
          </a:prstGeom>
        </p:spPr>
        <p:txBody>
          <a:bodyPr lIns="0" tIns="0" rIns="0" bIns="0" rtlCol="0" anchor="t">
            <a:spAutoFit/>
          </a:bodyPr>
          <a:lstStyle/>
          <a:p>
            <a:pPr algn="r" rtl="1">
              <a:lnSpc>
                <a:spcPts val="3850"/>
              </a:lnSpc>
            </a:pPr>
            <a:r>
              <a:rPr lang="en-US" sz="3500" b="1">
                <a:solidFill>
                  <a:srgbClr val="F0F0F0"/>
                </a:solidFill>
                <a:latin typeface="Playfair Display Medium"/>
                <a:ea typeface="Playfair Display Medium"/>
                <a:cs typeface="Playfair Display Medium"/>
                <a:sym typeface="Playfair Display Medium"/>
              </a:rPr>
              <a:t>٥</a:t>
            </a:r>
            <a:r>
              <a:rPr lang="ar-EG" sz="3500" b="1">
                <a:solidFill>
                  <a:srgbClr val="F0F0F0"/>
                </a:solidFill>
                <a:latin typeface="Playfair Display Medium"/>
                <a:ea typeface="Playfair Display Medium"/>
                <a:cs typeface="Playfair Display Medium"/>
                <a:sym typeface="Playfair Display Medium"/>
                <a:rtl/>
              </a:rPr>
              <a:t> -</a:t>
            </a:r>
          </a:p>
        </p:txBody>
      </p:sp>
      <p:sp>
        <p:nvSpPr>
          <p:cNvPr id="14" name="TextBox 14"/>
          <p:cNvSpPr txBox="1"/>
          <p:nvPr/>
        </p:nvSpPr>
        <p:spPr>
          <a:xfrm>
            <a:off x="9572346" y="8708681"/>
            <a:ext cx="6726444" cy="501656"/>
          </a:xfrm>
          <a:prstGeom prst="rect">
            <a:avLst/>
          </a:prstGeom>
        </p:spPr>
        <p:txBody>
          <a:bodyPr lIns="0" tIns="0" rIns="0" bIns="0" rtlCol="0" anchor="t">
            <a:spAutoFit/>
          </a:bodyPr>
          <a:lstStyle/>
          <a:p>
            <a:pPr algn="just" rtl="1">
              <a:lnSpc>
                <a:spcPts val="3850"/>
              </a:lnSpc>
            </a:pPr>
            <a:r>
              <a:rPr lang="ar-EG" sz="3500" dirty="0">
                <a:solidFill>
                  <a:srgbClr val="F0F0F0"/>
                </a:solidFill>
                <a:latin typeface="Segoe UI" panose="020B0502040204020203" pitchFamily="34" charset="0"/>
                <a:ea typeface="Playfair Display"/>
                <a:cs typeface="Segoe UI" panose="020B0502040204020203" pitchFamily="34" charset="0"/>
                <a:sym typeface="Playfair Display"/>
                <a:rtl/>
              </a:rPr>
              <a:t>حبيبة احمد عبد الحافظ</a:t>
            </a:r>
          </a:p>
        </p:txBody>
      </p:sp>
      <p:sp>
        <p:nvSpPr>
          <p:cNvPr id="15" name="TextBox 15"/>
          <p:cNvSpPr txBox="1"/>
          <p:nvPr/>
        </p:nvSpPr>
        <p:spPr>
          <a:xfrm>
            <a:off x="13635474" y="1000125"/>
            <a:ext cx="3623826" cy="359073"/>
          </a:xfrm>
          <a:prstGeom prst="rect">
            <a:avLst/>
          </a:prstGeom>
        </p:spPr>
        <p:txBody>
          <a:bodyPr lIns="0" tIns="0" rIns="0" bIns="0" rtlCol="0" anchor="t">
            <a:spAutoFit/>
          </a:bodyPr>
          <a:lstStyle/>
          <a:p>
            <a:pPr algn="r" rtl="1">
              <a:lnSpc>
                <a:spcPts val="2799"/>
              </a:lnSpc>
              <a:spcBef>
                <a:spcPct val="0"/>
              </a:spcBef>
            </a:pPr>
            <a:r>
              <a:rPr lang="ar-EG" sz="1999" b="1" dirty="0">
                <a:solidFill>
                  <a:srgbClr val="F0F0F0"/>
                </a:solidFill>
                <a:latin typeface="Dubai" panose="020B0503030403030204" pitchFamily="34" charset="-78"/>
                <a:ea typeface="Playfair Display Bold"/>
                <a:cs typeface="Dubai" panose="020B0503030403030204" pitchFamily="34" charset="-78"/>
                <a:sym typeface="Playfair Display Bold"/>
                <a:rtl/>
              </a:rPr>
              <a:t>صفحة 2</a:t>
            </a:r>
            <a:endParaRPr lang="en-US" sz="1999" b="1" dirty="0">
              <a:solidFill>
                <a:srgbClr val="F0F0F0"/>
              </a:solidFill>
              <a:latin typeface="Dubai" panose="020B0503030403030204" pitchFamily="34" charset="-78"/>
              <a:ea typeface="Playfair Display Bold"/>
              <a:cs typeface="Dubai" panose="020B0503030403030204" pitchFamily="34" charset="-78"/>
              <a:sym typeface="Playfair Display Bo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800AD"/>
        </a:solidFill>
        <a:effectLst/>
      </p:bgPr>
    </p:bg>
    <p:spTree>
      <p:nvGrpSpPr>
        <p:cNvPr id="1" name=""/>
        <p:cNvGrpSpPr/>
        <p:nvPr/>
      </p:nvGrpSpPr>
      <p:grpSpPr>
        <a:xfrm>
          <a:off x="0" y="0"/>
          <a:ext cx="0" cy="0"/>
          <a:chOff x="0" y="0"/>
          <a:chExt cx="0" cy="0"/>
        </a:xfrm>
      </p:grpSpPr>
      <p:sp>
        <p:nvSpPr>
          <p:cNvPr id="2" name="Freeform 2"/>
          <p:cNvSpPr/>
          <p:nvPr/>
        </p:nvSpPr>
        <p:spPr>
          <a:xfrm>
            <a:off x="1028700" y="1028700"/>
            <a:ext cx="764652" cy="790499"/>
          </a:xfrm>
          <a:custGeom>
            <a:avLst/>
            <a:gdLst/>
            <a:ahLst/>
            <a:cxnLst/>
            <a:rect l="l" t="t" r="r" b="b"/>
            <a:pathLst>
              <a:path w="764652" h="790499">
                <a:moveTo>
                  <a:pt x="0" y="0"/>
                </a:moveTo>
                <a:lnTo>
                  <a:pt x="764652" y="0"/>
                </a:lnTo>
                <a:lnTo>
                  <a:pt x="764652" y="790499"/>
                </a:lnTo>
                <a:lnTo>
                  <a:pt x="0" y="79049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a:off x="-4149" y="0"/>
            <a:ext cx="18292149" cy="10287000"/>
          </a:xfrm>
          <a:custGeom>
            <a:avLst/>
            <a:gdLst/>
            <a:ahLst/>
            <a:cxnLst/>
            <a:rect l="l" t="t" r="r" b="b"/>
            <a:pathLst>
              <a:path w="18292149" h="10287000">
                <a:moveTo>
                  <a:pt x="0" y="0"/>
                </a:moveTo>
                <a:lnTo>
                  <a:pt x="18292149" y="0"/>
                </a:lnTo>
                <a:lnTo>
                  <a:pt x="18292149" y="10287000"/>
                </a:lnTo>
                <a:lnTo>
                  <a:pt x="0" y="10287000"/>
                </a:lnTo>
                <a:lnTo>
                  <a:pt x="0" y="0"/>
                </a:lnTo>
                <a:close/>
              </a:path>
            </a:pathLst>
          </a:custGeom>
          <a:blipFill>
            <a:blip r:embed="rId4">
              <a:alphaModFix amt="51000"/>
            </a:blip>
            <a:stretch>
              <a:fillRect l="-4856" t="-9688" r="-4856"/>
            </a:stretch>
          </a:blipFill>
        </p:spPr>
        <p:txBody>
          <a:bodyPr/>
          <a:lstStyle/>
          <a:p>
            <a:endParaRPr lang="en-US"/>
          </a:p>
        </p:txBody>
      </p:sp>
      <p:sp>
        <p:nvSpPr>
          <p:cNvPr id="4" name="TextBox 4"/>
          <p:cNvSpPr txBox="1"/>
          <p:nvPr/>
        </p:nvSpPr>
        <p:spPr>
          <a:xfrm>
            <a:off x="16527417" y="4932198"/>
            <a:ext cx="731883" cy="501650"/>
          </a:xfrm>
          <a:prstGeom prst="rect">
            <a:avLst/>
          </a:prstGeom>
        </p:spPr>
        <p:txBody>
          <a:bodyPr lIns="0" tIns="0" rIns="0" bIns="0" rtlCol="0" anchor="t">
            <a:spAutoFit/>
          </a:bodyPr>
          <a:lstStyle/>
          <a:p>
            <a:pPr algn="r" rtl="1">
              <a:lnSpc>
                <a:spcPts val="3850"/>
              </a:lnSpc>
            </a:pPr>
            <a:r>
              <a:rPr lang="en-US" sz="3500" b="1">
                <a:solidFill>
                  <a:srgbClr val="F0F0F0"/>
                </a:solidFill>
                <a:latin typeface="Playfair Display Medium"/>
                <a:ea typeface="Playfair Display Medium"/>
                <a:cs typeface="Playfair Display Medium"/>
                <a:sym typeface="Playfair Display Medium"/>
              </a:rPr>
              <a:t>١</a:t>
            </a:r>
            <a:r>
              <a:rPr lang="ar-EG" sz="3500" b="1">
                <a:solidFill>
                  <a:srgbClr val="F0F0F0"/>
                </a:solidFill>
                <a:latin typeface="Playfair Display Medium"/>
                <a:ea typeface="Playfair Display Medium"/>
                <a:cs typeface="Playfair Display Medium"/>
                <a:sym typeface="Playfair Display Medium"/>
                <a:rtl/>
              </a:rPr>
              <a:t> -</a:t>
            </a:r>
          </a:p>
        </p:txBody>
      </p:sp>
      <p:sp>
        <p:nvSpPr>
          <p:cNvPr id="5" name="TextBox 5"/>
          <p:cNvSpPr txBox="1"/>
          <p:nvPr/>
        </p:nvSpPr>
        <p:spPr>
          <a:xfrm>
            <a:off x="9572346" y="4930234"/>
            <a:ext cx="6726444" cy="501656"/>
          </a:xfrm>
          <a:prstGeom prst="rect">
            <a:avLst/>
          </a:prstGeom>
        </p:spPr>
        <p:txBody>
          <a:bodyPr lIns="0" tIns="0" rIns="0" bIns="0" rtlCol="0" anchor="t">
            <a:spAutoFit/>
          </a:bodyPr>
          <a:lstStyle/>
          <a:p>
            <a:pPr algn="just" rtl="1">
              <a:lnSpc>
                <a:spcPts val="3850"/>
              </a:lnSpc>
            </a:pPr>
            <a:r>
              <a:rPr lang="ar-EG" sz="3500" dirty="0">
                <a:solidFill>
                  <a:srgbClr val="F0F0F0"/>
                </a:solidFill>
                <a:latin typeface="Segoe UI" panose="020B0502040204020203" pitchFamily="34" charset="0"/>
                <a:ea typeface="Playfair Display"/>
                <a:cs typeface="Segoe UI" panose="020B0502040204020203" pitchFamily="34" charset="0"/>
                <a:sym typeface="Playfair Display"/>
                <a:rtl/>
              </a:rPr>
              <a:t>المقدمة وسياق المشكلة </a:t>
            </a:r>
          </a:p>
        </p:txBody>
      </p:sp>
      <p:sp>
        <p:nvSpPr>
          <p:cNvPr id="6" name="TextBox 6"/>
          <p:cNvSpPr txBox="1"/>
          <p:nvPr/>
        </p:nvSpPr>
        <p:spPr>
          <a:xfrm>
            <a:off x="16527417" y="5882431"/>
            <a:ext cx="731883" cy="501650"/>
          </a:xfrm>
          <a:prstGeom prst="rect">
            <a:avLst/>
          </a:prstGeom>
        </p:spPr>
        <p:txBody>
          <a:bodyPr lIns="0" tIns="0" rIns="0" bIns="0" rtlCol="0" anchor="t">
            <a:spAutoFit/>
          </a:bodyPr>
          <a:lstStyle/>
          <a:p>
            <a:pPr algn="r" rtl="1">
              <a:lnSpc>
                <a:spcPts val="3850"/>
              </a:lnSpc>
            </a:pPr>
            <a:r>
              <a:rPr lang="en-US" sz="3500" b="1">
                <a:solidFill>
                  <a:srgbClr val="F0F0F0"/>
                </a:solidFill>
                <a:latin typeface="Playfair Display Medium"/>
                <a:ea typeface="Playfair Display Medium"/>
                <a:cs typeface="Playfair Display Medium"/>
                <a:sym typeface="Playfair Display Medium"/>
              </a:rPr>
              <a:t>٢</a:t>
            </a:r>
            <a:r>
              <a:rPr lang="ar-EG" sz="3500" b="1">
                <a:solidFill>
                  <a:srgbClr val="F0F0F0"/>
                </a:solidFill>
                <a:latin typeface="Playfair Display Medium"/>
                <a:ea typeface="Playfair Display Medium"/>
                <a:cs typeface="Playfair Display Medium"/>
                <a:sym typeface="Playfair Display Medium"/>
                <a:rtl/>
              </a:rPr>
              <a:t> -</a:t>
            </a:r>
          </a:p>
        </p:txBody>
      </p:sp>
      <p:sp>
        <p:nvSpPr>
          <p:cNvPr id="7" name="TextBox 7"/>
          <p:cNvSpPr txBox="1"/>
          <p:nvPr/>
        </p:nvSpPr>
        <p:spPr>
          <a:xfrm>
            <a:off x="9572346" y="5871998"/>
            <a:ext cx="6726444" cy="501656"/>
          </a:xfrm>
          <a:prstGeom prst="rect">
            <a:avLst/>
          </a:prstGeom>
        </p:spPr>
        <p:txBody>
          <a:bodyPr lIns="0" tIns="0" rIns="0" bIns="0" rtlCol="0" anchor="t">
            <a:spAutoFit/>
          </a:bodyPr>
          <a:lstStyle/>
          <a:p>
            <a:pPr algn="just" rtl="1">
              <a:lnSpc>
                <a:spcPts val="3850"/>
              </a:lnSpc>
            </a:pPr>
            <a:r>
              <a:rPr lang="ar-EG" sz="3500" dirty="0">
                <a:solidFill>
                  <a:srgbClr val="F0F0F0"/>
                </a:solidFill>
                <a:latin typeface="Segoe UI" panose="020B0502040204020203" pitchFamily="34" charset="0"/>
                <a:ea typeface="Playfair Display"/>
                <a:cs typeface="Segoe UI" panose="020B0502040204020203" pitchFamily="34" charset="0"/>
                <a:sym typeface="Playfair Display"/>
                <a:rtl/>
              </a:rPr>
              <a:t>البيانات والمصادر والادوات  </a:t>
            </a:r>
          </a:p>
        </p:txBody>
      </p:sp>
      <p:sp>
        <p:nvSpPr>
          <p:cNvPr id="8" name="TextBox 8"/>
          <p:cNvSpPr txBox="1"/>
          <p:nvPr/>
        </p:nvSpPr>
        <p:spPr>
          <a:xfrm>
            <a:off x="16527417" y="6823320"/>
            <a:ext cx="731883" cy="501650"/>
          </a:xfrm>
          <a:prstGeom prst="rect">
            <a:avLst/>
          </a:prstGeom>
        </p:spPr>
        <p:txBody>
          <a:bodyPr lIns="0" tIns="0" rIns="0" bIns="0" rtlCol="0" anchor="t">
            <a:spAutoFit/>
          </a:bodyPr>
          <a:lstStyle/>
          <a:p>
            <a:pPr algn="r" rtl="1">
              <a:lnSpc>
                <a:spcPts val="3850"/>
              </a:lnSpc>
            </a:pPr>
            <a:r>
              <a:rPr lang="en-US" sz="3500" b="1">
                <a:solidFill>
                  <a:srgbClr val="F0F0F0"/>
                </a:solidFill>
                <a:latin typeface="Playfair Display Medium"/>
                <a:ea typeface="Playfair Display Medium"/>
                <a:cs typeface="Playfair Display Medium"/>
                <a:sym typeface="Playfair Display Medium"/>
              </a:rPr>
              <a:t>٣</a:t>
            </a:r>
            <a:r>
              <a:rPr lang="ar-EG" sz="3500" b="1">
                <a:solidFill>
                  <a:srgbClr val="F0F0F0"/>
                </a:solidFill>
                <a:latin typeface="Playfair Display Medium"/>
                <a:ea typeface="Playfair Display Medium"/>
                <a:cs typeface="Playfair Display Medium"/>
                <a:sym typeface="Playfair Display Medium"/>
                <a:rtl/>
              </a:rPr>
              <a:t> -</a:t>
            </a:r>
          </a:p>
        </p:txBody>
      </p:sp>
      <p:sp>
        <p:nvSpPr>
          <p:cNvPr id="9" name="TextBox 9"/>
          <p:cNvSpPr txBox="1"/>
          <p:nvPr/>
        </p:nvSpPr>
        <p:spPr>
          <a:xfrm>
            <a:off x="9572346" y="6822231"/>
            <a:ext cx="6726444" cy="501656"/>
          </a:xfrm>
          <a:prstGeom prst="rect">
            <a:avLst/>
          </a:prstGeom>
        </p:spPr>
        <p:txBody>
          <a:bodyPr lIns="0" tIns="0" rIns="0" bIns="0" rtlCol="0" anchor="t">
            <a:spAutoFit/>
          </a:bodyPr>
          <a:lstStyle/>
          <a:p>
            <a:pPr algn="just" rtl="1">
              <a:lnSpc>
                <a:spcPts val="3850"/>
              </a:lnSpc>
            </a:pPr>
            <a:r>
              <a:rPr lang="ar-EG" sz="3500" dirty="0">
                <a:solidFill>
                  <a:srgbClr val="F0F0F0"/>
                </a:solidFill>
                <a:latin typeface="Segoe UI" panose="020B0502040204020203" pitchFamily="34" charset="0"/>
                <a:ea typeface="Playfair Display"/>
                <a:cs typeface="Segoe UI" panose="020B0502040204020203" pitchFamily="34" charset="0"/>
                <a:sym typeface="Playfair Display"/>
                <a:rtl/>
              </a:rPr>
              <a:t>معالجة البيانات وتحليلها</a:t>
            </a:r>
          </a:p>
        </p:txBody>
      </p:sp>
      <p:sp>
        <p:nvSpPr>
          <p:cNvPr id="10" name="TextBox 10"/>
          <p:cNvSpPr txBox="1"/>
          <p:nvPr/>
        </p:nvSpPr>
        <p:spPr>
          <a:xfrm>
            <a:off x="16527417" y="7771562"/>
            <a:ext cx="731883" cy="501650"/>
          </a:xfrm>
          <a:prstGeom prst="rect">
            <a:avLst/>
          </a:prstGeom>
        </p:spPr>
        <p:txBody>
          <a:bodyPr lIns="0" tIns="0" rIns="0" bIns="0" rtlCol="0" anchor="t">
            <a:spAutoFit/>
          </a:bodyPr>
          <a:lstStyle/>
          <a:p>
            <a:pPr algn="r" rtl="1">
              <a:lnSpc>
                <a:spcPts val="3850"/>
              </a:lnSpc>
            </a:pPr>
            <a:r>
              <a:rPr lang="en-US" sz="3500" b="1">
                <a:solidFill>
                  <a:srgbClr val="F0F0F0"/>
                </a:solidFill>
                <a:latin typeface="Playfair Display Medium"/>
                <a:ea typeface="Playfair Display Medium"/>
                <a:cs typeface="Playfair Display Medium"/>
                <a:sym typeface="Playfair Display Medium"/>
              </a:rPr>
              <a:t>٤</a:t>
            </a:r>
            <a:r>
              <a:rPr lang="ar-EG" sz="3500" b="1">
                <a:solidFill>
                  <a:srgbClr val="F0F0F0"/>
                </a:solidFill>
                <a:latin typeface="Playfair Display Medium"/>
                <a:ea typeface="Playfair Display Medium"/>
                <a:cs typeface="Playfair Display Medium"/>
                <a:sym typeface="Playfair Display Medium"/>
                <a:rtl/>
              </a:rPr>
              <a:t> - </a:t>
            </a:r>
          </a:p>
        </p:txBody>
      </p:sp>
      <p:sp>
        <p:nvSpPr>
          <p:cNvPr id="11" name="TextBox 11"/>
          <p:cNvSpPr txBox="1"/>
          <p:nvPr/>
        </p:nvSpPr>
        <p:spPr>
          <a:xfrm>
            <a:off x="9679437" y="7781087"/>
            <a:ext cx="6619352" cy="483689"/>
          </a:xfrm>
          <a:prstGeom prst="rect">
            <a:avLst/>
          </a:prstGeom>
        </p:spPr>
        <p:txBody>
          <a:bodyPr lIns="0" tIns="0" rIns="0" bIns="0" rtlCol="0" anchor="t">
            <a:spAutoFit/>
          </a:bodyPr>
          <a:lstStyle/>
          <a:p>
            <a:pPr algn="just" rtl="1">
              <a:lnSpc>
                <a:spcPts val="3789"/>
              </a:lnSpc>
            </a:pPr>
            <a:r>
              <a:rPr lang="ar-EG" sz="3444" dirty="0">
                <a:solidFill>
                  <a:srgbClr val="F0F0F0"/>
                </a:solidFill>
                <a:latin typeface="Segoe UI" panose="020B0502040204020203" pitchFamily="34" charset="0"/>
                <a:ea typeface="Playfair Display"/>
                <a:cs typeface="Segoe UI" panose="020B0502040204020203" pitchFamily="34" charset="0"/>
                <a:sym typeface="Playfair Display"/>
                <a:rtl/>
              </a:rPr>
              <a:t>النتائج وال  </a:t>
            </a:r>
          </a:p>
        </p:txBody>
      </p:sp>
      <p:sp>
        <p:nvSpPr>
          <p:cNvPr id="12" name="TextBox 12"/>
          <p:cNvSpPr txBox="1"/>
          <p:nvPr/>
        </p:nvSpPr>
        <p:spPr>
          <a:xfrm>
            <a:off x="9141926" y="1695980"/>
            <a:ext cx="9376094" cy="1742785"/>
          </a:xfrm>
          <a:prstGeom prst="rect">
            <a:avLst/>
          </a:prstGeom>
        </p:spPr>
        <p:txBody>
          <a:bodyPr lIns="0" tIns="0" rIns="0" bIns="0" rtlCol="0" anchor="t">
            <a:spAutoFit/>
          </a:bodyPr>
          <a:lstStyle/>
          <a:p>
            <a:pPr algn="l" rtl="1">
              <a:lnSpc>
                <a:spcPts val="14934"/>
              </a:lnSpc>
              <a:spcBef>
                <a:spcPct val="0"/>
              </a:spcBef>
            </a:pPr>
            <a:r>
              <a:rPr lang="ar-EG" sz="10667" b="1" dirty="0">
                <a:solidFill>
                  <a:srgbClr val="F0F0F0"/>
                </a:solidFill>
                <a:latin typeface="Segoe UI" panose="020B0502040204020203" pitchFamily="34" charset="0"/>
                <a:ea typeface="Playfair Display Bold"/>
                <a:cs typeface="Segoe UI" panose="020B0502040204020203" pitchFamily="34" charset="0"/>
                <a:sym typeface="Playfair Display Bold"/>
                <a:rtl/>
              </a:rPr>
              <a:t>لمحة سريعة </a:t>
            </a:r>
          </a:p>
        </p:txBody>
      </p:sp>
      <p:sp>
        <p:nvSpPr>
          <p:cNvPr id="13" name="TextBox 13"/>
          <p:cNvSpPr txBox="1"/>
          <p:nvPr/>
        </p:nvSpPr>
        <p:spPr>
          <a:xfrm>
            <a:off x="16527417" y="8756650"/>
            <a:ext cx="731883" cy="501650"/>
          </a:xfrm>
          <a:prstGeom prst="rect">
            <a:avLst/>
          </a:prstGeom>
        </p:spPr>
        <p:txBody>
          <a:bodyPr lIns="0" tIns="0" rIns="0" bIns="0" rtlCol="0" anchor="t">
            <a:spAutoFit/>
          </a:bodyPr>
          <a:lstStyle/>
          <a:p>
            <a:pPr algn="r" rtl="1">
              <a:lnSpc>
                <a:spcPts val="3850"/>
              </a:lnSpc>
            </a:pPr>
            <a:r>
              <a:rPr lang="en-US" sz="3500" b="1">
                <a:solidFill>
                  <a:srgbClr val="F0F0F0"/>
                </a:solidFill>
                <a:latin typeface="Playfair Display Medium"/>
                <a:ea typeface="Playfair Display Medium"/>
                <a:cs typeface="Playfair Display Medium"/>
                <a:sym typeface="Playfair Display Medium"/>
              </a:rPr>
              <a:t>٥</a:t>
            </a:r>
            <a:r>
              <a:rPr lang="ar-EG" sz="3500" b="1">
                <a:solidFill>
                  <a:srgbClr val="F0F0F0"/>
                </a:solidFill>
                <a:latin typeface="Playfair Display Medium"/>
                <a:ea typeface="Playfair Display Medium"/>
                <a:cs typeface="Playfair Display Medium"/>
                <a:sym typeface="Playfair Display Medium"/>
                <a:rtl/>
              </a:rPr>
              <a:t> -</a:t>
            </a:r>
          </a:p>
        </p:txBody>
      </p:sp>
      <p:sp>
        <p:nvSpPr>
          <p:cNvPr id="14" name="TextBox 14"/>
          <p:cNvSpPr txBox="1"/>
          <p:nvPr/>
        </p:nvSpPr>
        <p:spPr>
          <a:xfrm>
            <a:off x="9572346" y="8708681"/>
            <a:ext cx="6726444" cy="501656"/>
          </a:xfrm>
          <a:prstGeom prst="rect">
            <a:avLst/>
          </a:prstGeom>
        </p:spPr>
        <p:txBody>
          <a:bodyPr lIns="0" tIns="0" rIns="0" bIns="0" rtlCol="0" anchor="t">
            <a:spAutoFit/>
          </a:bodyPr>
          <a:lstStyle/>
          <a:p>
            <a:pPr algn="just" rtl="1">
              <a:lnSpc>
                <a:spcPts val="3850"/>
              </a:lnSpc>
            </a:pPr>
            <a:r>
              <a:rPr lang="ar-EG" sz="3500" dirty="0">
                <a:solidFill>
                  <a:srgbClr val="F0F0F0"/>
                </a:solidFill>
                <a:latin typeface="Segoe UI" panose="020B0502040204020203" pitchFamily="34" charset="0"/>
                <a:ea typeface="Playfair Display"/>
                <a:cs typeface="Segoe UI" panose="020B0502040204020203" pitchFamily="34" charset="0"/>
                <a:sym typeface="Playfair Display"/>
                <a:rtl/>
              </a:rPr>
              <a:t>التوصيات والاقتراحات </a:t>
            </a:r>
          </a:p>
        </p:txBody>
      </p:sp>
      <p:sp>
        <p:nvSpPr>
          <p:cNvPr id="15" name="TextBox 15"/>
          <p:cNvSpPr txBox="1"/>
          <p:nvPr/>
        </p:nvSpPr>
        <p:spPr>
          <a:xfrm>
            <a:off x="13635474" y="1000125"/>
            <a:ext cx="3623826" cy="359073"/>
          </a:xfrm>
          <a:prstGeom prst="rect">
            <a:avLst/>
          </a:prstGeom>
        </p:spPr>
        <p:txBody>
          <a:bodyPr lIns="0" tIns="0" rIns="0" bIns="0" rtlCol="0" anchor="t">
            <a:spAutoFit/>
          </a:bodyPr>
          <a:lstStyle/>
          <a:p>
            <a:pPr algn="r" rtl="1">
              <a:lnSpc>
                <a:spcPts val="2799"/>
              </a:lnSpc>
              <a:spcBef>
                <a:spcPct val="0"/>
              </a:spcBef>
            </a:pPr>
            <a:r>
              <a:rPr lang="ar-EG" sz="1999" b="1" dirty="0">
                <a:solidFill>
                  <a:srgbClr val="F0F0F0"/>
                </a:solidFill>
                <a:latin typeface="Dubai" panose="020B0503030403030204" pitchFamily="34" charset="-78"/>
                <a:ea typeface="Playfair Display Bold"/>
                <a:cs typeface="Dubai" panose="020B0503030403030204" pitchFamily="34" charset="-78"/>
                <a:sym typeface="Playfair Display Bold"/>
                <a:rtl/>
              </a:rPr>
              <a:t>صفحة  </a:t>
            </a:r>
            <a:r>
              <a:rPr lang="en-US" sz="1999" b="1" dirty="0">
                <a:solidFill>
                  <a:srgbClr val="F0F0F0"/>
                </a:solidFill>
                <a:latin typeface="Dubai" panose="020B0503030403030204" pitchFamily="34" charset="-78"/>
                <a:ea typeface="Playfair Display Bold"/>
                <a:cs typeface="Dubai" panose="020B0503030403030204" pitchFamily="34" charset="-78"/>
                <a:sym typeface="Playfair Display Bold"/>
              </a:rPr>
              <a:t>3</a:t>
            </a:r>
          </a:p>
        </p:txBody>
      </p:sp>
      <p:sp>
        <p:nvSpPr>
          <p:cNvPr id="16" name="TextBox 16"/>
          <p:cNvSpPr txBox="1"/>
          <p:nvPr/>
        </p:nvSpPr>
        <p:spPr>
          <a:xfrm>
            <a:off x="12420600" y="7767344"/>
            <a:ext cx="2079714" cy="461665"/>
          </a:xfrm>
          <a:prstGeom prst="rect">
            <a:avLst/>
          </a:prstGeom>
        </p:spPr>
        <p:txBody>
          <a:bodyPr wrap="square" lIns="0" tIns="0" rIns="0" bIns="0" rtlCol="0" anchor="t">
            <a:spAutoFit/>
          </a:bodyPr>
          <a:lstStyle/>
          <a:p>
            <a:pPr algn="ctr">
              <a:lnSpc>
                <a:spcPts val="3630"/>
              </a:lnSpc>
              <a:spcBef>
                <a:spcPct val="0"/>
              </a:spcBef>
            </a:pPr>
            <a:r>
              <a:rPr lang="en-US" sz="3300" b="1" dirty="0">
                <a:solidFill>
                  <a:srgbClr val="F0F0F0"/>
                </a:solidFill>
                <a:latin typeface="Playfair Display Bold"/>
                <a:ea typeface="Playfair Display Bold"/>
                <a:cs typeface="Playfair Display Bold"/>
                <a:sym typeface="Playfair Display Bold"/>
              </a:rPr>
              <a:t>VISUALS</a:t>
            </a:r>
          </a:p>
        </p:txBody>
      </p:sp>
    </p:spTree>
  </p:cSld>
  <p:clrMapOvr>
    <a:masterClrMapping/>
  </p:clrMapOvr>
  <p:transition>
    <p:push/>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0F0F0"/>
        </a:solidFill>
        <a:effectLst/>
      </p:bgPr>
    </p:bg>
    <p:spTree>
      <p:nvGrpSpPr>
        <p:cNvPr id="1" name=""/>
        <p:cNvGrpSpPr/>
        <p:nvPr/>
      </p:nvGrpSpPr>
      <p:grpSpPr>
        <a:xfrm>
          <a:off x="0" y="0"/>
          <a:ext cx="0" cy="0"/>
          <a:chOff x="0" y="0"/>
          <a:chExt cx="0" cy="0"/>
        </a:xfrm>
      </p:grpSpPr>
      <p:sp>
        <p:nvSpPr>
          <p:cNvPr id="2" name="Freeform 2"/>
          <p:cNvSpPr/>
          <p:nvPr/>
        </p:nvSpPr>
        <p:spPr>
          <a:xfrm>
            <a:off x="1028700" y="1028700"/>
            <a:ext cx="764652" cy="790499"/>
          </a:xfrm>
          <a:custGeom>
            <a:avLst/>
            <a:gdLst/>
            <a:ahLst/>
            <a:cxnLst/>
            <a:rect l="l" t="t" r="r" b="b"/>
            <a:pathLst>
              <a:path w="764652" h="790499">
                <a:moveTo>
                  <a:pt x="0" y="0"/>
                </a:moveTo>
                <a:lnTo>
                  <a:pt x="764652" y="0"/>
                </a:lnTo>
                <a:lnTo>
                  <a:pt x="764652" y="790499"/>
                </a:lnTo>
                <a:lnTo>
                  <a:pt x="0" y="79049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TextBox 3"/>
          <p:cNvSpPr txBox="1"/>
          <p:nvPr/>
        </p:nvSpPr>
        <p:spPr>
          <a:xfrm>
            <a:off x="10846724" y="1685849"/>
            <a:ext cx="6674599" cy="1111651"/>
          </a:xfrm>
          <a:prstGeom prst="rect">
            <a:avLst/>
          </a:prstGeom>
        </p:spPr>
        <p:txBody>
          <a:bodyPr lIns="0" tIns="0" rIns="0" bIns="0" rtlCol="0" anchor="t">
            <a:spAutoFit/>
          </a:bodyPr>
          <a:lstStyle/>
          <a:p>
            <a:pPr algn="r" rtl="1">
              <a:lnSpc>
                <a:spcPts val="9546"/>
              </a:lnSpc>
              <a:spcBef>
                <a:spcPct val="0"/>
              </a:spcBef>
            </a:pPr>
            <a:r>
              <a:rPr lang="en-US" sz="6818" b="1" dirty="0">
                <a:solidFill>
                  <a:srgbClr val="0031BB"/>
                </a:solidFill>
                <a:latin typeface="Segoe UI" panose="020B0502040204020203" pitchFamily="34" charset="0"/>
                <a:ea typeface="Playfair Display Bold"/>
                <a:cs typeface="Segoe UI" panose="020B0502040204020203" pitchFamily="34" charset="0"/>
                <a:sym typeface="Playfair Display Bold"/>
              </a:rPr>
              <a:t>1</a:t>
            </a:r>
            <a:r>
              <a:rPr lang="ar-EG" sz="6818" b="1" dirty="0">
                <a:solidFill>
                  <a:srgbClr val="0031BB"/>
                </a:solidFill>
                <a:latin typeface="Segoe UI" panose="020B0502040204020203" pitchFamily="34" charset="0"/>
                <a:ea typeface="Playfair Display Bold"/>
                <a:cs typeface="Segoe UI" panose="020B0502040204020203" pitchFamily="34" charset="0"/>
                <a:sym typeface="Playfair Display Bold"/>
                <a:rtl/>
              </a:rPr>
              <a:t>- المقدمة</a:t>
            </a:r>
          </a:p>
        </p:txBody>
      </p:sp>
      <p:sp>
        <p:nvSpPr>
          <p:cNvPr id="4" name="TextBox 4"/>
          <p:cNvSpPr txBox="1"/>
          <p:nvPr/>
        </p:nvSpPr>
        <p:spPr>
          <a:xfrm>
            <a:off x="1028700" y="3275539"/>
            <a:ext cx="16494648" cy="5805628"/>
          </a:xfrm>
          <a:prstGeom prst="rect">
            <a:avLst/>
          </a:prstGeom>
        </p:spPr>
        <p:txBody>
          <a:bodyPr lIns="0" tIns="0" rIns="0" bIns="0" rtlCol="0" anchor="t">
            <a:spAutoFit/>
          </a:bodyPr>
          <a:lstStyle/>
          <a:p>
            <a:pPr algn="just" rtl="1">
              <a:lnSpc>
                <a:spcPts val="3843"/>
              </a:lnSpc>
              <a:spcBef>
                <a:spcPct val="0"/>
              </a:spcBef>
            </a:pPr>
            <a:r>
              <a:rPr lang="ar-EG" sz="2745" dirty="0">
                <a:solidFill>
                  <a:srgbClr val="212121"/>
                </a:solidFill>
                <a:latin typeface="Segoe UI" panose="020B0502040204020203" pitchFamily="34" charset="0"/>
                <a:ea typeface="Playfair Display"/>
                <a:cs typeface="Segoe UI" panose="020B0502040204020203" pitchFamily="34" charset="0"/>
                <a:sym typeface="Playfair Display"/>
                <a:rtl/>
              </a:rPr>
              <a:t>تُعد المياه عنصرًا أساسيًا في تحقيق الأمن القومي للدول، ولا سيما في مصر التي تعتمد بشكل رئيسي على نهر النيل كمصدر شبه وحيد لتوفير احتياجاتها المائية. ومع تزايد الضغوط السكانية والاقتصادية، أصبح من الضروري ضمان جودة المياه وليس مجرد توافرها، خصوصًا مع تنامي التحديات المرتبطة بالتغير المناخي، والتلوث الصناعي، وتغير أنماط استخدامات المياه.</a:t>
            </a:r>
          </a:p>
          <a:p>
            <a:pPr algn="just" rtl="1">
              <a:lnSpc>
                <a:spcPts val="3843"/>
              </a:lnSpc>
              <a:spcBef>
                <a:spcPct val="0"/>
              </a:spcBef>
            </a:pPr>
            <a:r>
              <a:rPr lang="ar-EG" sz="2745" dirty="0">
                <a:solidFill>
                  <a:srgbClr val="212121"/>
                </a:solidFill>
                <a:latin typeface="Segoe UI" panose="020B0502040204020203" pitchFamily="34" charset="0"/>
                <a:ea typeface="Playfair Display"/>
                <a:cs typeface="Segoe UI" panose="020B0502040204020203" pitchFamily="34" charset="0"/>
                <a:sym typeface="Playfair Display"/>
                <a:rtl/>
              </a:rPr>
              <a:t>إن جودة المياه ليست مجرد مؤشر بيئي، بل هي مُحدد رئيسي لصحة الإنسان والاستدامة الاقتصادية والزراعية. ولذلك، تعتمد وزارة البيئة والجهات البحثية على الرصد المتخصص والقياس الدوري لجودة المياه. ومع ظهور منهجيات حديثة لقياس نسب التلوث، أصبح من المهم تقييم مدى تأثير طرق الرصد على النتائج النهائية، مما يعزز القدرة على اتخاذ قرارات دقيقة وسياسات فعّالة.</a:t>
            </a:r>
          </a:p>
          <a:p>
            <a:pPr algn="just" rtl="1">
              <a:lnSpc>
                <a:spcPts val="3843"/>
              </a:lnSpc>
              <a:spcBef>
                <a:spcPct val="0"/>
              </a:spcBef>
            </a:pPr>
            <a:r>
              <a:rPr lang="ar-EG" sz="2745" dirty="0">
                <a:solidFill>
                  <a:srgbClr val="212121"/>
                </a:solidFill>
                <a:latin typeface="Segoe UI" panose="020B0502040204020203" pitchFamily="34" charset="0"/>
                <a:ea typeface="Playfair Display"/>
                <a:cs typeface="Segoe UI" panose="020B0502040204020203" pitchFamily="34" charset="0"/>
                <a:sym typeface="Playfair Display"/>
                <a:rtl/>
              </a:rPr>
              <a:t>انطلاقًا من أهمية هذا الموضوع، يقدم هذا المشروع تحليلًا تفصيليًا لبيانات جودة المياه في مصر باستخدام أدوات تحليل البيانات ( </a:t>
            </a:r>
            <a:r>
              <a:rPr lang="en-US" sz="2745" b="1" dirty="0">
                <a:solidFill>
                  <a:srgbClr val="212121"/>
                </a:solidFill>
                <a:latin typeface="Segoe UI" panose="020B0502040204020203" pitchFamily="34" charset="0"/>
                <a:ea typeface="Playfair Display Bold"/>
                <a:cs typeface="Segoe UI" panose="020B0502040204020203" pitchFamily="34" charset="0"/>
                <a:sym typeface="Playfair Display Bold"/>
              </a:rPr>
              <a:t>Power BI</a:t>
            </a:r>
            <a:r>
              <a:rPr lang="ar-EG" sz="2745" dirty="0">
                <a:solidFill>
                  <a:srgbClr val="212121"/>
                </a:solidFill>
                <a:latin typeface="Segoe UI" panose="020B0502040204020203" pitchFamily="34" charset="0"/>
                <a:ea typeface="Playfair Display"/>
                <a:cs typeface="Segoe UI" panose="020B0502040204020203" pitchFamily="34" charset="0"/>
                <a:sym typeface="Playfair Display"/>
                <a:rtl/>
              </a:rPr>
              <a:t>)، بهدف فهم التغيرات الزمنية في جودة المياه، والوقوف على أثر منهجيات الرصد المختلفة، وتحديد الدلالات التي تُسهم في دعم متخذي القرار لوضع استراتيجيات أكثر دقة لحماية الموارد المائية</a:t>
            </a:r>
          </a:p>
          <a:p>
            <a:pPr algn="just" rtl="1">
              <a:lnSpc>
                <a:spcPts val="3843"/>
              </a:lnSpc>
              <a:spcBef>
                <a:spcPct val="0"/>
              </a:spcBef>
            </a:pPr>
            <a:r>
              <a:rPr lang="ar-EG" sz="2745" dirty="0">
                <a:solidFill>
                  <a:srgbClr val="212121"/>
                </a:solidFill>
                <a:latin typeface="Segoe UI" panose="020B0502040204020203" pitchFamily="34" charset="0"/>
                <a:ea typeface="Playfair Display"/>
                <a:cs typeface="Segoe UI" panose="020B0502040204020203" pitchFamily="34" charset="0"/>
                <a:sym typeface="Playfair Display"/>
                <a:rtl/>
              </a:rPr>
              <a:t> </a:t>
            </a:r>
          </a:p>
        </p:txBody>
      </p:sp>
      <p:sp>
        <p:nvSpPr>
          <p:cNvPr id="5" name="TextBox 5"/>
          <p:cNvSpPr txBox="1"/>
          <p:nvPr/>
        </p:nvSpPr>
        <p:spPr>
          <a:xfrm>
            <a:off x="13635474" y="1000125"/>
            <a:ext cx="3623826" cy="359073"/>
          </a:xfrm>
          <a:prstGeom prst="rect">
            <a:avLst/>
          </a:prstGeom>
        </p:spPr>
        <p:txBody>
          <a:bodyPr lIns="0" tIns="0" rIns="0" bIns="0" rtlCol="0" anchor="t">
            <a:spAutoFit/>
          </a:bodyPr>
          <a:lstStyle/>
          <a:p>
            <a:pPr algn="r" rtl="1">
              <a:lnSpc>
                <a:spcPts val="2799"/>
              </a:lnSpc>
              <a:spcBef>
                <a:spcPct val="0"/>
              </a:spcBef>
            </a:pPr>
            <a:r>
              <a:rPr lang="ar-EG" sz="1999" b="1" dirty="0">
                <a:solidFill>
                  <a:srgbClr val="0031BB"/>
                </a:solidFill>
                <a:latin typeface="Dubai" panose="020B0503030403030204" pitchFamily="34" charset="-78"/>
                <a:ea typeface="Playfair Display Bold"/>
                <a:cs typeface="Dubai" panose="020B0503030403030204" pitchFamily="34" charset="-78"/>
                <a:sym typeface="Playfair Display Bold"/>
                <a:rtl/>
              </a:rPr>
              <a:t>صفحة  </a:t>
            </a:r>
            <a:r>
              <a:rPr lang="en-US" sz="1999" b="1" dirty="0">
                <a:solidFill>
                  <a:srgbClr val="0031BB"/>
                </a:solidFill>
                <a:latin typeface="Dubai" panose="020B0503030403030204" pitchFamily="34" charset="-78"/>
                <a:ea typeface="Playfair Display Bold"/>
                <a:cs typeface="Dubai" panose="020B0503030403030204" pitchFamily="34" charset="-78"/>
                <a:sym typeface="Playfair Display Bold"/>
              </a:rPr>
              <a:t>4</a:t>
            </a:r>
            <a:r>
              <a:rPr lang="ar-EG" sz="1999" b="1" dirty="0">
                <a:solidFill>
                  <a:srgbClr val="0031BB"/>
                </a:solidFill>
                <a:latin typeface="Dubai" panose="020B0503030403030204" pitchFamily="34" charset="-78"/>
                <a:ea typeface="Playfair Display Bold"/>
                <a:cs typeface="Dubai" panose="020B0503030403030204" pitchFamily="34" charset="-78"/>
                <a:sym typeface="Playfair Display Bold"/>
                <a:rtl/>
              </a:rPr>
              <a:t> </a:t>
            </a:r>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800AD"/>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10375948"/>
          </a:xfrm>
          <a:custGeom>
            <a:avLst/>
            <a:gdLst/>
            <a:ahLst/>
            <a:cxnLst/>
            <a:rect l="l" t="t" r="r" b="b"/>
            <a:pathLst>
              <a:path w="18288000" h="10375948">
                <a:moveTo>
                  <a:pt x="0" y="0"/>
                </a:moveTo>
                <a:lnTo>
                  <a:pt x="18288000" y="0"/>
                </a:lnTo>
                <a:lnTo>
                  <a:pt x="18288000" y="10375948"/>
                </a:lnTo>
                <a:lnTo>
                  <a:pt x="0" y="10375948"/>
                </a:lnTo>
                <a:lnTo>
                  <a:pt x="0" y="0"/>
                </a:lnTo>
                <a:close/>
              </a:path>
            </a:pathLst>
          </a:custGeom>
          <a:blipFill>
            <a:blip r:embed="rId2">
              <a:alphaModFix amt="50000"/>
            </a:blip>
            <a:stretch>
              <a:fillRect l="-5741" r="-4853" b="-9597"/>
            </a:stretch>
          </a:blipFill>
        </p:spPr>
        <p:txBody>
          <a:bodyPr/>
          <a:lstStyle/>
          <a:p>
            <a:endParaRPr lang="en-US"/>
          </a:p>
        </p:txBody>
      </p:sp>
      <p:sp>
        <p:nvSpPr>
          <p:cNvPr id="3" name="TextBox 3"/>
          <p:cNvSpPr txBox="1"/>
          <p:nvPr/>
        </p:nvSpPr>
        <p:spPr>
          <a:xfrm>
            <a:off x="1158684" y="2915165"/>
            <a:ext cx="16100616" cy="6409703"/>
          </a:xfrm>
          <a:prstGeom prst="rect">
            <a:avLst/>
          </a:prstGeom>
        </p:spPr>
        <p:txBody>
          <a:bodyPr lIns="0" tIns="0" rIns="0" bIns="0" rtlCol="0" anchor="t">
            <a:spAutoFit/>
          </a:bodyPr>
          <a:lstStyle/>
          <a:p>
            <a:pPr marL="602824" lvl="1" indent="-301412" algn="just" rtl="1">
              <a:lnSpc>
                <a:spcPts val="4188"/>
              </a:lnSpc>
              <a:spcBef>
                <a:spcPct val="0"/>
              </a:spcBef>
              <a:buFont typeface="Arial"/>
              <a:buChar char="•"/>
            </a:pPr>
            <a:r>
              <a:rPr lang="ar-EG" sz="2792" b="1" dirty="0">
                <a:solidFill>
                  <a:srgbClr val="F0F0F0"/>
                </a:solidFill>
                <a:latin typeface="Segoe UI" panose="020B0502040204020203" pitchFamily="34" charset="0"/>
                <a:ea typeface="Playfair Display Bold"/>
                <a:cs typeface="Segoe UI" panose="020B0502040204020203" pitchFamily="34" charset="0"/>
                <a:sym typeface="Playfair Display Bold"/>
                <a:rtl/>
              </a:rPr>
              <a:t>تحليل تطور جودة المياه في مصر عبر</a:t>
            </a:r>
            <a:r>
              <a:rPr lang="ar-EG" sz="2792" b="1" strike="noStrike" dirty="0">
                <a:solidFill>
                  <a:srgbClr val="F0F0F0"/>
                </a:solidFill>
                <a:latin typeface="Segoe UI" panose="020B0502040204020203" pitchFamily="34" charset="0"/>
                <a:ea typeface="Playfair Display Bold"/>
                <a:cs typeface="Segoe UI" panose="020B0502040204020203" pitchFamily="34" charset="0"/>
                <a:sym typeface="Playfair Display Bold"/>
                <a:rtl/>
              </a:rPr>
              <a:t> الزمن من خلال تتبع المؤشرات </a:t>
            </a:r>
          </a:p>
          <a:p>
            <a:pPr marL="602824" lvl="1" indent="-301412" algn="just" rtl="1">
              <a:lnSpc>
                <a:spcPts val="4188"/>
              </a:lnSpc>
              <a:spcBef>
                <a:spcPct val="0"/>
              </a:spcBef>
              <a:buFont typeface="Arial"/>
              <a:buChar char="•"/>
            </a:pPr>
            <a:r>
              <a:rPr lang="ar-EG" sz="2792" b="1" strike="noStrike" dirty="0">
                <a:solidFill>
                  <a:srgbClr val="F0F0F0"/>
                </a:solidFill>
                <a:latin typeface="Segoe UI" panose="020B0502040204020203" pitchFamily="34" charset="0"/>
                <a:ea typeface="Playfair Display Bold"/>
                <a:cs typeface="Segoe UI" panose="020B0502040204020203" pitchFamily="34" charset="0"/>
                <a:sym typeface="Playfair Display Bold"/>
                <a:rtl/>
              </a:rPr>
              <a:t>تقييم تأثير منهجيات رصد التلوث من خلال مقارنة النتائج الناتجة عن المنهجية التقليدية (قديم) والمنهجية الحديثة، وقياس مدى اختلاف الأرقام وأثر ذلك على فهم الواقع البيئي.</a:t>
            </a:r>
          </a:p>
          <a:p>
            <a:pPr marL="602824" lvl="1" indent="-301412" algn="just" rtl="1">
              <a:lnSpc>
                <a:spcPts val="4188"/>
              </a:lnSpc>
              <a:spcBef>
                <a:spcPct val="0"/>
              </a:spcBef>
              <a:buFont typeface="Arial"/>
              <a:buChar char="•"/>
            </a:pPr>
            <a:r>
              <a:rPr lang="ar-EG" sz="2792" b="1" strike="noStrike" dirty="0">
                <a:solidFill>
                  <a:srgbClr val="F0F0F0"/>
                </a:solidFill>
                <a:latin typeface="Segoe UI" panose="020B0502040204020203" pitchFamily="34" charset="0"/>
                <a:ea typeface="Playfair Display Bold"/>
                <a:cs typeface="Segoe UI" panose="020B0502040204020203" pitchFamily="34" charset="0"/>
                <a:sym typeface="Playfair Display Bold"/>
                <a:rtl/>
              </a:rPr>
              <a:t>قياس العلاقة بين عدد محطات الرصد ودقة البيانات وتحديد مدى انعكاس زيادة نقاط الرصد على جودة التقييم الإحصائي والبيئة العامة.</a:t>
            </a:r>
          </a:p>
          <a:p>
            <a:pPr marL="602824" lvl="1" indent="-301412" algn="just" rtl="1">
              <a:lnSpc>
                <a:spcPts val="4188"/>
              </a:lnSpc>
              <a:spcBef>
                <a:spcPct val="0"/>
              </a:spcBef>
              <a:buFont typeface="Arial"/>
              <a:buChar char="•"/>
            </a:pPr>
            <a:r>
              <a:rPr lang="ar-EG" sz="2792" b="1" strike="noStrike" dirty="0">
                <a:solidFill>
                  <a:srgbClr val="F0F0F0"/>
                </a:solidFill>
                <a:latin typeface="Segoe UI" panose="020B0502040204020203" pitchFamily="34" charset="0"/>
                <a:ea typeface="Playfair Display Bold"/>
                <a:cs typeface="Segoe UI" panose="020B0502040204020203" pitchFamily="34" charset="0"/>
                <a:sym typeface="Playfair Display Bold"/>
                <a:rtl/>
              </a:rPr>
              <a:t>تحديد المناطق الأكثر تأثرًا بالتلوث المائي بهدف إظهار المحافظات التي تحتاج إلى تدخلات عاجلة وتخصيص ميزانيات لدعم تحسين جودة المياه بها.</a:t>
            </a:r>
          </a:p>
          <a:p>
            <a:pPr marL="602824" lvl="1" indent="-301412" algn="just" rtl="1">
              <a:lnSpc>
                <a:spcPts val="4188"/>
              </a:lnSpc>
              <a:spcBef>
                <a:spcPct val="0"/>
              </a:spcBef>
              <a:buFont typeface="Arial"/>
              <a:buChar char="•"/>
            </a:pPr>
            <a:r>
              <a:rPr lang="ar-EG" sz="2792" b="1" strike="noStrike" dirty="0">
                <a:solidFill>
                  <a:srgbClr val="F0F0F0"/>
                </a:solidFill>
                <a:latin typeface="Segoe UI" panose="020B0502040204020203" pitchFamily="34" charset="0"/>
                <a:ea typeface="Playfair Display Bold"/>
                <a:cs typeface="Segoe UI" panose="020B0502040204020203" pitchFamily="34" charset="0"/>
                <a:sym typeface="Playfair Display Bold"/>
                <a:rtl/>
              </a:rPr>
              <a:t>تحويل البيانات البيئية إلى رؤية مرئية واضحة تساعد صانعي القرار والباحثين على فهم الوضع الراهن بشكل بصري من خلال لوحات معلومات تفاعلية على </a:t>
            </a:r>
            <a:r>
              <a:rPr lang="en-US" sz="2792" b="1" strike="noStrike" dirty="0">
                <a:solidFill>
                  <a:srgbClr val="F0F0F0"/>
                </a:solidFill>
                <a:latin typeface="Segoe UI" panose="020B0502040204020203" pitchFamily="34" charset="0"/>
                <a:ea typeface="Playfair Display Bold"/>
                <a:cs typeface="Segoe UI" panose="020B0502040204020203" pitchFamily="34" charset="0"/>
                <a:sym typeface="Playfair Display Bold"/>
              </a:rPr>
              <a:t>Power BI</a:t>
            </a:r>
            <a:r>
              <a:rPr lang="ar-EG" sz="2792" b="1" strike="noStrike" dirty="0">
                <a:solidFill>
                  <a:srgbClr val="F0F0F0"/>
                </a:solidFill>
                <a:latin typeface="Segoe UI" panose="020B0502040204020203" pitchFamily="34" charset="0"/>
                <a:ea typeface="Playfair Display Bold"/>
                <a:cs typeface="Segoe UI" panose="020B0502040204020203" pitchFamily="34" charset="0"/>
                <a:sym typeface="Playfair Display Bold"/>
                <a:rtl/>
              </a:rPr>
              <a:t>.</a:t>
            </a:r>
          </a:p>
          <a:p>
            <a:pPr marL="602824" lvl="1" indent="-301412" algn="just" rtl="1">
              <a:lnSpc>
                <a:spcPts val="4188"/>
              </a:lnSpc>
              <a:spcBef>
                <a:spcPct val="0"/>
              </a:spcBef>
              <a:buFont typeface="Arial"/>
              <a:buChar char="•"/>
            </a:pPr>
            <a:r>
              <a:rPr lang="ar-EG" sz="2792" b="1" strike="noStrike" dirty="0">
                <a:solidFill>
                  <a:srgbClr val="F0F0F0"/>
                </a:solidFill>
                <a:latin typeface="Segoe UI" panose="020B0502040204020203" pitchFamily="34" charset="0"/>
                <a:ea typeface="Playfair Display Bold"/>
                <a:cs typeface="Segoe UI" panose="020B0502040204020203" pitchFamily="34" charset="0"/>
                <a:sym typeface="Playfair Display Bold"/>
                <a:rtl/>
              </a:rPr>
              <a:t>تقديم توصيات مبنية على تحليل بيانات حقيقي لدعم اتخاذ قرارات مستقبلية تشمل تطوير البنية التحتية للرصد، وتوسيع المنهجيات الحديثة، وتحسين جودة الموارد المائية في مصر</a:t>
            </a:r>
          </a:p>
          <a:p>
            <a:pPr marL="0" lvl="0" indent="0" algn="just" rtl="1">
              <a:lnSpc>
                <a:spcPts val="4188"/>
              </a:lnSpc>
              <a:spcBef>
                <a:spcPct val="0"/>
              </a:spcBef>
            </a:pPr>
            <a:endParaRPr lang="ar-EG" sz="2792" b="1" strike="noStrike" dirty="0">
              <a:solidFill>
                <a:srgbClr val="F0F0F0"/>
              </a:solidFill>
              <a:latin typeface="Segoe UI" panose="020B0502040204020203" pitchFamily="34" charset="0"/>
              <a:ea typeface="Playfair Display Bold"/>
              <a:cs typeface="Segoe UI" panose="020B0502040204020203" pitchFamily="34" charset="0"/>
              <a:sym typeface="Playfair Display Bold"/>
              <a:rtl/>
            </a:endParaRPr>
          </a:p>
        </p:txBody>
      </p:sp>
      <p:sp>
        <p:nvSpPr>
          <p:cNvPr id="4" name="Freeform 4"/>
          <p:cNvSpPr/>
          <p:nvPr/>
        </p:nvSpPr>
        <p:spPr>
          <a:xfrm>
            <a:off x="1028700" y="1028700"/>
            <a:ext cx="764652" cy="790499"/>
          </a:xfrm>
          <a:custGeom>
            <a:avLst/>
            <a:gdLst/>
            <a:ahLst/>
            <a:cxnLst/>
            <a:rect l="l" t="t" r="r" b="b"/>
            <a:pathLst>
              <a:path w="764652" h="790499">
                <a:moveTo>
                  <a:pt x="0" y="0"/>
                </a:moveTo>
                <a:lnTo>
                  <a:pt x="764652" y="0"/>
                </a:lnTo>
                <a:lnTo>
                  <a:pt x="764652" y="790499"/>
                </a:lnTo>
                <a:lnTo>
                  <a:pt x="0" y="79049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5" name="TextBox 5"/>
          <p:cNvSpPr txBox="1"/>
          <p:nvPr/>
        </p:nvSpPr>
        <p:spPr>
          <a:xfrm>
            <a:off x="12610143" y="1414425"/>
            <a:ext cx="4357927" cy="1054651"/>
          </a:xfrm>
          <a:prstGeom prst="rect">
            <a:avLst/>
          </a:prstGeom>
        </p:spPr>
        <p:txBody>
          <a:bodyPr lIns="0" tIns="0" rIns="0" bIns="0" rtlCol="0" anchor="t">
            <a:spAutoFit/>
          </a:bodyPr>
          <a:lstStyle/>
          <a:p>
            <a:pPr marL="0" lvl="1" indent="0" algn="r" rtl="1">
              <a:lnSpc>
                <a:spcPts val="8315"/>
              </a:lnSpc>
            </a:pPr>
            <a:r>
              <a:rPr lang="ar-EG" sz="6929" b="1" dirty="0">
                <a:solidFill>
                  <a:srgbClr val="F0F0F0"/>
                </a:solidFill>
                <a:latin typeface="Segoe UI" panose="020B0502040204020203" pitchFamily="34" charset="0"/>
                <a:ea typeface="Playfair Display Bold"/>
                <a:cs typeface="Segoe UI" panose="020B0502040204020203" pitchFamily="34" charset="0"/>
                <a:sym typeface="Playfair Display Bold"/>
                <a:rtl/>
              </a:rPr>
              <a:t>الهـــدف</a:t>
            </a:r>
            <a:r>
              <a:rPr lang="ar-EG" sz="6929" b="1" dirty="0">
                <a:solidFill>
                  <a:srgbClr val="F0F0F0"/>
                </a:solidFill>
                <a:latin typeface="Playfair Display Bold"/>
                <a:ea typeface="Playfair Display Bold"/>
                <a:cs typeface="Playfair Display Bold"/>
                <a:sym typeface="Playfair Display Bold"/>
                <a:rtl/>
              </a:rPr>
              <a:t> </a:t>
            </a:r>
          </a:p>
        </p:txBody>
      </p:sp>
      <p:sp>
        <p:nvSpPr>
          <p:cNvPr id="6" name="TextBox 6"/>
          <p:cNvSpPr txBox="1"/>
          <p:nvPr/>
        </p:nvSpPr>
        <p:spPr>
          <a:xfrm>
            <a:off x="13635474" y="1000125"/>
            <a:ext cx="3623826" cy="359073"/>
          </a:xfrm>
          <a:prstGeom prst="rect">
            <a:avLst/>
          </a:prstGeom>
        </p:spPr>
        <p:txBody>
          <a:bodyPr lIns="0" tIns="0" rIns="0" bIns="0" rtlCol="0" anchor="t">
            <a:spAutoFit/>
          </a:bodyPr>
          <a:lstStyle/>
          <a:p>
            <a:pPr algn="r" rtl="1">
              <a:lnSpc>
                <a:spcPts val="2799"/>
              </a:lnSpc>
              <a:spcBef>
                <a:spcPct val="0"/>
              </a:spcBef>
            </a:pPr>
            <a:r>
              <a:rPr lang="ar-EG" sz="1999" b="1" dirty="0">
                <a:solidFill>
                  <a:srgbClr val="F0F0F0"/>
                </a:solidFill>
                <a:latin typeface="Dubai" panose="020B0503030403030204" pitchFamily="34" charset="-78"/>
                <a:ea typeface="Playfair Display Bold"/>
                <a:cs typeface="Dubai" panose="020B0503030403030204" pitchFamily="34" charset="-78"/>
                <a:sym typeface="Playfair Display Bold"/>
                <a:rtl/>
              </a:rPr>
              <a:t>صفحة  </a:t>
            </a:r>
            <a:r>
              <a:rPr lang="en-US" sz="1999" b="1" dirty="0">
                <a:solidFill>
                  <a:srgbClr val="F0F0F0"/>
                </a:solidFill>
                <a:latin typeface="Dubai" panose="020B0503030403030204" pitchFamily="34" charset="-78"/>
                <a:ea typeface="Playfair Display Bold"/>
                <a:cs typeface="Dubai" panose="020B0503030403030204" pitchFamily="34" charset="-78"/>
                <a:sym typeface="Playfair Display Bold"/>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0F0F0"/>
        </a:solidFill>
        <a:effectLst/>
      </p:bgPr>
    </p:bg>
    <p:spTree>
      <p:nvGrpSpPr>
        <p:cNvPr id="1" name=""/>
        <p:cNvGrpSpPr/>
        <p:nvPr/>
      </p:nvGrpSpPr>
      <p:grpSpPr>
        <a:xfrm>
          <a:off x="0" y="0"/>
          <a:ext cx="0" cy="0"/>
          <a:chOff x="0" y="0"/>
          <a:chExt cx="0" cy="0"/>
        </a:xfrm>
      </p:grpSpPr>
      <p:sp>
        <p:nvSpPr>
          <p:cNvPr id="2" name="Freeform 2"/>
          <p:cNvSpPr/>
          <p:nvPr/>
        </p:nvSpPr>
        <p:spPr>
          <a:xfrm>
            <a:off x="1028700" y="1028700"/>
            <a:ext cx="764652" cy="790499"/>
          </a:xfrm>
          <a:custGeom>
            <a:avLst/>
            <a:gdLst/>
            <a:ahLst/>
            <a:cxnLst/>
            <a:rect l="l" t="t" r="r" b="b"/>
            <a:pathLst>
              <a:path w="764652" h="790499">
                <a:moveTo>
                  <a:pt x="0" y="0"/>
                </a:moveTo>
                <a:lnTo>
                  <a:pt x="764652" y="0"/>
                </a:lnTo>
                <a:lnTo>
                  <a:pt x="764652" y="790499"/>
                </a:lnTo>
                <a:lnTo>
                  <a:pt x="0" y="79049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TextBox 3"/>
          <p:cNvSpPr txBox="1"/>
          <p:nvPr/>
        </p:nvSpPr>
        <p:spPr>
          <a:xfrm>
            <a:off x="13635474" y="1000125"/>
            <a:ext cx="3623826" cy="359073"/>
          </a:xfrm>
          <a:prstGeom prst="rect">
            <a:avLst/>
          </a:prstGeom>
        </p:spPr>
        <p:txBody>
          <a:bodyPr lIns="0" tIns="0" rIns="0" bIns="0" rtlCol="0" anchor="t">
            <a:spAutoFit/>
          </a:bodyPr>
          <a:lstStyle/>
          <a:p>
            <a:pPr algn="r" rtl="1">
              <a:lnSpc>
                <a:spcPts val="2799"/>
              </a:lnSpc>
              <a:spcBef>
                <a:spcPct val="0"/>
              </a:spcBef>
            </a:pPr>
            <a:r>
              <a:rPr lang="ar-EG" sz="1999" b="1">
                <a:solidFill>
                  <a:srgbClr val="0031BB"/>
                </a:solidFill>
                <a:latin typeface="Dubai" panose="020B0503030403030204" pitchFamily="34" charset="-78"/>
                <a:ea typeface="Playfair Display Bold"/>
                <a:cs typeface="Dubai" panose="020B0503030403030204" pitchFamily="34" charset="-78"/>
                <a:sym typeface="Playfair Display Bold"/>
                <a:rtl/>
              </a:rPr>
              <a:t>صفحة  </a:t>
            </a:r>
            <a:r>
              <a:rPr lang="en-US" sz="1999" b="1">
                <a:solidFill>
                  <a:srgbClr val="0031BB"/>
                </a:solidFill>
                <a:latin typeface="Dubai" panose="020B0503030403030204" pitchFamily="34" charset="-78"/>
                <a:ea typeface="Playfair Display Bold"/>
                <a:cs typeface="Dubai" panose="020B0503030403030204" pitchFamily="34" charset="-78"/>
                <a:sym typeface="Playfair Display Bold"/>
              </a:rPr>
              <a:t>6</a:t>
            </a:r>
          </a:p>
        </p:txBody>
      </p:sp>
      <p:sp>
        <p:nvSpPr>
          <p:cNvPr id="4" name="TextBox 4"/>
          <p:cNvSpPr txBox="1"/>
          <p:nvPr/>
        </p:nvSpPr>
        <p:spPr>
          <a:xfrm>
            <a:off x="2636263" y="826135"/>
            <a:ext cx="12994529" cy="865622"/>
          </a:xfrm>
          <a:prstGeom prst="rect">
            <a:avLst/>
          </a:prstGeom>
        </p:spPr>
        <p:txBody>
          <a:bodyPr lIns="0" tIns="0" rIns="0" bIns="0" rtlCol="0" anchor="t">
            <a:spAutoFit/>
          </a:bodyPr>
          <a:lstStyle/>
          <a:p>
            <a:pPr algn="ctr" rtl="1">
              <a:lnSpc>
                <a:spcPts val="7420"/>
              </a:lnSpc>
              <a:spcBef>
                <a:spcPct val="0"/>
              </a:spcBef>
            </a:pPr>
            <a:r>
              <a:rPr lang="en-US" sz="5300" b="1" dirty="0">
                <a:solidFill>
                  <a:srgbClr val="212121"/>
                </a:solidFill>
                <a:latin typeface="Segoe UI" panose="020B0502040204020203" pitchFamily="34" charset="0"/>
                <a:ea typeface="Playfair Display Bold"/>
                <a:cs typeface="Segoe UI" panose="020B0502040204020203" pitchFamily="34" charset="0"/>
                <a:sym typeface="Playfair Display Bold"/>
              </a:rPr>
              <a:t>2</a:t>
            </a:r>
            <a:r>
              <a:rPr lang="ar-EG" sz="5300" b="1" dirty="0">
                <a:solidFill>
                  <a:srgbClr val="212121"/>
                </a:solidFill>
                <a:latin typeface="Segoe UI" panose="020B0502040204020203" pitchFamily="34" charset="0"/>
                <a:ea typeface="Playfair Display Bold"/>
                <a:cs typeface="Segoe UI" panose="020B0502040204020203" pitchFamily="34" charset="0"/>
                <a:sym typeface="Playfair Display Bold"/>
                <a:rtl/>
              </a:rPr>
              <a:t>- البيانات والمصادر والادوات </a:t>
            </a:r>
          </a:p>
        </p:txBody>
      </p:sp>
      <p:sp>
        <p:nvSpPr>
          <p:cNvPr id="5" name="TextBox 5"/>
          <p:cNvSpPr txBox="1"/>
          <p:nvPr/>
        </p:nvSpPr>
        <p:spPr>
          <a:xfrm>
            <a:off x="3421317" y="1841402"/>
            <a:ext cx="11424421" cy="628377"/>
          </a:xfrm>
          <a:prstGeom prst="rect">
            <a:avLst/>
          </a:prstGeom>
        </p:spPr>
        <p:txBody>
          <a:bodyPr lIns="0" tIns="0" rIns="0" bIns="0" rtlCol="0" anchor="t">
            <a:spAutoFit/>
          </a:bodyPr>
          <a:lstStyle/>
          <a:p>
            <a:pPr algn="just" rtl="1">
              <a:lnSpc>
                <a:spcPts val="4888"/>
              </a:lnSpc>
              <a:spcBef>
                <a:spcPct val="0"/>
              </a:spcBef>
            </a:pPr>
            <a:r>
              <a:rPr lang="ar-EG" sz="3491" dirty="0">
                <a:solidFill>
                  <a:srgbClr val="212121"/>
                </a:solidFill>
                <a:latin typeface="Dubai" panose="020B0503030403030204" pitchFamily="34" charset="-78"/>
                <a:ea typeface="Playfair Display"/>
                <a:cs typeface="Dubai" panose="020B0503030403030204" pitchFamily="34" charset="-78"/>
                <a:sym typeface="Playfair Display"/>
                <a:rtl/>
              </a:rPr>
              <a:t>تم تجميع البيانات من الجهاز المركزي للتعبئة والاحصاء (</a:t>
            </a:r>
            <a:r>
              <a:rPr lang="en-US" sz="3491" dirty="0">
                <a:solidFill>
                  <a:srgbClr val="212121"/>
                </a:solidFill>
                <a:latin typeface="Dubai" panose="020B0503030403030204" pitchFamily="34" charset="-78"/>
                <a:ea typeface="Playfair Display"/>
                <a:cs typeface="Dubai" panose="020B0503030403030204" pitchFamily="34" charset="-78"/>
                <a:sym typeface="Playfair Display"/>
              </a:rPr>
              <a:t>CAPMAS</a:t>
            </a:r>
            <a:r>
              <a:rPr lang="ar-EG" sz="3491" dirty="0">
                <a:solidFill>
                  <a:srgbClr val="212121"/>
                </a:solidFill>
                <a:latin typeface="Dubai" panose="020B0503030403030204" pitchFamily="34" charset="-78"/>
                <a:ea typeface="Playfair Display"/>
                <a:cs typeface="Dubai" panose="020B0503030403030204" pitchFamily="34" charset="-78"/>
                <a:sym typeface="Playfair Display"/>
                <a:rtl/>
              </a:rPr>
              <a:t>)</a:t>
            </a:r>
          </a:p>
        </p:txBody>
      </p:sp>
      <p:sp>
        <p:nvSpPr>
          <p:cNvPr id="6" name="TextBox 6"/>
          <p:cNvSpPr txBox="1"/>
          <p:nvPr/>
        </p:nvSpPr>
        <p:spPr>
          <a:xfrm>
            <a:off x="2842154" y="3349682"/>
            <a:ext cx="14572159" cy="7332007"/>
          </a:xfrm>
          <a:prstGeom prst="rect">
            <a:avLst/>
          </a:prstGeom>
        </p:spPr>
        <p:txBody>
          <a:bodyPr lIns="0" tIns="0" rIns="0" bIns="0" rtlCol="0" anchor="t">
            <a:spAutoFit/>
          </a:bodyPr>
          <a:lstStyle/>
          <a:p>
            <a:pPr marL="738277" lvl="1" indent="-369138" algn="just" rtl="1">
              <a:lnSpc>
                <a:spcPts val="4787"/>
              </a:lnSpc>
              <a:buFont typeface="Arial"/>
              <a:buChar char="•"/>
            </a:pPr>
            <a:r>
              <a:rPr lang="ar-EG" sz="3419" dirty="0">
                <a:solidFill>
                  <a:srgbClr val="212121"/>
                </a:solidFill>
                <a:latin typeface="Segoe UI" panose="020B0502040204020203" pitchFamily="34" charset="0"/>
                <a:ea typeface="Playfair Display"/>
                <a:cs typeface="Segoe UI" panose="020B0502040204020203" pitchFamily="34" charset="0"/>
                <a:sym typeface="Playfair Display"/>
                <a:rtl/>
              </a:rPr>
              <a:t>جودة مياة نهر النيل </a:t>
            </a:r>
          </a:p>
          <a:p>
            <a:pPr marL="738277" lvl="1" indent="-369138" algn="just" rtl="1">
              <a:lnSpc>
                <a:spcPts val="4787"/>
              </a:lnSpc>
              <a:buFont typeface="Arial"/>
              <a:buChar char="•"/>
            </a:pPr>
            <a:r>
              <a:rPr lang="ar-EG" sz="3419" dirty="0">
                <a:solidFill>
                  <a:srgbClr val="212121"/>
                </a:solidFill>
                <a:latin typeface="Segoe UI" panose="020B0502040204020203" pitchFamily="34" charset="0"/>
                <a:ea typeface="Playfair Display"/>
                <a:cs typeface="Segoe UI" panose="020B0502040204020203" pitchFamily="34" charset="0"/>
                <a:sym typeface="Playfair Display"/>
                <a:rtl/>
              </a:rPr>
              <a:t>جودة مياة البخيرات في شهر مارس </a:t>
            </a:r>
          </a:p>
          <a:p>
            <a:pPr marL="738277" lvl="1" indent="-369138" algn="just" rtl="1">
              <a:lnSpc>
                <a:spcPts val="4787"/>
              </a:lnSpc>
              <a:buFont typeface="Arial"/>
              <a:buChar char="•"/>
            </a:pPr>
            <a:r>
              <a:rPr lang="ar-EG" sz="3419" dirty="0">
                <a:solidFill>
                  <a:srgbClr val="212121"/>
                </a:solidFill>
                <a:latin typeface="Segoe UI" panose="020B0502040204020203" pitchFamily="34" charset="0"/>
                <a:ea typeface="Playfair Display"/>
                <a:cs typeface="Segoe UI" panose="020B0502040204020203" pitchFamily="34" charset="0"/>
                <a:sym typeface="Playfair Display"/>
                <a:rtl/>
              </a:rPr>
              <a:t>اجمالي الموارد المائية لجمهورية مصر العربية طبقا للمصدر </a:t>
            </a:r>
          </a:p>
          <a:p>
            <a:pPr marL="738277" lvl="1" indent="-369138" algn="just" rtl="1">
              <a:lnSpc>
                <a:spcPts val="4787"/>
              </a:lnSpc>
              <a:buFont typeface="Arial"/>
              <a:buChar char="•"/>
            </a:pPr>
            <a:r>
              <a:rPr lang="ar-EG" sz="3419" dirty="0">
                <a:solidFill>
                  <a:srgbClr val="212121"/>
                </a:solidFill>
                <a:latin typeface="Segoe UI" panose="020B0502040204020203" pitchFamily="34" charset="0"/>
                <a:ea typeface="Playfair Display"/>
                <a:cs typeface="Segoe UI" panose="020B0502040204020203" pitchFamily="34" charset="0"/>
                <a:sym typeface="Playfair Display"/>
                <a:rtl/>
              </a:rPr>
              <a:t>اجمالي الموارد المائية لجمهورية مصر العربية طبقا لنوع الاستخدام</a:t>
            </a:r>
          </a:p>
          <a:p>
            <a:pPr marL="738277" lvl="1" indent="-369138" algn="just" rtl="1">
              <a:lnSpc>
                <a:spcPts val="4787"/>
              </a:lnSpc>
              <a:buFont typeface="Arial"/>
              <a:buChar char="•"/>
            </a:pPr>
            <a:r>
              <a:rPr lang="ar-EG" sz="3419" dirty="0">
                <a:solidFill>
                  <a:srgbClr val="212121"/>
                </a:solidFill>
                <a:latin typeface="Segoe UI" panose="020B0502040204020203" pitchFamily="34" charset="0"/>
                <a:ea typeface="Playfair Display"/>
                <a:cs typeface="Segoe UI" panose="020B0502040204020203" pitchFamily="34" charset="0"/>
                <a:sym typeface="Playfair Display"/>
                <a:rtl/>
              </a:rPr>
              <a:t>اجمالي كمية مياة الصرف الزرااعي المعاد استخدامها على مستوى الاقاليم </a:t>
            </a:r>
          </a:p>
          <a:p>
            <a:pPr marL="738277" lvl="1" indent="-369138" algn="just" rtl="1">
              <a:lnSpc>
                <a:spcPts val="4787"/>
              </a:lnSpc>
              <a:buFont typeface="Arial"/>
              <a:buChar char="•"/>
            </a:pPr>
            <a:r>
              <a:rPr lang="ar-EG" sz="3419" dirty="0">
                <a:solidFill>
                  <a:srgbClr val="212121"/>
                </a:solidFill>
                <a:latin typeface="Segoe UI" panose="020B0502040204020203" pitchFamily="34" charset="0"/>
                <a:ea typeface="Playfair Display"/>
                <a:cs typeface="Segoe UI" panose="020B0502040204020203" pitchFamily="34" charset="0"/>
                <a:sym typeface="Playfair Display"/>
                <a:rtl/>
              </a:rPr>
              <a:t>عدد محطات الصرف الصحي </a:t>
            </a:r>
          </a:p>
          <a:p>
            <a:pPr marL="738277" lvl="1" indent="-369138" algn="just" rtl="1">
              <a:lnSpc>
                <a:spcPts val="4787"/>
              </a:lnSpc>
              <a:buFont typeface="Arial"/>
              <a:buChar char="•"/>
            </a:pPr>
            <a:r>
              <a:rPr lang="ar-EG" sz="3419" dirty="0">
                <a:solidFill>
                  <a:srgbClr val="212121"/>
                </a:solidFill>
                <a:latin typeface="Segoe UI" panose="020B0502040204020203" pitchFamily="34" charset="0"/>
                <a:ea typeface="Playfair Display"/>
                <a:cs typeface="Segoe UI" panose="020B0502040204020203" pitchFamily="34" charset="0"/>
                <a:sym typeface="Playfair Display"/>
                <a:rtl/>
              </a:rPr>
              <a:t> عدد محطات رصد مؤشرات جودة البحيرات المصرية </a:t>
            </a:r>
          </a:p>
          <a:p>
            <a:pPr marL="738277" lvl="1" indent="-369138" algn="just" rtl="1">
              <a:lnSpc>
                <a:spcPts val="4787"/>
              </a:lnSpc>
              <a:buFont typeface="Arial"/>
              <a:buChar char="•"/>
            </a:pPr>
            <a:r>
              <a:rPr lang="ar-EG" sz="3419" dirty="0">
                <a:solidFill>
                  <a:srgbClr val="212121"/>
                </a:solidFill>
                <a:latin typeface="Segoe UI" panose="020B0502040204020203" pitchFamily="34" charset="0"/>
                <a:ea typeface="Playfair Display"/>
                <a:cs typeface="Segoe UI" panose="020B0502040204020203" pitchFamily="34" charset="0"/>
                <a:sym typeface="Playfair Display"/>
                <a:rtl/>
              </a:rPr>
              <a:t>كمية مياة الصرف الصحي منهجية قديمة </a:t>
            </a:r>
          </a:p>
          <a:p>
            <a:pPr marL="738277" lvl="1" indent="-369138" algn="just" rtl="1">
              <a:lnSpc>
                <a:spcPts val="4787"/>
              </a:lnSpc>
              <a:buFont typeface="Arial"/>
              <a:buChar char="•"/>
            </a:pPr>
            <a:r>
              <a:rPr lang="ar-EG" sz="3419" dirty="0">
                <a:solidFill>
                  <a:srgbClr val="212121"/>
                </a:solidFill>
                <a:latin typeface="Segoe UI" panose="020B0502040204020203" pitchFamily="34" charset="0"/>
                <a:ea typeface="Playfair Display"/>
                <a:cs typeface="Segoe UI" panose="020B0502040204020203" pitchFamily="34" charset="0"/>
                <a:sym typeface="Playfair Display"/>
                <a:rtl/>
              </a:rPr>
              <a:t>كمية مياة الصرف الصحي منهجية حديثة </a:t>
            </a:r>
          </a:p>
          <a:p>
            <a:pPr marL="738277" lvl="1" indent="-369138" algn="just" rtl="1">
              <a:lnSpc>
                <a:spcPts val="4787"/>
              </a:lnSpc>
              <a:buFont typeface="Arial"/>
              <a:buChar char="•"/>
            </a:pPr>
            <a:r>
              <a:rPr lang="ar-EG" sz="3419" dirty="0">
                <a:solidFill>
                  <a:srgbClr val="212121"/>
                </a:solidFill>
                <a:latin typeface="Segoe UI" panose="020B0502040204020203" pitchFamily="34" charset="0"/>
                <a:ea typeface="Playfair Display"/>
                <a:cs typeface="Segoe UI" panose="020B0502040204020203" pitchFamily="34" charset="0"/>
                <a:sym typeface="Playfair Display"/>
                <a:rtl/>
              </a:rPr>
              <a:t>محطات رصد جودة المياة بمنطقة البحر المتوسط حسب الموقع</a:t>
            </a:r>
          </a:p>
          <a:p>
            <a:pPr algn="just" rtl="1">
              <a:lnSpc>
                <a:spcPts val="4787"/>
              </a:lnSpc>
            </a:pPr>
            <a:endParaRPr lang="ar-EG" sz="3419" dirty="0">
              <a:solidFill>
                <a:srgbClr val="212121"/>
              </a:solidFill>
              <a:latin typeface="Segoe UI" panose="020B0502040204020203" pitchFamily="34" charset="0"/>
              <a:ea typeface="Playfair Display"/>
              <a:cs typeface="Segoe UI" panose="020B0502040204020203" pitchFamily="34" charset="0"/>
              <a:sym typeface="Playfair Display"/>
              <a:rtl/>
            </a:endParaRPr>
          </a:p>
          <a:p>
            <a:pPr algn="just" rtl="1">
              <a:lnSpc>
                <a:spcPts val="4787"/>
              </a:lnSpc>
            </a:pPr>
            <a:endParaRPr lang="ar-EG" sz="3419" dirty="0">
              <a:solidFill>
                <a:srgbClr val="212121"/>
              </a:solidFill>
              <a:latin typeface="Segoe UI" panose="020B0502040204020203" pitchFamily="34" charset="0"/>
              <a:ea typeface="Playfair Display"/>
              <a:cs typeface="Segoe UI" panose="020B0502040204020203" pitchFamily="34" charset="0"/>
              <a:sym typeface="Playfair Display"/>
              <a:rtl/>
            </a:endParaRPr>
          </a:p>
        </p:txBody>
      </p:sp>
      <p:sp>
        <p:nvSpPr>
          <p:cNvPr id="7" name="TextBox 7"/>
          <p:cNvSpPr txBox="1"/>
          <p:nvPr/>
        </p:nvSpPr>
        <p:spPr>
          <a:xfrm>
            <a:off x="14657487" y="2419562"/>
            <a:ext cx="2601813" cy="819150"/>
          </a:xfrm>
          <a:prstGeom prst="rect">
            <a:avLst/>
          </a:prstGeom>
        </p:spPr>
        <p:txBody>
          <a:bodyPr lIns="0" tIns="0" rIns="0" bIns="0" rtlCol="0" anchor="t">
            <a:spAutoFit/>
          </a:bodyPr>
          <a:lstStyle/>
          <a:p>
            <a:pPr marL="0" lvl="1" indent="0" algn="r" rtl="1">
              <a:lnSpc>
                <a:spcPts val="6419"/>
              </a:lnSpc>
              <a:spcBef>
                <a:spcPct val="0"/>
              </a:spcBef>
            </a:pPr>
            <a:r>
              <a:rPr lang="ar-EG" sz="5349" b="1" u="none" strike="noStrike" dirty="0">
                <a:solidFill>
                  <a:srgbClr val="212121"/>
                </a:solidFill>
                <a:latin typeface="Segoe UI" panose="020B0502040204020203" pitchFamily="34" charset="0"/>
                <a:ea typeface="Playfair Display Bold"/>
                <a:cs typeface="Segoe UI" panose="020B0502040204020203" pitchFamily="34" charset="0"/>
                <a:sym typeface="Playfair Display Bold"/>
                <a:rtl/>
              </a:rPr>
              <a:t>الجداول</a:t>
            </a:r>
            <a:r>
              <a:rPr lang="ar-EG" sz="5349" b="1" u="none" strike="noStrike" dirty="0">
                <a:solidFill>
                  <a:srgbClr val="212121"/>
                </a:solidFill>
                <a:latin typeface="Playfair Display Bold"/>
                <a:ea typeface="Playfair Display Bold"/>
                <a:cs typeface="Playfair Display Bold"/>
                <a:sym typeface="Playfair Display Bold"/>
                <a:rtl/>
              </a:rPr>
              <a:t>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0F0F0"/>
        </a:solidFill>
        <a:effectLst/>
      </p:bgPr>
    </p:bg>
    <p:spTree>
      <p:nvGrpSpPr>
        <p:cNvPr id="1" name=""/>
        <p:cNvGrpSpPr/>
        <p:nvPr/>
      </p:nvGrpSpPr>
      <p:grpSpPr>
        <a:xfrm>
          <a:off x="0" y="0"/>
          <a:ext cx="0" cy="0"/>
          <a:chOff x="0" y="0"/>
          <a:chExt cx="0" cy="0"/>
        </a:xfrm>
      </p:grpSpPr>
      <p:sp>
        <p:nvSpPr>
          <p:cNvPr id="2" name="Freeform 2"/>
          <p:cNvSpPr/>
          <p:nvPr/>
        </p:nvSpPr>
        <p:spPr>
          <a:xfrm>
            <a:off x="1028700" y="996313"/>
            <a:ext cx="5637120" cy="8261987"/>
          </a:xfrm>
          <a:custGeom>
            <a:avLst/>
            <a:gdLst/>
            <a:ahLst/>
            <a:cxnLst/>
            <a:rect l="l" t="t" r="r" b="b"/>
            <a:pathLst>
              <a:path w="5637120" h="8261987">
                <a:moveTo>
                  <a:pt x="0" y="0"/>
                </a:moveTo>
                <a:lnTo>
                  <a:pt x="5637120" y="0"/>
                </a:lnTo>
                <a:lnTo>
                  <a:pt x="5637120" y="8261987"/>
                </a:lnTo>
                <a:lnTo>
                  <a:pt x="0" y="8261987"/>
                </a:lnTo>
                <a:lnTo>
                  <a:pt x="0" y="0"/>
                </a:lnTo>
                <a:close/>
              </a:path>
            </a:pathLst>
          </a:custGeom>
          <a:blipFill>
            <a:blip r:embed="rId2"/>
            <a:stretch>
              <a:fillRect l="-23281" r="-23281"/>
            </a:stretch>
          </a:blipFill>
        </p:spPr>
        <p:txBody>
          <a:bodyPr/>
          <a:lstStyle/>
          <a:p>
            <a:endParaRPr lang="en-US"/>
          </a:p>
        </p:txBody>
      </p:sp>
      <p:grpSp>
        <p:nvGrpSpPr>
          <p:cNvPr id="3" name="Group 3"/>
          <p:cNvGrpSpPr/>
          <p:nvPr/>
        </p:nvGrpSpPr>
        <p:grpSpPr>
          <a:xfrm>
            <a:off x="6868432" y="3101694"/>
            <a:ext cx="10390868" cy="1410702"/>
            <a:chOff x="0" y="0"/>
            <a:chExt cx="3773500" cy="512304"/>
          </a:xfrm>
        </p:grpSpPr>
        <p:sp>
          <p:nvSpPr>
            <p:cNvPr id="4" name="Freeform 4"/>
            <p:cNvSpPr/>
            <p:nvPr/>
          </p:nvSpPr>
          <p:spPr>
            <a:xfrm>
              <a:off x="0" y="0"/>
              <a:ext cx="3773500" cy="512304"/>
            </a:xfrm>
            <a:custGeom>
              <a:avLst/>
              <a:gdLst/>
              <a:ahLst/>
              <a:cxnLst/>
              <a:rect l="l" t="t" r="r" b="b"/>
              <a:pathLst>
                <a:path w="3773500" h="512304">
                  <a:moveTo>
                    <a:pt x="37253" y="0"/>
                  </a:moveTo>
                  <a:lnTo>
                    <a:pt x="3736247" y="0"/>
                  </a:lnTo>
                  <a:cubicBezTo>
                    <a:pt x="3746127" y="0"/>
                    <a:pt x="3755603" y="3925"/>
                    <a:pt x="3762589" y="10911"/>
                  </a:cubicBezTo>
                  <a:cubicBezTo>
                    <a:pt x="3769575" y="17898"/>
                    <a:pt x="3773500" y="27373"/>
                    <a:pt x="3773500" y="37253"/>
                  </a:cubicBezTo>
                  <a:lnTo>
                    <a:pt x="3773500" y="475051"/>
                  </a:lnTo>
                  <a:cubicBezTo>
                    <a:pt x="3773500" y="484931"/>
                    <a:pt x="3769575" y="494407"/>
                    <a:pt x="3762589" y="501393"/>
                  </a:cubicBezTo>
                  <a:cubicBezTo>
                    <a:pt x="3755603" y="508379"/>
                    <a:pt x="3746127" y="512304"/>
                    <a:pt x="3736247" y="512304"/>
                  </a:cubicBezTo>
                  <a:lnTo>
                    <a:pt x="37253" y="512304"/>
                  </a:lnTo>
                  <a:cubicBezTo>
                    <a:pt x="16679" y="512304"/>
                    <a:pt x="0" y="495625"/>
                    <a:pt x="0" y="475051"/>
                  </a:cubicBezTo>
                  <a:lnTo>
                    <a:pt x="0" y="37253"/>
                  </a:lnTo>
                  <a:cubicBezTo>
                    <a:pt x="0" y="27373"/>
                    <a:pt x="3925" y="17898"/>
                    <a:pt x="10911" y="10911"/>
                  </a:cubicBezTo>
                  <a:cubicBezTo>
                    <a:pt x="17898" y="3925"/>
                    <a:pt x="27373" y="0"/>
                    <a:pt x="37253" y="0"/>
                  </a:cubicBezTo>
                  <a:close/>
                </a:path>
              </a:pathLst>
            </a:custGeom>
            <a:solidFill>
              <a:srgbClr val="0031BB"/>
            </a:solidFill>
          </p:spPr>
          <p:txBody>
            <a:bodyPr/>
            <a:lstStyle/>
            <a:p>
              <a:endParaRPr lang="en-US"/>
            </a:p>
          </p:txBody>
        </p:sp>
        <p:sp>
          <p:nvSpPr>
            <p:cNvPr id="5" name="TextBox 5"/>
            <p:cNvSpPr txBox="1"/>
            <p:nvPr/>
          </p:nvSpPr>
          <p:spPr>
            <a:xfrm>
              <a:off x="0" y="-38100"/>
              <a:ext cx="3773500" cy="550404"/>
            </a:xfrm>
            <a:prstGeom prst="rect">
              <a:avLst/>
            </a:prstGeom>
          </p:spPr>
          <p:txBody>
            <a:bodyPr lIns="50800" tIns="50800" rIns="50800" bIns="50800" rtlCol="0" anchor="ctr"/>
            <a:lstStyle/>
            <a:p>
              <a:pPr algn="ctr">
                <a:lnSpc>
                  <a:spcPts val="3360"/>
                </a:lnSpc>
              </a:pPr>
              <a:endParaRPr/>
            </a:p>
          </p:txBody>
        </p:sp>
      </p:grpSp>
      <p:grpSp>
        <p:nvGrpSpPr>
          <p:cNvPr id="6" name="Group 6"/>
          <p:cNvGrpSpPr/>
          <p:nvPr/>
        </p:nvGrpSpPr>
        <p:grpSpPr>
          <a:xfrm>
            <a:off x="6868432" y="4612417"/>
            <a:ext cx="10390868" cy="1410702"/>
            <a:chOff x="0" y="0"/>
            <a:chExt cx="3773500" cy="512304"/>
          </a:xfrm>
        </p:grpSpPr>
        <p:sp>
          <p:nvSpPr>
            <p:cNvPr id="7" name="Freeform 7"/>
            <p:cNvSpPr/>
            <p:nvPr/>
          </p:nvSpPr>
          <p:spPr>
            <a:xfrm>
              <a:off x="0" y="0"/>
              <a:ext cx="3773500" cy="512304"/>
            </a:xfrm>
            <a:custGeom>
              <a:avLst/>
              <a:gdLst/>
              <a:ahLst/>
              <a:cxnLst/>
              <a:rect l="l" t="t" r="r" b="b"/>
              <a:pathLst>
                <a:path w="3773500" h="512304">
                  <a:moveTo>
                    <a:pt x="37253" y="0"/>
                  </a:moveTo>
                  <a:lnTo>
                    <a:pt x="3736247" y="0"/>
                  </a:lnTo>
                  <a:cubicBezTo>
                    <a:pt x="3746127" y="0"/>
                    <a:pt x="3755603" y="3925"/>
                    <a:pt x="3762589" y="10911"/>
                  </a:cubicBezTo>
                  <a:cubicBezTo>
                    <a:pt x="3769575" y="17898"/>
                    <a:pt x="3773500" y="27373"/>
                    <a:pt x="3773500" y="37253"/>
                  </a:cubicBezTo>
                  <a:lnTo>
                    <a:pt x="3773500" y="475051"/>
                  </a:lnTo>
                  <a:cubicBezTo>
                    <a:pt x="3773500" y="484931"/>
                    <a:pt x="3769575" y="494407"/>
                    <a:pt x="3762589" y="501393"/>
                  </a:cubicBezTo>
                  <a:cubicBezTo>
                    <a:pt x="3755603" y="508379"/>
                    <a:pt x="3746127" y="512304"/>
                    <a:pt x="3736247" y="512304"/>
                  </a:cubicBezTo>
                  <a:lnTo>
                    <a:pt x="37253" y="512304"/>
                  </a:lnTo>
                  <a:cubicBezTo>
                    <a:pt x="16679" y="512304"/>
                    <a:pt x="0" y="495625"/>
                    <a:pt x="0" y="475051"/>
                  </a:cubicBezTo>
                  <a:lnTo>
                    <a:pt x="0" y="37253"/>
                  </a:lnTo>
                  <a:cubicBezTo>
                    <a:pt x="0" y="27373"/>
                    <a:pt x="3925" y="17898"/>
                    <a:pt x="10911" y="10911"/>
                  </a:cubicBezTo>
                  <a:cubicBezTo>
                    <a:pt x="17898" y="3925"/>
                    <a:pt x="27373" y="0"/>
                    <a:pt x="37253" y="0"/>
                  </a:cubicBezTo>
                  <a:close/>
                </a:path>
              </a:pathLst>
            </a:custGeom>
            <a:solidFill>
              <a:srgbClr val="000000">
                <a:alpha val="0"/>
              </a:srgbClr>
            </a:solidFill>
            <a:ln w="38100" cap="rnd">
              <a:solidFill>
                <a:srgbClr val="0031BB"/>
              </a:solidFill>
              <a:prstDash val="solid"/>
              <a:round/>
            </a:ln>
          </p:spPr>
          <p:txBody>
            <a:bodyPr/>
            <a:lstStyle/>
            <a:p>
              <a:endParaRPr lang="en-US"/>
            </a:p>
          </p:txBody>
        </p:sp>
        <p:sp>
          <p:nvSpPr>
            <p:cNvPr id="8" name="TextBox 8"/>
            <p:cNvSpPr txBox="1"/>
            <p:nvPr/>
          </p:nvSpPr>
          <p:spPr>
            <a:xfrm>
              <a:off x="0" y="-38100"/>
              <a:ext cx="3773500" cy="550404"/>
            </a:xfrm>
            <a:prstGeom prst="rect">
              <a:avLst/>
            </a:prstGeom>
          </p:spPr>
          <p:txBody>
            <a:bodyPr lIns="50800" tIns="50800" rIns="50800" bIns="50800" rtlCol="0" anchor="ctr"/>
            <a:lstStyle/>
            <a:p>
              <a:pPr algn="ctr">
                <a:lnSpc>
                  <a:spcPts val="3360"/>
                </a:lnSpc>
              </a:pPr>
              <a:endParaRPr/>
            </a:p>
          </p:txBody>
        </p:sp>
      </p:grpSp>
      <p:grpSp>
        <p:nvGrpSpPr>
          <p:cNvPr id="9" name="Group 9"/>
          <p:cNvGrpSpPr/>
          <p:nvPr/>
        </p:nvGrpSpPr>
        <p:grpSpPr>
          <a:xfrm>
            <a:off x="6868432" y="6127894"/>
            <a:ext cx="10390868" cy="1410702"/>
            <a:chOff x="0" y="0"/>
            <a:chExt cx="3773500" cy="512304"/>
          </a:xfrm>
        </p:grpSpPr>
        <p:sp>
          <p:nvSpPr>
            <p:cNvPr id="10" name="Freeform 10"/>
            <p:cNvSpPr/>
            <p:nvPr/>
          </p:nvSpPr>
          <p:spPr>
            <a:xfrm>
              <a:off x="0" y="0"/>
              <a:ext cx="3773500" cy="512304"/>
            </a:xfrm>
            <a:custGeom>
              <a:avLst/>
              <a:gdLst/>
              <a:ahLst/>
              <a:cxnLst/>
              <a:rect l="l" t="t" r="r" b="b"/>
              <a:pathLst>
                <a:path w="3773500" h="512304">
                  <a:moveTo>
                    <a:pt x="37253" y="0"/>
                  </a:moveTo>
                  <a:lnTo>
                    <a:pt x="3736247" y="0"/>
                  </a:lnTo>
                  <a:cubicBezTo>
                    <a:pt x="3746127" y="0"/>
                    <a:pt x="3755603" y="3925"/>
                    <a:pt x="3762589" y="10911"/>
                  </a:cubicBezTo>
                  <a:cubicBezTo>
                    <a:pt x="3769575" y="17898"/>
                    <a:pt x="3773500" y="27373"/>
                    <a:pt x="3773500" y="37253"/>
                  </a:cubicBezTo>
                  <a:lnTo>
                    <a:pt x="3773500" y="475051"/>
                  </a:lnTo>
                  <a:cubicBezTo>
                    <a:pt x="3773500" y="484931"/>
                    <a:pt x="3769575" y="494407"/>
                    <a:pt x="3762589" y="501393"/>
                  </a:cubicBezTo>
                  <a:cubicBezTo>
                    <a:pt x="3755603" y="508379"/>
                    <a:pt x="3746127" y="512304"/>
                    <a:pt x="3736247" y="512304"/>
                  </a:cubicBezTo>
                  <a:lnTo>
                    <a:pt x="37253" y="512304"/>
                  </a:lnTo>
                  <a:cubicBezTo>
                    <a:pt x="16679" y="512304"/>
                    <a:pt x="0" y="495625"/>
                    <a:pt x="0" y="475051"/>
                  </a:cubicBezTo>
                  <a:lnTo>
                    <a:pt x="0" y="37253"/>
                  </a:lnTo>
                  <a:cubicBezTo>
                    <a:pt x="0" y="27373"/>
                    <a:pt x="3925" y="17898"/>
                    <a:pt x="10911" y="10911"/>
                  </a:cubicBezTo>
                  <a:cubicBezTo>
                    <a:pt x="17898" y="3925"/>
                    <a:pt x="27373" y="0"/>
                    <a:pt x="37253" y="0"/>
                  </a:cubicBezTo>
                  <a:close/>
                </a:path>
              </a:pathLst>
            </a:custGeom>
            <a:solidFill>
              <a:srgbClr val="000000">
                <a:alpha val="0"/>
              </a:srgbClr>
            </a:solidFill>
            <a:ln w="38100" cap="rnd">
              <a:solidFill>
                <a:srgbClr val="0031BB"/>
              </a:solidFill>
              <a:prstDash val="solid"/>
              <a:round/>
            </a:ln>
          </p:spPr>
          <p:txBody>
            <a:bodyPr/>
            <a:lstStyle/>
            <a:p>
              <a:endParaRPr lang="en-US"/>
            </a:p>
          </p:txBody>
        </p:sp>
        <p:sp>
          <p:nvSpPr>
            <p:cNvPr id="11" name="TextBox 11"/>
            <p:cNvSpPr txBox="1"/>
            <p:nvPr/>
          </p:nvSpPr>
          <p:spPr>
            <a:xfrm>
              <a:off x="0" y="-38100"/>
              <a:ext cx="3773500" cy="550404"/>
            </a:xfrm>
            <a:prstGeom prst="rect">
              <a:avLst/>
            </a:prstGeom>
          </p:spPr>
          <p:txBody>
            <a:bodyPr lIns="50800" tIns="50800" rIns="50800" bIns="50800" rtlCol="0" anchor="ctr"/>
            <a:lstStyle/>
            <a:p>
              <a:pPr algn="ctr">
                <a:lnSpc>
                  <a:spcPts val="3360"/>
                </a:lnSpc>
              </a:pPr>
              <a:endParaRPr/>
            </a:p>
          </p:txBody>
        </p:sp>
      </p:grpSp>
      <p:sp>
        <p:nvSpPr>
          <p:cNvPr id="12" name="TextBox 12"/>
          <p:cNvSpPr txBox="1"/>
          <p:nvPr/>
        </p:nvSpPr>
        <p:spPr>
          <a:xfrm>
            <a:off x="13635474" y="1000125"/>
            <a:ext cx="3623826" cy="359073"/>
          </a:xfrm>
          <a:prstGeom prst="rect">
            <a:avLst/>
          </a:prstGeom>
        </p:spPr>
        <p:txBody>
          <a:bodyPr lIns="0" tIns="0" rIns="0" bIns="0" rtlCol="0" anchor="t">
            <a:spAutoFit/>
          </a:bodyPr>
          <a:lstStyle/>
          <a:p>
            <a:pPr algn="r" rtl="1">
              <a:lnSpc>
                <a:spcPts val="2799"/>
              </a:lnSpc>
              <a:spcBef>
                <a:spcPct val="0"/>
              </a:spcBef>
            </a:pPr>
            <a:r>
              <a:rPr lang="ar-EG" sz="1999" b="1" dirty="0">
                <a:solidFill>
                  <a:srgbClr val="0031BB"/>
                </a:solidFill>
                <a:latin typeface="Dubai" panose="020B0503030403030204" pitchFamily="34" charset="-78"/>
                <a:ea typeface="Playfair Display Bold"/>
                <a:cs typeface="Dubai" panose="020B0503030403030204" pitchFamily="34" charset="-78"/>
                <a:sym typeface="Playfair Display Bold"/>
                <a:rtl/>
              </a:rPr>
              <a:t>صفحة  </a:t>
            </a:r>
            <a:r>
              <a:rPr lang="en-US" sz="1999" b="1" dirty="0">
                <a:solidFill>
                  <a:srgbClr val="0031BB"/>
                </a:solidFill>
                <a:latin typeface="Dubai" panose="020B0503030403030204" pitchFamily="34" charset="-78"/>
                <a:ea typeface="Playfair Display Bold"/>
                <a:cs typeface="Dubai" panose="020B0503030403030204" pitchFamily="34" charset="-78"/>
                <a:sym typeface="Playfair Display Bold"/>
              </a:rPr>
              <a:t>7</a:t>
            </a:r>
          </a:p>
        </p:txBody>
      </p:sp>
      <p:sp>
        <p:nvSpPr>
          <p:cNvPr id="13" name="TextBox 13"/>
          <p:cNvSpPr txBox="1"/>
          <p:nvPr/>
        </p:nvSpPr>
        <p:spPr>
          <a:xfrm>
            <a:off x="7163193" y="1658345"/>
            <a:ext cx="9801347" cy="839234"/>
          </a:xfrm>
          <a:prstGeom prst="rect">
            <a:avLst/>
          </a:prstGeom>
        </p:spPr>
        <p:txBody>
          <a:bodyPr lIns="0" tIns="0" rIns="0" bIns="0" rtlCol="0" anchor="t">
            <a:spAutoFit/>
          </a:bodyPr>
          <a:lstStyle/>
          <a:p>
            <a:pPr algn="r" rtl="1">
              <a:lnSpc>
                <a:spcPts val="6999"/>
              </a:lnSpc>
              <a:spcBef>
                <a:spcPct val="0"/>
              </a:spcBef>
            </a:pPr>
            <a:r>
              <a:rPr lang="ar-EG" sz="4999" b="1" dirty="0">
                <a:solidFill>
                  <a:srgbClr val="0031BB"/>
                </a:solidFill>
                <a:latin typeface="Segoe UI" panose="020B0502040204020203" pitchFamily="34" charset="0"/>
                <a:ea typeface="Playfair Display Bold"/>
                <a:cs typeface="Segoe UI" panose="020B0502040204020203" pitchFamily="34" charset="0"/>
                <a:sym typeface="Playfair Display Bold"/>
                <a:rtl/>
              </a:rPr>
              <a:t>لماذا استخدمنا </a:t>
            </a:r>
            <a:r>
              <a:rPr lang="en-US" sz="4999" b="1" dirty="0">
                <a:solidFill>
                  <a:srgbClr val="0031BB"/>
                </a:solidFill>
                <a:latin typeface="Segoe UI" panose="020B0502040204020203" pitchFamily="34" charset="0"/>
                <a:ea typeface="Playfair Display Bold"/>
                <a:cs typeface="Segoe UI" panose="020B0502040204020203" pitchFamily="34" charset="0"/>
                <a:sym typeface="Playfair Display Bold"/>
              </a:rPr>
              <a:t>Power Bi</a:t>
            </a:r>
            <a:r>
              <a:rPr lang="ar-EG" sz="4999" b="1" dirty="0">
                <a:solidFill>
                  <a:srgbClr val="0031BB"/>
                </a:solidFill>
                <a:latin typeface="Segoe UI" panose="020B0502040204020203" pitchFamily="34" charset="0"/>
                <a:ea typeface="Playfair Display Bold"/>
                <a:cs typeface="Segoe UI" panose="020B0502040204020203" pitchFamily="34" charset="0"/>
                <a:sym typeface="Playfair Display Bold"/>
                <a:rtl/>
              </a:rPr>
              <a:t> ؟</a:t>
            </a:r>
          </a:p>
        </p:txBody>
      </p:sp>
      <p:sp>
        <p:nvSpPr>
          <p:cNvPr id="14" name="TextBox 14"/>
          <p:cNvSpPr txBox="1"/>
          <p:nvPr/>
        </p:nvSpPr>
        <p:spPr>
          <a:xfrm>
            <a:off x="7323695" y="3331079"/>
            <a:ext cx="9480343" cy="916970"/>
          </a:xfrm>
          <a:prstGeom prst="rect">
            <a:avLst/>
          </a:prstGeom>
        </p:spPr>
        <p:txBody>
          <a:bodyPr lIns="0" tIns="0" rIns="0" bIns="0" rtlCol="0" anchor="t">
            <a:spAutoFit/>
          </a:bodyPr>
          <a:lstStyle/>
          <a:p>
            <a:pPr algn="r" rtl="1">
              <a:lnSpc>
                <a:spcPts val="3716"/>
              </a:lnSpc>
              <a:spcBef>
                <a:spcPct val="0"/>
              </a:spcBef>
            </a:pPr>
            <a:r>
              <a:rPr lang="ar-EG" sz="2654" dirty="0">
                <a:solidFill>
                  <a:srgbClr val="F0F0F0"/>
                </a:solidFill>
                <a:latin typeface="Segoe UI" panose="020B0502040204020203" pitchFamily="34" charset="0"/>
                <a:ea typeface="Playfair Display"/>
                <a:cs typeface="Segoe UI" panose="020B0502040204020203" pitchFamily="34" charset="0"/>
                <a:sym typeface="Playfair Display"/>
                <a:rtl/>
              </a:rPr>
              <a:t>لكون البيانات الأصلية باللغة العربية، فكان من الصعب على بايثون و </a:t>
            </a:r>
            <a:r>
              <a:rPr lang="en-US" sz="2654" dirty="0" err="1">
                <a:solidFill>
                  <a:srgbClr val="F0F0F0"/>
                </a:solidFill>
                <a:latin typeface="Segoe UI" panose="020B0502040204020203" pitchFamily="34" charset="0"/>
                <a:ea typeface="Playfair Display"/>
                <a:cs typeface="Segoe UI" panose="020B0502040204020203" pitchFamily="34" charset="0"/>
                <a:sym typeface="Playfair Display"/>
              </a:rPr>
              <a:t>sql</a:t>
            </a:r>
            <a:r>
              <a:rPr lang="ar-EG" sz="2654" dirty="0">
                <a:solidFill>
                  <a:srgbClr val="F0F0F0"/>
                </a:solidFill>
                <a:latin typeface="Segoe UI" panose="020B0502040204020203" pitchFamily="34" charset="0"/>
                <a:ea typeface="Playfair Display"/>
                <a:cs typeface="Segoe UI" panose="020B0502040204020203" pitchFamily="34" charset="0"/>
                <a:sym typeface="Playfair Display"/>
                <a:rtl/>
              </a:rPr>
              <a:t> فهم الترميز</a:t>
            </a:r>
          </a:p>
        </p:txBody>
      </p:sp>
      <p:sp>
        <p:nvSpPr>
          <p:cNvPr id="15" name="TextBox 15"/>
          <p:cNvSpPr txBox="1"/>
          <p:nvPr/>
        </p:nvSpPr>
        <p:spPr>
          <a:xfrm>
            <a:off x="6665820" y="5049356"/>
            <a:ext cx="9682954" cy="452284"/>
          </a:xfrm>
          <a:prstGeom prst="rect">
            <a:avLst/>
          </a:prstGeom>
        </p:spPr>
        <p:txBody>
          <a:bodyPr lIns="0" tIns="0" rIns="0" bIns="0" rtlCol="0" anchor="t">
            <a:spAutoFit/>
          </a:bodyPr>
          <a:lstStyle/>
          <a:p>
            <a:pPr algn="r" rtl="1">
              <a:lnSpc>
                <a:spcPts val="3796"/>
              </a:lnSpc>
              <a:spcBef>
                <a:spcPct val="0"/>
              </a:spcBef>
            </a:pPr>
            <a:r>
              <a:rPr lang="ar-EG" sz="2711" dirty="0">
                <a:solidFill>
                  <a:srgbClr val="212121"/>
                </a:solidFill>
                <a:latin typeface="Segoe UI" panose="020B0502040204020203" pitchFamily="34" charset="0"/>
                <a:ea typeface="Playfair Display"/>
                <a:cs typeface="Segoe UI" panose="020B0502040204020203" pitchFamily="34" charset="0"/>
                <a:sym typeface="Playfair Display"/>
                <a:rtl/>
              </a:rPr>
              <a:t>ملف البيانات متوفر بصيغة </a:t>
            </a:r>
            <a:r>
              <a:rPr lang="en-US" sz="2711" dirty="0">
                <a:solidFill>
                  <a:srgbClr val="212121"/>
                </a:solidFill>
                <a:latin typeface="Segoe UI" panose="020B0502040204020203" pitchFamily="34" charset="0"/>
                <a:ea typeface="Playfair Display"/>
                <a:cs typeface="Segoe UI" panose="020B0502040204020203" pitchFamily="34" charset="0"/>
                <a:sym typeface="Playfair Display"/>
              </a:rPr>
              <a:t>Excel</a:t>
            </a:r>
            <a:r>
              <a:rPr lang="ar-EG" sz="2711" dirty="0">
                <a:solidFill>
                  <a:srgbClr val="212121"/>
                </a:solidFill>
                <a:latin typeface="Segoe UI" panose="020B0502040204020203" pitchFamily="34" charset="0"/>
                <a:ea typeface="Playfair Display"/>
                <a:cs typeface="Segoe UI" panose="020B0502040204020203" pitchFamily="34" charset="0"/>
                <a:sym typeface="Playfair Display"/>
                <a:rtl/>
              </a:rPr>
              <a:t> قديمة (صيغة </a:t>
            </a:r>
            <a:r>
              <a:rPr lang="en-US" sz="2711" dirty="0">
                <a:solidFill>
                  <a:srgbClr val="212121"/>
                </a:solidFill>
                <a:latin typeface="Segoe UI" panose="020B0502040204020203" pitchFamily="34" charset="0"/>
                <a:ea typeface="Playfair Display"/>
                <a:cs typeface="Segoe UI" panose="020B0502040204020203" pitchFamily="34" charset="0"/>
                <a:sym typeface="Playfair Display"/>
              </a:rPr>
              <a:t>2008</a:t>
            </a:r>
            <a:r>
              <a:rPr lang="ar-EG" sz="2711" dirty="0">
                <a:solidFill>
                  <a:srgbClr val="212121"/>
                </a:solidFill>
                <a:latin typeface="Segoe UI" panose="020B0502040204020203" pitchFamily="34" charset="0"/>
                <a:ea typeface="Playfair Display"/>
                <a:cs typeface="Segoe UI" panose="020B0502040204020203" pitchFamily="34" charset="0"/>
                <a:sym typeface="Playfair Display"/>
                <a:rtl/>
              </a:rPr>
              <a:t>)</a:t>
            </a:r>
          </a:p>
        </p:txBody>
      </p:sp>
      <p:sp>
        <p:nvSpPr>
          <p:cNvPr id="16" name="TextBox 16"/>
          <p:cNvSpPr txBox="1"/>
          <p:nvPr/>
        </p:nvSpPr>
        <p:spPr>
          <a:xfrm>
            <a:off x="7163193" y="6540311"/>
            <a:ext cx="9185582" cy="420949"/>
          </a:xfrm>
          <a:prstGeom prst="rect">
            <a:avLst/>
          </a:prstGeom>
        </p:spPr>
        <p:txBody>
          <a:bodyPr lIns="0" tIns="0" rIns="0" bIns="0" rtlCol="0" anchor="t">
            <a:spAutoFit/>
          </a:bodyPr>
          <a:lstStyle/>
          <a:p>
            <a:pPr algn="r" rtl="1">
              <a:lnSpc>
                <a:spcPts val="3601"/>
              </a:lnSpc>
              <a:spcBef>
                <a:spcPct val="0"/>
              </a:spcBef>
            </a:pPr>
            <a:r>
              <a:rPr lang="ar-EG" sz="2572" dirty="0">
                <a:solidFill>
                  <a:srgbClr val="212121"/>
                </a:solidFill>
                <a:latin typeface="Segoe UI" panose="020B0502040204020203" pitchFamily="34" charset="0"/>
                <a:ea typeface="Playfair Display"/>
                <a:cs typeface="Segoe UI" panose="020B0502040204020203" pitchFamily="34" charset="0"/>
                <a:sym typeface="Playfair Display"/>
                <a:rtl/>
              </a:rPr>
              <a:t>مشكلة حذف بعض البيانات عند تحويلها الى صيغة </a:t>
            </a:r>
            <a:r>
              <a:rPr lang="en-US" sz="2572" dirty="0">
                <a:solidFill>
                  <a:srgbClr val="212121"/>
                </a:solidFill>
                <a:latin typeface="Segoe UI" panose="020B0502040204020203" pitchFamily="34" charset="0"/>
                <a:ea typeface="Playfair Display"/>
                <a:cs typeface="Segoe UI" panose="020B0502040204020203" pitchFamily="34" charset="0"/>
                <a:sym typeface="Playfair Display"/>
              </a:rPr>
              <a:t>csv</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0F0F0"/>
        </a:solidFill>
        <a:effectLst/>
      </p:bgPr>
    </p:bg>
    <p:spTree>
      <p:nvGrpSpPr>
        <p:cNvPr id="1" name=""/>
        <p:cNvGrpSpPr/>
        <p:nvPr/>
      </p:nvGrpSpPr>
      <p:grpSpPr>
        <a:xfrm>
          <a:off x="0" y="0"/>
          <a:ext cx="0" cy="0"/>
          <a:chOff x="0" y="0"/>
          <a:chExt cx="0" cy="0"/>
        </a:xfrm>
      </p:grpSpPr>
      <p:sp>
        <p:nvSpPr>
          <p:cNvPr id="2" name="Freeform 2"/>
          <p:cNvSpPr/>
          <p:nvPr/>
        </p:nvSpPr>
        <p:spPr>
          <a:xfrm>
            <a:off x="0" y="2035806"/>
            <a:ext cx="15208415" cy="8100382"/>
          </a:xfrm>
          <a:custGeom>
            <a:avLst/>
            <a:gdLst/>
            <a:ahLst/>
            <a:cxnLst/>
            <a:rect l="l" t="t" r="r" b="b"/>
            <a:pathLst>
              <a:path w="15208415" h="8100382">
                <a:moveTo>
                  <a:pt x="0" y="0"/>
                </a:moveTo>
                <a:lnTo>
                  <a:pt x="15208415" y="0"/>
                </a:lnTo>
                <a:lnTo>
                  <a:pt x="15208415" y="8100381"/>
                </a:lnTo>
                <a:lnTo>
                  <a:pt x="0" y="8100381"/>
                </a:lnTo>
                <a:lnTo>
                  <a:pt x="0" y="0"/>
                </a:lnTo>
                <a:close/>
              </a:path>
            </a:pathLst>
          </a:custGeom>
          <a:blipFill>
            <a:blip r:embed="rId2"/>
            <a:stretch>
              <a:fillRect t="-5903" b="-4204"/>
            </a:stretch>
          </a:blipFill>
        </p:spPr>
        <p:txBody>
          <a:bodyPr/>
          <a:lstStyle/>
          <a:p>
            <a:endParaRPr lang="en-US"/>
          </a:p>
        </p:txBody>
      </p:sp>
      <p:sp>
        <p:nvSpPr>
          <p:cNvPr id="3" name="TextBox 3"/>
          <p:cNvSpPr txBox="1"/>
          <p:nvPr/>
        </p:nvSpPr>
        <p:spPr>
          <a:xfrm>
            <a:off x="14149824" y="698500"/>
            <a:ext cx="3623826" cy="359073"/>
          </a:xfrm>
          <a:prstGeom prst="rect">
            <a:avLst/>
          </a:prstGeom>
        </p:spPr>
        <p:txBody>
          <a:bodyPr lIns="0" tIns="0" rIns="0" bIns="0" rtlCol="0" anchor="t">
            <a:spAutoFit/>
          </a:bodyPr>
          <a:lstStyle/>
          <a:p>
            <a:pPr algn="r" rtl="1">
              <a:lnSpc>
                <a:spcPts val="2799"/>
              </a:lnSpc>
              <a:spcBef>
                <a:spcPct val="0"/>
              </a:spcBef>
            </a:pPr>
            <a:r>
              <a:rPr lang="ar-EG" sz="1999" b="1" dirty="0">
                <a:solidFill>
                  <a:srgbClr val="0031BB"/>
                </a:solidFill>
                <a:latin typeface="Dubai" panose="020B0503030403030204" pitchFamily="34" charset="-78"/>
                <a:ea typeface="Playfair Display Bold"/>
                <a:cs typeface="Dubai" panose="020B0503030403030204" pitchFamily="34" charset="-78"/>
                <a:sym typeface="Playfair Display Bold"/>
                <a:rtl/>
              </a:rPr>
              <a:t>صفحة  </a:t>
            </a:r>
            <a:r>
              <a:rPr lang="en-US" sz="1999" b="1" dirty="0">
                <a:solidFill>
                  <a:srgbClr val="0031BB"/>
                </a:solidFill>
                <a:latin typeface="Dubai" panose="020B0503030403030204" pitchFamily="34" charset="-78"/>
                <a:ea typeface="Playfair Display Bold"/>
                <a:cs typeface="Dubai" panose="020B0503030403030204" pitchFamily="34" charset="-78"/>
                <a:sym typeface="Playfair Display Bold"/>
              </a:rPr>
              <a:t>8</a:t>
            </a:r>
          </a:p>
        </p:txBody>
      </p:sp>
      <p:sp>
        <p:nvSpPr>
          <p:cNvPr id="4" name="TextBox 4"/>
          <p:cNvSpPr txBox="1"/>
          <p:nvPr/>
        </p:nvSpPr>
        <p:spPr>
          <a:xfrm>
            <a:off x="395521" y="-47625"/>
            <a:ext cx="16343815" cy="1945340"/>
          </a:xfrm>
          <a:prstGeom prst="rect">
            <a:avLst/>
          </a:prstGeom>
        </p:spPr>
        <p:txBody>
          <a:bodyPr lIns="0" tIns="0" rIns="0" bIns="0" rtlCol="0" anchor="t">
            <a:spAutoFit/>
          </a:bodyPr>
          <a:lstStyle/>
          <a:p>
            <a:pPr algn="just" rtl="1">
              <a:lnSpc>
                <a:spcPts val="3893"/>
              </a:lnSpc>
            </a:pPr>
            <a:r>
              <a:rPr lang="ar-EG" sz="2780" dirty="0">
                <a:solidFill>
                  <a:srgbClr val="212121"/>
                </a:solidFill>
                <a:latin typeface="Segoe UI" panose="020B0502040204020203" pitchFamily="34" charset="0"/>
                <a:ea typeface="Playfair Display"/>
                <a:cs typeface="Segoe UI" panose="020B0502040204020203" pitchFamily="34" charset="0"/>
                <a:sym typeface="Playfair Display"/>
                <a:rtl/>
              </a:rPr>
              <a:t>سبب إنشاء جدول </a:t>
            </a:r>
            <a:r>
              <a:rPr lang="en-US" sz="2780" dirty="0">
                <a:solidFill>
                  <a:srgbClr val="212121"/>
                </a:solidFill>
                <a:latin typeface="Segoe UI" panose="020B0502040204020203" pitchFamily="34" charset="0"/>
                <a:ea typeface="Playfair Display"/>
                <a:cs typeface="Segoe UI" panose="020B0502040204020203" pitchFamily="34" charset="0"/>
                <a:sym typeface="Playfair Display"/>
              </a:rPr>
              <a:t>Dim Year</a:t>
            </a:r>
            <a:r>
              <a:rPr lang="ar-EG" sz="2780" dirty="0">
                <a:solidFill>
                  <a:srgbClr val="212121"/>
                </a:solidFill>
                <a:latin typeface="Segoe UI" panose="020B0502040204020203" pitchFamily="34" charset="0"/>
                <a:ea typeface="Playfair Display"/>
                <a:cs typeface="Segoe UI" panose="020B0502040204020203" pitchFamily="34" charset="0"/>
                <a:sym typeface="Playfair Display"/>
                <a:rtl/>
              </a:rPr>
              <a:t>:</a:t>
            </a:r>
          </a:p>
          <a:p>
            <a:pPr algn="just" rtl="1">
              <a:lnSpc>
                <a:spcPts val="3893"/>
              </a:lnSpc>
              <a:spcBef>
                <a:spcPct val="0"/>
              </a:spcBef>
            </a:pPr>
            <a:r>
              <a:rPr lang="ar-EG" sz="2780" dirty="0">
                <a:solidFill>
                  <a:srgbClr val="212121"/>
                </a:solidFill>
                <a:latin typeface="Segoe UI" panose="020B0502040204020203" pitchFamily="34" charset="0"/>
                <a:ea typeface="Playfair Display"/>
                <a:cs typeface="Segoe UI" panose="020B0502040204020203" pitchFamily="34" charset="0"/>
                <a:sym typeface="Playfair Display"/>
                <a:rtl/>
              </a:rPr>
              <a:t> نظرًا لعدم وجود أعمدة زمنية في الجداول المتاحة تمثل السنوات، كان من الصعب إجراء التحليلات الزمنية أو الربط مع جدول </a:t>
            </a:r>
            <a:r>
              <a:rPr lang="en-US" sz="2780" dirty="0">
                <a:solidFill>
                  <a:srgbClr val="212121"/>
                </a:solidFill>
                <a:latin typeface="Segoe UI" panose="020B0502040204020203" pitchFamily="34" charset="0"/>
                <a:ea typeface="Playfair Display"/>
                <a:cs typeface="Segoe UI" panose="020B0502040204020203" pitchFamily="34" charset="0"/>
                <a:sym typeface="Playfair Display"/>
              </a:rPr>
              <a:t>Calendar</a:t>
            </a:r>
            <a:r>
              <a:rPr lang="ar-EG" sz="2780" dirty="0">
                <a:solidFill>
                  <a:srgbClr val="212121"/>
                </a:solidFill>
                <a:latin typeface="Segoe UI" panose="020B0502040204020203" pitchFamily="34" charset="0"/>
                <a:ea typeface="Playfair Display"/>
                <a:cs typeface="Segoe UI" panose="020B0502040204020203" pitchFamily="34" charset="0"/>
                <a:sym typeface="Playfair Display"/>
                <a:rtl/>
              </a:rPr>
              <a:t>. لذلك تم إنشاء جدول </a:t>
            </a:r>
            <a:r>
              <a:rPr lang="en-US" sz="2780" dirty="0">
                <a:solidFill>
                  <a:srgbClr val="212121"/>
                </a:solidFill>
                <a:latin typeface="Segoe UI" panose="020B0502040204020203" pitchFamily="34" charset="0"/>
                <a:ea typeface="Playfair Display"/>
                <a:cs typeface="Segoe UI" panose="020B0502040204020203" pitchFamily="34" charset="0"/>
                <a:sym typeface="Playfair Display"/>
              </a:rPr>
              <a:t>Dim Year</a:t>
            </a:r>
            <a:r>
              <a:rPr lang="ar-EG" sz="2780" dirty="0">
                <a:solidFill>
                  <a:srgbClr val="212121"/>
                </a:solidFill>
                <a:latin typeface="Segoe UI" panose="020B0502040204020203" pitchFamily="34" charset="0"/>
                <a:ea typeface="Playfair Display"/>
                <a:cs typeface="Segoe UI" panose="020B0502040204020203" pitchFamily="34" charset="0"/>
                <a:sym typeface="Playfair Display"/>
                <a:rtl/>
              </a:rPr>
              <a:t> يحتوي على قيم السنوات كنصوص، لتوفير محور زمني يمكن استخدامه في التحليل وربط البيانات بين الجداول</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800AD"/>
        </a:solidFill>
        <a:effectLst/>
      </p:bgPr>
    </p:bg>
    <p:spTree>
      <p:nvGrpSpPr>
        <p:cNvPr id="1" name=""/>
        <p:cNvGrpSpPr/>
        <p:nvPr/>
      </p:nvGrpSpPr>
      <p:grpSpPr>
        <a:xfrm>
          <a:off x="0" y="0"/>
          <a:ext cx="0" cy="0"/>
          <a:chOff x="0" y="0"/>
          <a:chExt cx="0" cy="0"/>
        </a:xfrm>
      </p:grpSpPr>
      <p:sp>
        <p:nvSpPr>
          <p:cNvPr id="2" name="Freeform 2"/>
          <p:cNvSpPr/>
          <p:nvPr/>
        </p:nvSpPr>
        <p:spPr>
          <a:xfrm>
            <a:off x="1" y="0"/>
            <a:ext cx="18288000" cy="10287000"/>
          </a:xfrm>
          <a:custGeom>
            <a:avLst/>
            <a:gdLst/>
            <a:ahLst/>
            <a:cxnLst/>
            <a:rect l="l" t="t" r="r" b="b"/>
            <a:pathLst>
              <a:path w="18826167" h="10287000">
                <a:moveTo>
                  <a:pt x="0" y="0"/>
                </a:moveTo>
                <a:lnTo>
                  <a:pt x="18826167" y="0"/>
                </a:lnTo>
                <a:lnTo>
                  <a:pt x="18826167" y="10287000"/>
                </a:lnTo>
                <a:lnTo>
                  <a:pt x="0" y="10287000"/>
                </a:lnTo>
                <a:lnTo>
                  <a:pt x="0" y="0"/>
                </a:lnTo>
                <a:close/>
              </a:path>
            </a:pathLst>
          </a:custGeom>
          <a:blipFill>
            <a:blip r:embed="rId2">
              <a:alphaModFix amt="50000"/>
            </a:blip>
            <a:stretch>
              <a:fillRect l="-3615" r="-3615" b="-10337"/>
            </a:stretch>
          </a:blipFill>
        </p:spPr>
        <p:txBody>
          <a:bodyPr/>
          <a:lstStyle/>
          <a:p>
            <a:endParaRPr lang="en-US">
              <a:latin typeface="Segoe UI" panose="020B0502040204020203" pitchFamily="34" charset="0"/>
              <a:cs typeface="Segoe UI" panose="020B0502040204020203" pitchFamily="34" charset="0"/>
            </a:endParaRPr>
          </a:p>
        </p:txBody>
      </p:sp>
      <p:grpSp>
        <p:nvGrpSpPr>
          <p:cNvPr id="3" name="Group 3"/>
          <p:cNvGrpSpPr/>
          <p:nvPr/>
        </p:nvGrpSpPr>
        <p:grpSpPr>
          <a:xfrm>
            <a:off x="621464" y="2911520"/>
            <a:ext cx="17045072" cy="2910040"/>
            <a:chOff x="0" y="0"/>
            <a:chExt cx="2766911" cy="472384"/>
          </a:xfrm>
        </p:grpSpPr>
        <p:sp>
          <p:nvSpPr>
            <p:cNvPr id="4" name="Freeform 4"/>
            <p:cNvSpPr/>
            <p:nvPr/>
          </p:nvSpPr>
          <p:spPr>
            <a:xfrm>
              <a:off x="0" y="0"/>
              <a:ext cx="2766911" cy="472384"/>
            </a:xfrm>
            <a:custGeom>
              <a:avLst/>
              <a:gdLst/>
              <a:ahLst/>
              <a:cxnLst/>
              <a:rect l="l" t="t" r="r" b="b"/>
              <a:pathLst>
                <a:path w="2766911" h="472384">
                  <a:moveTo>
                    <a:pt x="22710" y="0"/>
                  </a:moveTo>
                  <a:lnTo>
                    <a:pt x="2744201" y="0"/>
                  </a:lnTo>
                  <a:cubicBezTo>
                    <a:pt x="2756743" y="0"/>
                    <a:pt x="2766911" y="10168"/>
                    <a:pt x="2766911" y="22710"/>
                  </a:cubicBezTo>
                  <a:lnTo>
                    <a:pt x="2766911" y="449674"/>
                  </a:lnTo>
                  <a:cubicBezTo>
                    <a:pt x="2766911" y="462216"/>
                    <a:pt x="2756743" y="472384"/>
                    <a:pt x="2744201" y="472384"/>
                  </a:cubicBezTo>
                  <a:lnTo>
                    <a:pt x="22710" y="472384"/>
                  </a:lnTo>
                  <a:cubicBezTo>
                    <a:pt x="10168" y="472384"/>
                    <a:pt x="0" y="462216"/>
                    <a:pt x="0" y="449674"/>
                  </a:cubicBezTo>
                  <a:lnTo>
                    <a:pt x="0" y="22710"/>
                  </a:lnTo>
                  <a:cubicBezTo>
                    <a:pt x="0" y="10168"/>
                    <a:pt x="10168" y="0"/>
                    <a:pt x="22710" y="0"/>
                  </a:cubicBezTo>
                  <a:close/>
                </a:path>
              </a:pathLst>
            </a:custGeom>
            <a:solidFill>
              <a:srgbClr val="F0F0F0"/>
            </a:solidFill>
            <a:ln w="12700">
              <a:solidFill>
                <a:srgbClr val="000000"/>
              </a:solidFill>
            </a:ln>
          </p:spPr>
          <p:txBody>
            <a:bodyPr/>
            <a:lstStyle/>
            <a:p>
              <a:endParaRPr lang="en-US">
                <a:latin typeface="Segoe UI" panose="020B0502040204020203" pitchFamily="34" charset="0"/>
                <a:cs typeface="Segoe UI" panose="020B0502040204020203" pitchFamily="34" charset="0"/>
              </a:endParaRPr>
            </a:p>
          </p:txBody>
        </p:sp>
      </p:grpSp>
      <p:sp>
        <p:nvSpPr>
          <p:cNvPr id="5" name="Freeform 5"/>
          <p:cNvSpPr/>
          <p:nvPr/>
        </p:nvSpPr>
        <p:spPr>
          <a:xfrm>
            <a:off x="1028700" y="1028700"/>
            <a:ext cx="764652" cy="790499"/>
          </a:xfrm>
          <a:custGeom>
            <a:avLst/>
            <a:gdLst/>
            <a:ahLst/>
            <a:cxnLst/>
            <a:rect l="l" t="t" r="r" b="b"/>
            <a:pathLst>
              <a:path w="764652" h="790499">
                <a:moveTo>
                  <a:pt x="0" y="0"/>
                </a:moveTo>
                <a:lnTo>
                  <a:pt x="764652" y="0"/>
                </a:lnTo>
                <a:lnTo>
                  <a:pt x="764652" y="790499"/>
                </a:lnTo>
                <a:lnTo>
                  <a:pt x="0" y="79049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latin typeface="Segoe UI" panose="020B0502040204020203" pitchFamily="34" charset="0"/>
              <a:cs typeface="Segoe UI" panose="020B0502040204020203" pitchFamily="34" charset="0"/>
            </a:endParaRPr>
          </a:p>
        </p:txBody>
      </p:sp>
      <p:sp>
        <p:nvSpPr>
          <p:cNvPr id="6" name="Freeform 6"/>
          <p:cNvSpPr/>
          <p:nvPr/>
        </p:nvSpPr>
        <p:spPr>
          <a:xfrm>
            <a:off x="15831166" y="3378656"/>
            <a:ext cx="1428134" cy="1476409"/>
          </a:xfrm>
          <a:custGeom>
            <a:avLst/>
            <a:gdLst/>
            <a:ahLst/>
            <a:cxnLst/>
            <a:rect l="l" t="t" r="r" b="b"/>
            <a:pathLst>
              <a:path w="1428134" h="1476409">
                <a:moveTo>
                  <a:pt x="0" y="0"/>
                </a:moveTo>
                <a:lnTo>
                  <a:pt x="1428134" y="0"/>
                </a:lnTo>
                <a:lnTo>
                  <a:pt x="1428134" y="1476410"/>
                </a:lnTo>
                <a:lnTo>
                  <a:pt x="0" y="147641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latin typeface="Segoe UI" panose="020B0502040204020203" pitchFamily="34" charset="0"/>
              <a:cs typeface="Segoe UI" panose="020B0502040204020203" pitchFamily="34" charset="0"/>
            </a:endParaRPr>
          </a:p>
        </p:txBody>
      </p:sp>
      <p:sp>
        <p:nvSpPr>
          <p:cNvPr id="7" name="TextBox 7"/>
          <p:cNvSpPr txBox="1"/>
          <p:nvPr/>
        </p:nvSpPr>
        <p:spPr>
          <a:xfrm>
            <a:off x="1028700" y="3461541"/>
            <a:ext cx="14318434" cy="1455655"/>
          </a:xfrm>
          <a:prstGeom prst="rect">
            <a:avLst/>
          </a:prstGeom>
        </p:spPr>
        <p:txBody>
          <a:bodyPr lIns="0" tIns="0" rIns="0" bIns="0" rtlCol="0" anchor="t">
            <a:spAutoFit/>
          </a:bodyPr>
          <a:lstStyle/>
          <a:p>
            <a:pPr algn="just" rtl="1">
              <a:lnSpc>
                <a:spcPts val="3872"/>
              </a:lnSpc>
            </a:pPr>
            <a:r>
              <a:rPr lang="ar-EG" sz="2766">
                <a:solidFill>
                  <a:srgbClr val="212121"/>
                </a:solidFill>
                <a:latin typeface="Segoe UI" panose="020B0502040204020203" pitchFamily="34" charset="0"/>
                <a:ea typeface="Playfair Display"/>
                <a:cs typeface="Segoe UI" panose="020B0502040204020203" pitchFamily="34" charset="0"/>
                <a:sym typeface="Playfair Display"/>
                <a:rtl/>
              </a:rPr>
              <a:t>وجدت قيم </a:t>
            </a:r>
            <a:r>
              <a:rPr lang="en-US" sz="2766" dirty="0">
                <a:solidFill>
                  <a:srgbClr val="212121"/>
                </a:solidFill>
                <a:latin typeface="Segoe UI" panose="020B0502040204020203" pitchFamily="34" charset="0"/>
                <a:ea typeface="Playfair Display"/>
                <a:cs typeface="Segoe UI" panose="020B0502040204020203" pitchFamily="34" charset="0"/>
                <a:sym typeface="Playfair Display"/>
              </a:rPr>
              <a:t>Null</a:t>
            </a:r>
            <a:r>
              <a:rPr lang="ar-EG" sz="2766" dirty="0">
                <a:solidFill>
                  <a:srgbClr val="212121"/>
                </a:solidFill>
                <a:latin typeface="Segoe UI" panose="020B0502040204020203" pitchFamily="34" charset="0"/>
                <a:ea typeface="Playfair Display"/>
                <a:cs typeface="Segoe UI" panose="020B0502040204020203" pitchFamily="34" charset="0"/>
                <a:sym typeface="Playfair Display"/>
                <a:rtl/>
              </a:rPr>
              <a:t> في بعض السنوات، وبعد الرجوع لـ </a:t>
            </a:r>
            <a:r>
              <a:rPr lang="en-US" sz="2766" dirty="0">
                <a:solidFill>
                  <a:srgbClr val="212121"/>
                </a:solidFill>
                <a:latin typeface="Segoe UI" panose="020B0502040204020203" pitchFamily="34" charset="0"/>
                <a:ea typeface="Playfair Display"/>
                <a:cs typeface="Segoe UI" panose="020B0502040204020203" pitchFamily="34" charset="0"/>
                <a:sym typeface="Playfair Display"/>
              </a:rPr>
              <a:t>CAPMAS</a:t>
            </a:r>
            <a:r>
              <a:rPr lang="ar-EG" sz="2766" dirty="0">
                <a:solidFill>
                  <a:srgbClr val="212121"/>
                </a:solidFill>
                <a:latin typeface="Segoe UI" panose="020B0502040204020203" pitchFamily="34" charset="0"/>
                <a:ea typeface="Playfair Display"/>
                <a:cs typeface="Segoe UI" panose="020B0502040204020203" pitchFamily="34" charset="0"/>
                <a:sym typeface="Playfair Display"/>
                <a:rtl/>
              </a:rPr>
              <a:t> تبيّن أن البيانات لم تُرصَد في تلك الفترة، وليست مفقودة بقصور تقني.</a:t>
            </a:r>
          </a:p>
          <a:p>
            <a:pPr algn="just" rtl="1">
              <a:lnSpc>
                <a:spcPts val="3872"/>
              </a:lnSpc>
              <a:spcBef>
                <a:spcPct val="0"/>
              </a:spcBef>
            </a:pPr>
            <a:r>
              <a:rPr lang="ar-EG" sz="2766" dirty="0">
                <a:solidFill>
                  <a:srgbClr val="212121"/>
                </a:solidFill>
                <a:latin typeface="Segoe UI" panose="020B0502040204020203" pitchFamily="34" charset="0"/>
                <a:ea typeface="Playfair Display"/>
                <a:cs typeface="Segoe UI" panose="020B0502040204020203" pitchFamily="34" charset="0"/>
                <a:sym typeface="Playfair Display"/>
                <a:rtl/>
              </a:rPr>
              <a:t> بناءً عليه تم استبدالها بصفر لأنها تعبر عن عدم وجود رصد وليس بيانات مجهولة.</a:t>
            </a:r>
          </a:p>
        </p:txBody>
      </p:sp>
      <p:sp>
        <p:nvSpPr>
          <p:cNvPr id="8" name="TextBox 8"/>
          <p:cNvSpPr txBox="1"/>
          <p:nvPr/>
        </p:nvSpPr>
        <p:spPr>
          <a:xfrm>
            <a:off x="13635474" y="1000125"/>
            <a:ext cx="3623826" cy="330200"/>
          </a:xfrm>
          <a:prstGeom prst="rect">
            <a:avLst/>
          </a:prstGeom>
        </p:spPr>
        <p:txBody>
          <a:bodyPr lIns="0" tIns="0" rIns="0" bIns="0" rtlCol="0" anchor="t">
            <a:spAutoFit/>
          </a:bodyPr>
          <a:lstStyle/>
          <a:p>
            <a:pPr algn="r" rtl="1">
              <a:lnSpc>
                <a:spcPts val="2799"/>
              </a:lnSpc>
              <a:spcBef>
                <a:spcPct val="0"/>
              </a:spcBef>
            </a:pPr>
            <a:r>
              <a:rPr lang="ar-EG" sz="1999" b="1" dirty="0">
                <a:solidFill>
                  <a:srgbClr val="F0F0F0"/>
                </a:solidFill>
                <a:latin typeface="Segoe UI" panose="020B0502040204020203" pitchFamily="34" charset="0"/>
                <a:ea typeface="Playfair Display Bold"/>
                <a:cs typeface="Segoe UI" panose="020B0502040204020203" pitchFamily="34" charset="0"/>
                <a:sym typeface="Playfair Display Bold"/>
                <a:rtl/>
              </a:rPr>
              <a:t>صفحة  </a:t>
            </a:r>
            <a:r>
              <a:rPr lang="en-US" sz="1999" b="1" dirty="0">
                <a:solidFill>
                  <a:srgbClr val="F0F0F0"/>
                </a:solidFill>
                <a:latin typeface="Segoe UI" panose="020B0502040204020203" pitchFamily="34" charset="0"/>
                <a:ea typeface="Playfair Display Bold"/>
                <a:cs typeface="Segoe UI" panose="020B0502040204020203" pitchFamily="34" charset="0"/>
                <a:sym typeface="Playfair Display Bold"/>
              </a:rPr>
              <a:t>9</a:t>
            </a:r>
          </a:p>
        </p:txBody>
      </p:sp>
      <p:sp>
        <p:nvSpPr>
          <p:cNvPr id="9" name="TextBox 9"/>
          <p:cNvSpPr txBox="1"/>
          <p:nvPr/>
        </p:nvSpPr>
        <p:spPr>
          <a:xfrm>
            <a:off x="6225971" y="1650993"/>
            <a:ext cx="11033329" cy="974933"/>
          </a:xfrm>
          <a:prstGeom prst="rect">
            <a:avLst/>
          </a:prstGeom>
        </p:spPr>
        <p:txBody>
          <a:bodyPr lIns="0" tIns="0" rIns="0" bIns="0" rtlCol="0" anchor="t">
            <a:spAutoFit/>
          </a:bodyPr>
          <a:lstStyle/>
          <a:p>
            <a:pPr marL="0" lvl="1" indent="0" algn="r" rtl="1">
              <a:lnSpc>
                <a:spcPts val="7757"/>
              </a:lnSpc>
            </a:pPr>
            <a:r>
              <a:rPr lang="en-US" sz="6464" b="1" dirty="0">
                <a:solidFill>
                  <a:srgbClr val="F0F0F0"/>
                </a:solidFill>
                <a:latin typeface="Segoe UI" panose="020B0502040204020203" pitchFamily="34" charset="0"/>
                <a:ea typeface="Playfair Display Bold"/>
                <a:cs typeface="Segoe UI" panose="020B0502040204020203" pitchFamily="34" charset="0"/>
                <a:sym typeface="Playfair Display Bold"/>
              </a:rPr>
              <a:t>3</a:t>
            </a:r>
            <a:r>
              <a:rPr lang="ar-EG" sz="6464" b="1" dirty="0">
                <a:solidFill>
                  <a:srgbClr val="F0F0F0"/>
                </a:solidFill>
                <a:latin typeface="Segoe UI" panose="020B0502040204020203" pitchFamily="34" charset="0"/>
                <a:ea typeface="Playfair Display Bold"/>
                <a:cs typeface="Segoe UI" panose="020B0502040204020203" pitchFamily="34" charset="0"/>
                <a:sym typeface="Playfair Display Bold"/>
                <a:rtl/>
              </a:rPr>
              <a:t>- معالجة وتنظيف البيانات  </a:t>
            </a:r>
          </a:p>
        </p:txBody>
      </p:sp>
      <p:grpSp>
        <p:nvGrpSpPr>
          <p:cNvPr id="10" name="Group 10"/>
          <p:cNvGrpSpPr/>
          <p:nvPr/>
        </p:nvGrpSpPr>
        <p:grpSpPr>
          <a:xfrm>
            <a:off x="621464" y="6348260"/>
            <a:ext cx="17045072" cy="2910040"/>
            <a:chOff x="0" y="0"/>
            <a:chExt cx="2766911" cy="472384"/>
          </a:xfrm>
        </p:grpSpPr>
        <p:sp>
          <p:nvSpPr>
            <p:cNvPr id="11" name="Freeform 11"/>
            <p:cNvSpPr/>
            <p:nvPr/>
          </p:nvSpPr>
          <p:spPr>
            <a:xfrm>
              <a:off x="0" y="0"/>
              <a:ext cx="2766911" cy="472384"/>
            </a:xfrm>
            <a:custGeom>
              <a:avLst/>
              <a:gdLst/>
              <a:ahLst/>
              <a:cxnLst/>
              <a:rect l="l" t="t" r="r" b="b"/>
              <a:pathLst>
                <a:path w="2766911" h="472384">
                  <a:moveTo>
                    <a:pt x="22710" y="0"/>
                  </a:moveTo>
                  <a:lnTo>
                    <a:pt x="2744201" y="0"/>
                  </a:lnTo>
                  <a:cubicBezTo>
                    <a:pt x="2756743" y="0"/>
                    <a:pt x="2766911" y="10168"/>
                    <a:pt x="2766911" y="22710"/>
                  </a:cubicBezTo>
                  <a:lnTo>
                    <a:pt x="2766911" y="449674"/>
                  </a:lnTo>
                  <a:cubicBezTo>
                    <a:pt x="2766911" y="462216"/>
                    <a:pt x="2756743" y="472384"/>
                    <a:pt x="2744201" y="472384"/>
                  </a:cubicBezTo>
                  <a:lnTo>
                    <a:pt x="22710" y="472384"/>
                  </a:lnTo>
                  <a:cubicBezTo>
                    <a:pt x="10168" y="472384"/>
                    <a:pt x="0" y="462216"/>
                    <a:pt x="0" y="449674"/>
                  </a:cubicBezTo>
                  <a:lnTo>
                    <a:pt x="0" y="22710"/>
                  </a:lnTo>
                  <a:cubicBezTo>
                    <a:pt x="0" y="10168"/>
                    <a:pt x="10168" y="0"/>
                    <a:pt x="22710" y="0"/>
                  </a:cubicBezTo>
                  <a:close/>
                </a:path>
              </a:pathLst>
            </a:custGeom>
            <a:solidFill>
              <a:srgbClr val="F0F0F0"/>
            </a:solidFill>
            <a:ln w="12700">
              <a:solidFill>
                <a:srgbClr val="000000"/>
              </a:solidFill>
            </a:ln>
          </p:spPr>
          <p:txBody>
            <a:bodyPr/>
            <a:lstStyle/>
            <a:p>
              <a:endParaRPr lang="en-US">
                <a:latin typeface="Segoe UI" panose="020B0502040204020203" pitchFamily="34" charset="0"/>
                <a:cs typeface="Segoe UI" panose="020B0502040204020203" pitchFamily="34" charset="0"/>
              </a:endParaRPr>
            </a:p>
          </p:txBody>
        </p:sp>
      </p:grpSp>
      <p:sp>
        <p:nvSpPr>
          <p:cNvPr id="12" name="Freeform 12"/>
          <p:cNvSpPr/>
          <p:nvPr/>
        </p:nvSpPr>
        <p:spPr>
          <a:xfrm>
            <a:off x="15831166" y="6864451"/>
            <a:ext cx="1428134" cy="1476409"/>
          </a:xfrm>
          <a:custGeom>
            <a:avLst/>
            <a:gdLst/>
            <a:ahLst/>
            <a:cxnLst/>
            <a:rect l="l" t="t" r="r" b="b"/>
            <a:pathLst>
              <a:path w="1428134" h="1476409">
                <a:moveTo>
                  <a:pt x="0" y="0"/>
                </a:moveTo>
                <a:lnTo>
                  <a:pt x="1428134" y="0"/>
                </a:lnTo>
                <a:lnTo>
                  <a:pt x="1428134" y="1476410"/>
                </a:lnTo>
                <a:lnTo>
                  <a:pt x="0" y="147641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latin typeface="Segoe UI" panose="020B0502040204020203" pitchFamily="34" charset="0"/>
              <a:cs typeface="Segoe UI" panose="020B0502040204020203" pitchFamily="34" charset="0"/>
            </a:endParaRPr>
          </a:p>
        </p:txBody>
      </p:sp>
      <p:sp>
        <p:nvSpPr>
          <p:cNvPr id="13" name="TextBox 13"/>
          <p:cNvSpPr txBox="1"/>
          <p:nvPr/>
        </p:nvSpPr>
        <p:spPr>
          <a:xfrm>
            <a:off x="1793352" y="6669285"/>
            <a:ext cx="13553782" cy="2392899"/>
          </a:xfrm>
          <a:prstGeom prst="rect">
            <a:avLst/>
          </a:prstGeom>
        </p:spPr>
        <p:txBody>
          <a:bodyPr lIns="0" tIns="0" rIns="0" bIns="0" rtlCol="0" anchor="t">
            <a:spAutoFit/>
          </a:bodyPr>
          <a:lstStyle/>
          <a:p>
            <a:pPr algn="just" rtl="1">
              <a:lnSpc>
                <a:spcPts val="3769"/>
              </a:lnSpc>
            </a:pPr>
            <a:r>
              <a:rPr lang="ar-EG" sz="2692">
                <a:solidFill>
                  <a:srgbClr val="212121"/>
                </a:solidFill>
                <a:latin typeface="Segoe UI" panose="020B0502040204020203" pitchFamily="34" charset="0"/>
                <a:ea typeface="Playfair Display"/>
                <a:cs typeface="Segoe UI" panose="020B0502040204020203" pitchFamily="34" charset="0"/>
                <a:sym typeface="Playfair Display"/>
                <a:rtl/>
              </a:rPr>
              <a:t>تم اكتشاف قيم شاذة (</a:t>
            </a:r>
            <a:r>
              <a:rPr lang="en-US" sz="2692">
                <a:solidFill>
                  <a:srgbClr val="212121"/>
                </a:solidFill>
                <a:latin typeface="Segoe UI" panose="020B0502040204020203" pitchFamily="34" charset="0"/>
                <a:ea typeface="Playfair Display"/>
                <a:cs typeface="Segoe UI" panose="020B0502040204020203" pitchFamily="34" charset="0"/>
                <a:sym typeface="Playfair Display"/>
              </a:rPr>
              <a:t>Outliers</a:t>
            </a:r>
            <a:r>
              <a:rPr lang="ar-EG" sz="2692">
                <a:solidFill>
                  <a:srgbClr val="212121"/>
                </a:solidFill>
                <a:latin typeface="Segoe UI" panose="020B0502040204020203" pitchFamily="34" charset="0"/>
                <a:ea typeface="Playfair Display"/>
                <a:cs typeface="Segoe UI" panose="020B0502040204020203" pitchFamily="34" charset="0"/>
                <a:sym typeface="Playfair Display"/>
                <a:rtl/>
              </a:rPr>
              <a:t>) لأن بعض الجداول كانت تحتوي على صفوف إجمالية داخل البيانات الأصلية، مما أدى إلى تشويه المتوسطات والمقارنات بين المحافظات.</a:t>
            </a:r>
          </a:p>
          <a:p>
            <a:pPr algn="just" rtl="1">
              <a:lnSpc>
                <a:spcPts val="3769"/>
              </a:lnSpc>
            </a:pPr>
            <a:r>
              <a:rPr lang="ar-EG" sz="2692">
                <a:solidFill>
                  <a:srgbClr val="212121"/>
                </a:solidFill>
                <a:latin typeface="Segoe UI" panose="020B0502040204020203" pitchFamily="34" charset="0"/>
                <a:ea typeface="Playfair Display"/>
                <a:cs typeface="Segoe UI" panose="020B0502040204020203" pitchFamily="34" charset="0"/>
                <a:sym typeface="Playfair Display"/>
                <a:rtl/>
              </a:rPr>
              <a:t>تمت معالجة المشكلة عبر استبعاد صفوف الإجمالي داخل </a:t>
            </a:r>
            <a:r>
              <a:rPr lang="en-US" sz="2692">
                <a:solidFill>
                  <a:srgbClr val="212121"/>
                </a:solidFill>
                <a:latin typeface="Segoe UI" panose="020B0502040204020203" pitchFamily="34" charset="0"/>
                <a:ea typeface="Playfair Display"/>
                <a:cs typeface="Segoe UI" panose="020B0502040204020203" pitchFamily="34" charset="0"/>
                <a:sym typeface="Playfair Display"/>
              </a:rPr>
              <a:t>Power Query</a:t>
            </a:r>
            <a:r>
              <a:rPr lang="ar-EG" sz="2692">
                <a:solidFill>
                  <a:srgbClr val="212121"/>
                </a:solidFill>
                <a:latin typeface="Segoe UI" panose="020B0502040204020203" pitchFamily="34" charset="0"/>
                <a:ea typeface="Playfair Display"/>
                <a:cs typeface="Segoe UI" panose="020B0502040204020203" pitchFamily="34" charset="0"/>
                <a:sym typeface="Playfair Display"/>
                <a:rtl/>
              </a:rPr>
              <a:t>، وإعادة حساب القيم الكلية باستخدام </a:t>
            </a:r>
            <a:r>
              <a:rPr lang="en-US" sz="2692">
                <a:solidFill>
                  <a:srgbClr val="212121"/>
                </a:solidFill>
                <a:latin typeface="Segoe UI" panose="020B0502040204020203" pitchFamily="34" charset="0"/>
                <a:ea typeface="Playfair Display"/>
                <a:cs typeface="Segoe UI" panose="020B0502040204020203" pitchFamily="34" charset="0"/>
                <a:sym typeface="Playfair Display"/>
              </a:rPr>
              <a:t>Measures</a:t>
            </a:r>
            <a:r>
              <a:rPr lang="ar-EG" sz="2692">
                <a:solidFill>
                  <a:srgbClr val="212121"/>
                </a:solidFill>
                <a:latin typeface="Segoe UI" panose="020B0502040204020203" pitchFamily="34" charset="0"/>
                <a:ea typeface="Playfair Display"/>
                <a:cs typeface="Segoe UI" panose="020B0502040204020203" pitchFamily="34" charset="0"/>
                <a:sym typeface="Playfair Display"/>
                <a:rtl/>
              </a:rPr>
              <a:t> داخل </a:t>
            </a:r>
            <a:r>
              <a:rPr lang="en-US" sz="2692">
                <a:solidFill>
                  <a:srgbClr val="212121"/>
                </a:solidFill>
                <a:latin typeface="Segoe UI" panose="020B0502040204020203" pitchFamily="34" charset="0"/>
                <a:ea typeface="Playfair Display"/>
                <a:cs typeface="Segoe UI" panose="020B0502040204020203" pitchFamily="34" charset="0"/>
                <a:sym typeface="Playfair Display"/>
              </a:rPr>
              <a:t>Power BI</a:t>
            </a:r>
            <a:r>
              <a:rPr lang="ar-EG" sz="2692">
                <a:solidFill>
                  <a:srgbClr val="212121"/>
                </a:solidFill>
                <a:latin typeface="Segoe UI" panose="020B0502040204020203" pitchFamily="34" charset="0"/>
                <a:ea typeface="Playfair Display"/>
                <a:cs typeface="Segoe UI" panose="020B0502040204020203" pitchFamily="34" charset="0"/>
                <a:sym typeface="Playfair Display"/>
                <a:rtl/>
              </a:rPr>
              <a:t> لضمان دقة التحليل</a:t>
            </a:r>
          </a:p>
          <a:p>
            <a:pPr algn="just" rtl="1">
              <a:lnSpc>
                <a:spcPts val="3769"/>
              </a:lnSpc>
              <a:spcBef>
                <a:spcPct val="0"/>
              </a:spcBef>
            </a:pPr>
            <a:endParaRPr lang="ar-EG" sz="2692">
              <a:solidFill>
                <a:srgbClr val="212121"/>
              </a:solidFill>
              <a:latin typeface="Segoe UI" panose="020B0502040204020203" pitchFamily="34" charset="0"/>
              <a:ea typeface="Playfair Display"/>
              <a:cs typeface="Segoe UI" panose="020B0502040204020203" pitchFamily="34" charset="0"/>
              <a:sym typeface="Playfair Display"/>
              <a:rt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0F0F0"/>
        </a:solidFill>
        <a:effectLst/>
      </p:bgPr>
    </p:bg>
    <p:spTree>
      <p:nvGrpSpPr>
        <p:cNvPr id="1" name=""/>
        <p:cNvGrpSpPr/>
        <p:nvPr/>
      </p:nvGrpSpPr>
      <p:grpSpPr>
        <a:xfrm>
          <a:off x="0" y="0"/>
          <a:ext cx="0" cy="0"/>
          <a:chOff x="0" y="0"/>
          <a:chExt cx="0" cy="0"/>
        </a:xfrm>
      </p:grpSpPr>
      <p:grpSp>
        <p:nvGrpSpPr>
          <p:cNvPr id="2" name="Group 2"/>
          <p:cNvGrpSpPr/>
          <p:nvPr/>
        </p:nvGrpSpPr>
        <p:grpSpPr>
          <a:xfrm>
            <a:off x="7467421" y="6272209"/>
            <a:ext cx="10132201" cy="1735141"/>
            <a:chOff x="0" y="0"/>
            <a:chExt cx="2668563" cy="456992"/>
          </a:xfrm>
        </p:grpSpPr>
        <p:sp>
          <p:nvSpPr>
            <p:cNvPr id="3" name="Freeform 3"/>
            <p:cNvSpPr/>
            <p:nvPr/>
          </p:nvSpPr>
          <p:spPr>
            <a:xfrm>
              <a:off x="0" y="0"/>
              <a:ext cx="2668563" cy="456992"/>
            </a:xfrm>
            <a:custGeom>
              <a:avLst/>
              <a:gdLst/>
              <a:ahLst/>
              <a:cxnLst/>
              <a:rect l="l" t="t" r="r" b="b"/>
              <a:pathLst>
                <a:path w="2668563" h="456992">
                  <a:moveTo>
                    <a:pt x="30564" y="0"/>
                  </a:moveTo>
                  <a:lnTo>
                    <a:pt x="2637999" y="0"/>
                  </a:lnTo>
                  <a:cubicBezTo>
                    <a:pt x="2646105" y="0"/>
                    <a:pt x="2653879" y="3220"/>
                    <a:pt x="2659611" y="8952"/>
                  </a:cubicBezTo>
                  <a:cubicBezTo>
                    <a:pt x="2665343" y="14684"/>
                    <a:pt x="2668563" y="22458"/>
                    <a:pt x="2668563" y="30564"/>
                  </a:cubicBezTo>
                  <a:lnTo>
                    <a:pt x="2668563" y="426428"/>
                  </a:lnTo>
                  <a:cubicBezTo>
                    <a:pt x="2668563" y="434534"/>
                    <a:pt x="2665343" y="442308"/>
                    <a:pt x="2659611" y="448040"/>
                  </a:cubicBezTo>
                  <a:cubicBezTo>
                    <a:pt x="2653879" y="453772"/>
                    <a:pt x="2646105" y="456992"/>
                    <a:pt x="2637999" y="456992"/>
                  </a:cubicBezTo>
                  <a:lnTo>
                    <a:pt x="30564" y="456992"/>
                  </a:lnTo>
                  <a:cubicBezTo>
                    <a:pt x="22458" y="456992"/>
                    <a:pt x="14684" y="453772"/>
                    <a:pt x="8952" y="448040"/>
                  </a:cubicBezTo>
                  <a:cubicBezTo>
                    <a:pt x="3220" y="442308"/>
                    <a:pt x="0" y="434534"/>
                    <a:pt x="0" y="426428"/>
                  </a:cubicBezTo>
                  <a:lnTo>
                    <a:pt x="0" y="30564"/>
                  </a:lnTo>
                  <a:cubicBezTo>
                    <a:pt x="0" y="22458"/>
                    <a:pt x="3220" y="14684"/>
                    <a:pt x="8952" y="8952"/>
                  </a:cubicBezTo>
                  <a:cubicBezTo>
                    <a:pt x="14684" y="3220"/>
                    <a:pt x="22458" y="0"/>
                    <a:pt x="30564" y="0"/>
                  </a:cubicBezTo>
                  <a:close/>
                </a:path>
              </a:pathLst>
            </a:custGeom>
            <a:solidFill>
              <a:srgbClr val="0031BB"/>
            </a:solidFill>
          </p:spPr>
          <p:txBody>
            <a:bodyPr/>
            <a:lstStyle/>
            <a:p>
              <a:endParaRPr lang="en-US">
                <a:latin typeface="Segoe UI" panose="020B0502040204020203" pitchFamily="34" charset="0"/>
                <a:cs typeface="Segoe UI" panose="020B0502040204020203" pitchFamily="34" charset="0"/>
              </a:endParaRPr>
            </a:p>
          </p:txBody>
        </p:sp>
        <p:sp>
          <p:nvSpPr>
            <p:cNvPr id="4" name="TextBox 4"/>
            <p:cNvSpPr txBox="1"/>
            <p:nvPr/>
          </p:nvSpPr>
          <p:spPr>
            <a:xfrm>
              <a:off x="0" y="-47625"/>
              <a:ext cx="2668563" cy="504617"/>
            </a:xfrm>
            <a:prstGeom prst="rect">
              <a:avLst/>
            </a:prstGeom>
          </p:spPr>
          <p:txBody>
            <a:bodyPr lIns="50800" tIns="50800" rIns="50800" bIns="50800" rtlCol="0" anchor="ctr"/>
            <a:lstStyle/>
            <a:p>
              <a:pPr algn="ctr">
                <a:lnSpc>
                  <a:spcPts val="3359"/>
                </a:lnSpc>
              </a:pPr>
              <a:endParaRPr>
                <a:latin typeface="Segoe UI" panose="020B0502040204020203" pitchFamily="34" charset="0"/>
                <a:cs typeface="Segoe UI" panose="020B0502040204020203" pitchFamily="34" charset="0"/>
              </a:endParaRPr>
            </a:p>
          </p:txBody>
        </p:sp>
      </p:grpSp>
      <p:sp>
        <p:nvSpPr>
          <p:cNvPr id="5" name="Freeform 5"/>
          <p:cNvSpPr/>
          <p:nvPr/>
        </p:nvSpPr>
        <p:spPr>
          <a:xfrm>
            <a:off x="460665" y="2222779"/>
            <a:ext cx="6666434" cy="5784571"/>
          </a:xfrm>
          <a:custGeom>
            <a:avLst/>
            <a:gdLst/>
            <a:ahLst/>
            <a:cxnLst/>
            <a:rect l="l" t="t" r="r" b="b"/>
            <a:pathLst>
              <a:path w="6666434" h="5784571">
                <a:moveTo>
                  <a:pt x="0" y="0"/>
                </a:moveTo>
                <a:lnTo>
                  <a:pt x="6666434" y="0"/>
                </a:lnTo>
                <a:lnTo>
                  <a:pt x="6666434" y="5784571"/>
                </a:lnTo>
                <a:lnTo>
                  <a:pt x="0" y="5784571"/>
                </a:lnTo>
                <a:lnTo>
                  <a:pt x="0" y="0"/>
                </a:lnTo>
                <a:close/>
              </a:path>
            </a:pathLst>
          </a:custGeom>
          <a:blipFill>
            <a:blip r:embed="rId2"/>
            <a:stretch>
              <a:fillRect l="-18365" r="-50701"/>
            </a:stretch>
          </a:blipFill>
        </p:spPr>
        <p:txBody>
          <a:bodyPr/>
          <a:lstStyle/>
          <a:p>
            <a:endParaRPr lang="en-US">
              <a:latin typeface="Segoe UI" panose="020B0502040204020203" pitchFamily="34" charset="0"/>
              <a:cs typeface="Segoe UI" panose="020B0502040204020203" pitchFamily="34" charset="0"/>
            </a:endParaRPr>
          </a:p>
        </p:txBody>
      </p:sp>
      <p:grpSp>
        <p:nvGrpSpPr>
          <p:cNvPr id="6" name="Group 6"/>
          <p:cNvGrpSpPr/>
          <p:nvPr/>
        </p:nvGrpSpPr>
        <p:grpSpPr>
          <a:xfrm>
            <a:off x="7467421" y="3932542"/>
            <a:ext cx="10132201" cy="2038985"/>
            <a:chOff x="0" y="0"/>
            <a:chExt cx="2668563" cy="537017"/>
          </a:xfrm>
        </p:grpSpPr>
        <p:sp>
          <p:nvSpPr>
            <p:cNvPr id="7" name="Freeform 7"/>
            <p:cNvSpPr/>
            <p:nvPr/>
          </p:nvSpPr>
          <p:spPr>
            <a:xfrm>
              <a:off x="0" y="0"/>
              <a:ext cx="2668563" cy="537017"/>
            </a:xfrm>
            <a:custGeom>
              <a:avLst/>
              <a:gdLst/>
              <a:ahLst/>
              <a:cxnLst/>
              <a:rect l="l" t="t" r="r" b="b"/>
              <a:pathLst>
                <a:path w="2668563" h="537017">
                  <a:moveTo>
                    <a:pt x="30564" y="0"/>
                  </a:moveTo>
                  <a:lnTo>
                    <a:pt x="2637999" y="0"/>
                  </a:lnTo>
                  <a:cubicBezTo>
                    <a:pt x="2646105" y="0"/>
                    <a:pt x="2653879" y="3220"/>
                    <a:pt x="2659611" y="8952"/>
                  </a:cubicBezTo>
                  <a:cubicBezTo>
                    <a:pt x="2665343" y="14684"/>
                    <a:pt x="2668563" y="22458"/>
                    <a:pt x="2668563" y="30564"/>
                  </a:cubicBezTo>
                  <a:lnTo>
                    <a:pt x="2668563" y="506453"/>
                  </a:lnTo>
                  <a:cubicBezTo>
                    <a:pt x="2668563" y="514559"/>
                    <a:pt x="2665343" y="522333"/>
                    <a:pt x="2659611" y="528065"/>
                  </a:cubicBezTo>
                  <a:cubicBezTo>
                    <a:pt x="2653879" y="533796"/>
                    <a:pt x="2646105" y="537017"/>
                    <a:pt x="2637999" y="537017"/>
                  </a:cubicBezTo>
                  <a:lnTo>
                    <a:pt x="30564" y="537017"/>
                  </a:lnTo>
                  <a:cubicBezTo>
                    <a:pt x="22458" y="537017"/>
                    <a:pt x="14684" y="533796"/>
                    <a:pt x="8952" y="528065"/>
                  </a:cubicBezTo>
                  <a:cubicBezTo>
                    <a:pt x="3220" y="522333"/>
                    <a:pt x="0" y="514559"/>
                    <a:pt x="0" y="506453"/>
                  </a:cubicBezTo>
                  <a:lnTo>
                    <a:pt x="0" y="30564"/>
                  </a:lnTo>
                  <a:cubicBezTo>
                    <a:pt x="0" y="22458"/>
                    <a:pt x="3220" y="14684"/>
                    <a:pt x="8952" y="8952"/>
                  </a:cubicBezTo>
                  <a:cubicBezTo>
                    <a:pt x="14684" y="3220"/>
                    <a:pt x="22458" y="0"/>
                    <a:pt x="30564" y="0"/>
                  </a:cubicBezTo>
                  <a:close/>
                </a:path>
              </a:pathLst>
            </a:custGeom>
            <a:solidFill>
              <a:srgbClr val="0031BB"/>
            </a:solidFill>
          </p:spPr>
          <p:txBody>
            <a:bodyPr/>
            <a:lstStyle/>
            <a:p>
              <a:endParaRPr lang="en-US">
                <a:latin typeface="Segoe UI" panose="020B0502040204020203" pitchFamily="34" charset="0"/>
                <a:cs typeface="Segoe UI" panose="020B0502040204020203" pitchFamily="34" charset="0"/>
              </a:endParaRPr>
            </a:p>
          </p:txBody>
        </p:sp>
        <p:sp>
          <p:nvSpPr>
            <p:cNvPr id="8" name="TextBox 8"/>
            <p:cNvSpPr txBox="1"/>
            <p:nvPr/>
          </p:nvSpPr>
          <p:spPr>
            <a:xfrm>
              <a:off x="0" y="-47625"/>
              <a:ext cx="2668563" cy="584642"/>
            </a:xfrm>
            <a:prstGeom prst="rect">
              <a:avLst/>
            </a:prstGeom>
          </p:spPr>
          <p:txBody>
            <a:bodyPr lIns="50800" tIns="50800" rIns="50800" bIns="50800" rtlCol="0" anchor="ctr"/>
            <a:lstStyle/>
            <a:p>
              <a:pPr algn="ctr" rtl="1">
                <a:lnSpc>
                  <a:spcPts val="3639"/>
                </a:lnSpc>
              </a:pPr>
              <a:r>
                <a:rPr lang="ar-EG" sz="2599">
                  <a:solidFill>
                    <a:srgbClr val="F0F0F0"/>
                  </a:solidFill>
                  <a:latin typeface="Segoe UI" panose="020B0502040204020203" pitchFamily="34" charset="0"/>
                  <a:ea typeface="Playfair Display"/>
                  <a:cs typeface="Segoe UI" panose="020B0502040204020203" pitchFamily="34" charset="0"/>
                  <a:sym typeface="Playfair Display"/>
                  <a:rtl/>
                </a:rPr>
                <a:t>كمية المياة منهجية حديثة = </a:t>
              </a:r>
              <a:r>
                <a:rPr lang="en-US" sz="2599">
                  <a:solidFill>
                    <a:srgbClr val="F0F0F0"/>
                  </a:solidFill>
                  <a:latin typeface="Segoe UI" panose="020B0502040204020203" pitchFamily="34" charset="0"/>
                  <a:ea typeface="Playfair Display"/>
                  <a:cs typeface="Segoe UI" panose="020B0502040204020203" pitchFamily="34" charset="0"/>
                  <a:sym typeface="Playfair Display"/>
                </a:rPr>
                <a:t>SUM</a:t>
              </a:r>
              <a:r>
                <a:rPr lang="ar-EG" sz="2599">
                  <a:solidFill>
                    <a:srgbClr val="F0F0F0"/>
                  </a:solidFill>
                  <a:latin typeface="Segoe UI" panose="020B0502040204020203" pitchFamily="34" charset="0"/>
                  <a:ea typeface="Playfair Display"/>
                  <a:cs typeface="Segoe UI" panose="020B0502040204020203" pitchFamily="34" charset="0"/>
                  <a:sym typeface="Playfair Display"/>
                  <a:rtl/>
                </a:rPr>
                <a:t>('كمية مياة الصرف الصحي قديمة وجديدة'[</a:t>
              </a:r>
              <a:r>
                <a:rPr lang="en-US" sz="2599">
                  <a:solidFill>
                    <a:srgbClr val="F0F0F0"/>
                  </a:solidFill>
                  <a:latin typeface="Segoe UI" panose="020B0502040204020203" pitchFamily="34" charset="0"/>
                  <a:ea typeface="Playfair Display"/>
                  <a:cs typeface="Segoe UI" panose="020B0502040204020203" pitchFamily="34" charset="0"/>
                  <a:sym typeface="Playfair Display"/>
                </a:rPr>
                <a:t>2020/2021</a:t>
              </a:r>
              <a:r>
                <a:rPr lang="ar-EG" sz="2599">
                  <a:solidFill>
                    <a:srgbClr val="F0F0F0"/>
                  </a:solidFill>
                  <a:latin typeface="Segoe UI" panose="020B0502040204020203" pitchFamily="34" charset="0"/>
                  <a:ea typeface="Playfair Display"/>
                  <a:cs typeface="Segoe UI" panose="020B0502040204020203" pitchFamily="34" charset="0"/>
                  <a:sym typeface="Playfair Display"/>
                  <a:rtl/>
                </a:rPr>
                <a:t>(</a:t>
              </a:r>
              <a:r>
                <a:rPr lang="en-US" sz="2599">
                  <a:solidFill>
                    <a:srgbClr val="F0F0F0"/>
                  </a:solidFill>
                  <a:latin typeface="Segoe UI" panose="020B0502040204020203" pitchFamily="34" charset="0"/>
                  <a:ea typeface="Playfair Display"/>
                  <a:cs typeface="Segoe UI" panose="020B0502040204020203" pitchFamily="34" charset="0"/>
                  <a:sym typeface="Playfair Display"/>
                </a:rPr>
                <a:t>new method</a:t>
              </a:r>
              <a:r>
                <a:rPr lang="ar-EG" sz="2599">
                  <a:solidFill>
                    <a:srgbClr val="F0F0F0"/>
                  </a:solidFill>
                  <a:latin typeface="Segoe UI" panose="020B0502040204020203" pitchFamily="34" charset="0"/>
                  <a:ea typeface="Playfair Display"/>
                  <a:cs typeface="Segoe UI" panose="020B0502040204020203" pitchFamily="34" charset="0"/>
                  <a:sym typeface="Playfair Display"/>
                  <a:rtl/>
                </a:rPr>
                <a:t>)] )+ </a:t>
              </a:r>
              <a:r>
                <a:rPr lang="en-US" sz="2599">
                  <a:solidFill>
                    <a:srgbClr val="F0F0F0"/>
                  </a:solidFill>
                  <a:latin typeface="Segoe UI" panose="020B0502040204020203" pitchFamily="34" charset="0"/>
                  <a:ea typeface="Playfair Display"/>
                  <a:cs typeface="Segoe UI" panose="020B0502040204020203" pitchFamily="34" charset="0"/>
                  <a:sym typeface="Playfair Display"/>
                </a:rPr>
                <a:t>SUM</a:t>
              </a:r>
              <a:r>
                <a:rPr lang="ar-EG" sz="2599">
                  <a:solidFill>
                    <a:srgbClr val="F0F0F0"/>
                  </a:solidFill>
                  <a:latin typeface="Segoe UI" panose="020B0502040204020203" pitchFamily="34" charset="0"/>
                  <a:ea typeface="Playfair Display"/>
                  <a:cs typeface="Segoe UI" panose="020B0502040204020203" pitchFamily="34" charset="0"/>
                  <a:sym typeface="Playfair Display"/>
                  <a:rtl/>
                </a:rPr>
                <a:t>('كمية مياة الصرف الصحي قديمة وجديدة'[</a:t>
              </a:r>
              <a:r>
                <a:rPr lang="en-US" sz="2599">
                  <a:solidFill>
                    <a:srgbClr val="F0F0F0"/>
                  </a:solidFill>
                  <a:latin typeface="Segoe UI" panose="020B0502040204020203" pitchFamily="34" charset="0"/>
                  <a:ea typeface="Playfair Display"/>
                  <a:cs typeface="Segoe UI" panose="020B0502040204020203" pitchFamily="34" charset="0"/>
                  <a:sym typeface="Playfair Display"/>
                </a:rPr>
                <a:t>2021/2022</a:t>
              </a:r>
              <a:r>
                <a:rPr lang="ar-EG" sz="2599">
                  <a:solidFill>
                    <a:srgbClr val="F0F0F0"/>
                  </a:solidFill>
                  <a:latin typeface="Segoe UI" panose="020B0502040204020203" pitchFamily="34" charset="0"/>
                  <a:ea typeface="Playfair Display"/>
                  <a:cs typeface="Segoe UI" panose="020B0502040204020203" pitchFamily="34" charset="0"/>
                  <a:sym typeface="Playfair Display"/>
                  <a:rtl/>
                </a:rPr>
                <a:t>(</a:t>
              </a:r>
              <a:r>
                <a:rPr lang="en-US" sz="2599">
                  <a:solidFill>
                    <a:srgbClr val="F0F0F0"/>
                  </a:solidFill>
                  <a:latin typeface="Segoe UI" panose="020B0502040204020203" pitchFamily="34" charset="0"/>
                  <a:ea typeface="Playfair Display"/>
                  <a:cs typeface="Segoe UI" panose="020B0502040204020203" pitchFamily="34" charset="0"/>
                  <a:sym typeface="Playfair Display"/>
                </a:rPr>
                <a:t>new method</a:t>
              </a:r>
              <a:r>
                <a:rPr lang="ar-EG" sz="2599">
                  <a:solidFill>
                    <a:srgbClr val="F0F0F0"/>
                  </a:solidFill>
                  <a:latin typeface="Segoe UI" panose="020B0502040204020203" pitchFamily="34" charset="0"/>
                  <a:ea typeface="Playfair Display"/>
                  <a:cs typeface="Segoe UI" panose="020B0502040204020203" pitchFamily="34" charset="0"/>
                  <a:sym typeface="Playfair Display"/>
                  <a:rtl/>
                </a:rPr>
                <a:t>)])</a:t>
              </a:r>
            </a:p>
            <a:p>
              <a:pPr algn="ctr">
                <a:lnSpc>
                  <a:spcPts val="3359"/>
                </a:lnSpc>
              </a:pPr>
              <a:endParaRPr lang="ar-EG" sz="2599">
                <a:solidFill>
                  <a:srgbClr val="F0F0F0"/>
                </a:solidFill>
                <a:latin typeface="Segoe UI" panose="020B0502040204020203" pitchFamily="34" charset="0"/>
                <a:ea typeface="Playfair Display"/>
                <a:cs typeface="Segoe UI" panose="020B0502040204020203" pitchFamily="34" charset="0"/>
                <a:sym typeface="Playfair Display"/>
                <a:rtl/>
              </a:endParaRPr>
            </a:p>
          </p:txBody>
        </p:sp>
      </p:grpSp>
      <p:sp>
        <p:nvSpPr>
          <p:cNvPr id="9" name="TextBox 9"/>
          <p:cNvSpPr txBox="1"/>
          <p:nvPr/>
        </p:nvSpPr>
        <p:spPr>
          <a:xfrm>
            <a:off x="4512736" y="500025"/>
            <a:ext cx="9122738" cy="865622"/>
          </a:xfrm>
          <a:prstGeom prst="rect">
            <a:avLst/>
          </a:prstGeom>
        </p:spPr>
        <p:txBody>
          <a:bodyPr lIns="0" tIns="0" rIns="0" bIns="0" rtlCol="0" anchor="t">
            <a:spAutoFit/>
          </a:bodyPr>
          <a:lstStyle/>
          <a:p>
            <a:pPr algn="ctr" rtl="1">
              <a:lnSpc>
                <a:spcPts val="7420"/>
              </a:lnSpc>
              <a:spcBef>
                <a:spcPct val="0"/>
              </a:spcBef>
            </a:pPr>
            <a:r>
              <a:rPr lang="ar-EG" sz="5300" b="1">
                <a:solidFill>
                  <a:srgbClr val="0031BB"/>
                </a:solidFill>
                <a:latin typeface="Segoe UI" panose="020B0502040204020203" pitchFamily="34" charset="0"/>
                <a:ea typeface="Playfair Display Bold"/>
                <a:cs typeface="Segoe UI" panose="020B0502040204020203" pitchFamily="34" charset="0"/>
                <a:sym typeface="Playfair Display Bold"/>
                <a:rtl/>
              </a:rPr>
              <a:t>ال </a:t>
            </a:r>
            <a:r>
              <a:rPr lang="en-US" sz="5300" b="1">
                <a:solidFill>
                  <a:srgbClr val="0031BB"/>
                </a:solidFill>
                <a:latin typeface="Segoe UI" panose="020B0502040204020203" pitchFamily="34" charset="0"/>
                <a:ea typeface="Playfair Display Bold"/>
                <a:cs typeface="Segoe UI" panose="020B0502040204020203" pitchFamily="34" charset="0"/>
                <a:sym typeface="Playfair Display Bold"/>
              </a:rPr>
              <a:t>dax</a:t>
            </a:r>
            <a:r>
              <a:rPr lang="ar-EG" sz="5300" b="1">
                <a:solidFill>
                  <a:srgbClr val="0031BB"/>
                </a:solidFill>
                <a:latin typeface="Segoe UI" panose="020B0502040204020203" pitchFamily="34" charset="0"/>
                <a:ea typeface="Playfair Display Bold"/>
                <a:cs typeface="Segoe UI" panose="020B0502040204020203" pitchFamily="34" charset="0"/>
                <a:sym typeface="Playfair Display Bold"/>
                <a:rtl/>
              </a:rPr>
              <a:t> المستخدمة </a:t>
            </a:r>
          </a:p>
        </p:txBody>
      </p:sp>
      <p:sp>
        <p:nvSpPr>
          <p:cNvPr id="10" name="TextBox 10"/>
          <p:cNvSpPr txBox="1"/>
          <p:nvPr/>
        </p:nvSpPr>
        <p:spPr>
          <a:xfrm>
            <a:off x="8319938" y="6654165"/>
            <a:ext cx="7907769" cy="1353185"/>
          </a:xfrm>
          <a:prstGeom prst="rect">
            <a:avLst/>
          </a:prstGeom>
        </p:spPr>
        <p:txBody>
          <a:bodyPr lIns="0" tIns="0" rIns="0" bIns="0" rtlCol="0" anchor="t">
            <a:spAutoFit/>
          </a:bodyPr>
          <a:lstStyle/>
          <a:p>
            <a:pPr algn="ctr" rtl="1">
              <a:lnSpc>
                <a:spcPts val="3639"/>
              </a:lnSpc>
              <a:spcBef>
                <a:spcPct val="0"/>
              </a:spcBef>
            </a:pPr>
            <a:r>
              <a:rPr lang="en-US" sz="2599">
                <a:solidFill>
                  <a:srgbClr val="F0F0F0"/>
                </a:solidFill>
                <a:latin typeface="Segoe UI" panose="020B0502040204020203" pitchFamily="34" charset="0"/>
                <a:ea typeface="Playfair Display"/>
                <a:cs typeface="Segoe UI" panose="020B0502040204020203" pitchFamily="34" charset="0"/>
                <a:sym typeface="Playfair Display"/>
              </a:rPr>
              <a:t>SUM</a:t>
            </a:r>
            <a:r>
              <a:rPr lang="ar-EG" sz="2599">
                <a:solidFill>
                  <a:srgbClr val="F0F0F0"/>
                </a:solidFill>
                <a:latin typeface="Segoe UI" panose="020B0502040204020203" pitchFamily="34" charset="0"/>
                <a:ea typeface="Playfair Display"/>
                <a:cs typeface="Segoe UI" panose="020B0502040204020203" pitchFamily="34" charset="0"/>
                <a:sym typeface="Playfair Display"/>
                <a:rtl/>
              </a:rPr>
              <a:t>('إجمالي كمية مياه الصرف الزراعى المعاد أستخدامها على مستوى الأقاليم (</a:t>
            </a:r>
            <a:r>
              <a:rPr lang="en-US" sz="2599">
                <a:solidFill>
                  <a:srgbClr val="F0F0F0"/>
                </a:solidFill>
                <a:latin typeface="Segoe UI" panose="020B0502040204020203" pitchFamily="34" charset="0"/>
                <a:ea typeface="Playfair Display"/>
                <a:cs typeface="Segoe UI" panose="020B0502040204020203" pitchFamily="34" charset="0"/>
                <a:sym typeface="Playfair Display"/>
              </a:rPr>
              <a:t>tablexls</a:t>
            </a:r>
            <a:r>
              <a:rPr lang="ar-EG" sz="2599">
                <a:solidFill>
                  <a:srgbClr val="F0F0F0"/>
                </a:solidFill>
                <a:latin typeface="Segoe UI" panose="020B0502040204020203" pitchFamily="34" charset="0"/>
                <a:ea typeface="Playfair Display"/>
                <a:cs typeface="Segoe UI" panose="020B0502040204020203" pitchFamily="34" charset="0"/>
                <a:sym typeface="Playfair Display"/>
                <a:rtl/>
              </a:rPr>
              <a:t>)'[</a:t>
            </a:r>
            <a:r>
              <a:rPr lang="en-US" sz="2599">
                <a:solidFill>
                  <a:srgbClr val="F0F0F0"/>
                </a:solidFill>
                <a:latin typeface="Segoe UI" panose="020B0502040204020203" pitchFamily="34" charset="0"/>
                <a:ea typeface="Playfair Display"/>
                <a:cs typeface="Segoe UI" panose="020B0502040204020203" pitchFamily="34" charset="0"/>
                <a:sym typeface="Playfair Display"/>
              </a:rPr>
              <a:t>2019/2020</a:t>
            </a:r>
            <a:r>
              <a:rPr lang="ar-EG" sz="2599">
                <a:solidFill>
                  <a:srgbClr val="F0F0F0"/>
                </a:solidFill>
                <a:latin typeface="Segoe UI" panose="020B0502040204020203" pitchFamily="34" charset="0"/>
                <a:ea typeface="Playfair Display"/>
                <a:cs typeface="Segoe UI" panose="020B0502040204020203" pitchFamily="34" charset="0"/>
                <a:sym typeface="Playfair Display"/>
                <a:rtl/>
              </a:rPr>
              <a:t>]) </a:t>
            </a:r>
          </a:p>
          <a:p>
            <a:pPr algn="ctr" rtl="1">
              <a:lnSpc>
                <a:spcPts val="3639"/>
              </a:lnSpc>
              <a:spcBef>
                <a:spcPct val="0"/>
              </a:spcBef>
            </a:pPr>
            <a:endParaRPr lang="ar-EG" sz="2599">
              <a:solidFill>
                <a:srgbClr val="F0F0F0"/>
              </a:solidFill>
              <a:latin typeface="Segoe UI" panose="020B0502040204020203" pitchFamily="34" charset="0"/>
              <a:ea typeface="Playfair Display"/>
              <a:cs typeface="Segoe UI" panose="020B0502040204020203" pitchFamily="34" charset="0"/>
              <a:sym typeface="Playfair Display"/>
              <a:rtl/>
            </a:endParaRPr>
          </a:p>
        </p:txBody>
      </p:sp>
      <p:sp>
        <p:nvSpPr>
          <p:cNvPr id="11" name="Freeform 11"/>
          <p:cNvSpPr/>
          <p:nvPr/>
        </p:nvSpPr>
        <p:spPr>
          <a:xfrm>
            <a:off x="1028700" y="1028700"/>
            <a:ext cx="764652" cy="790499"/>
          </a:xfrm>
          <a:custGeom>
            <a:avLst/>
            <a:gdLst/>
            <a:ahLst/>
            <a:cxnLst/>
            <a:rect l="l" t="t" r="r" b="b"/>
            <a:pathLst>
              <a:path w="764652" h="790499">
                <a:moveTo>
                  <a:pt x="0" y="0"/>
                </a:moveTo>
                <a:lnTo>
                  <a:pt x="764652" y="0"/>
                </a:lnTo>
                <a:lnTo>
                  <a:pt x="764652" y="790499"/>
                </a:lnTo>
                <a:lnTo>
                  <a:pt x="0" y="79049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latin typeface="Segoe UI" panose="020B0502040204020203" pitchFamily="34" charset="0"/>
              <a:cs typeface="Segoe UI" panose="020B0502040204020203" pitchFamily="34" charset="0"/>
            </a:endParaRPr>
          </a:p>
        </p:txBody>
      </p:sp>
      <p:sp>
        <p:nvSpPr>
          <p:cNvPr id="12" name="TextBox 12"/>
          <p:cNvSpPr txBox="1"/>
          <p:nvPr/>
        </p:nvSpPr>
        <p:spPr>
          <a:xfrm>
            <a:off x="13635474" y="1000125"/>
            <a:ext cx="3623826" cy="330200"/>
          </a:xfrm>
          <a:prstGeom prst="rect">
            <a:avLst/>
          </a:prstGeom>
        </p:spPr>
        <p:txBody>
          <a:bodyPr lIns="0" tIns="0" rIns="0" bIns="0" rtlCol="0" anchor="t">
            <a:spAutoFit/>
          </a:bodyPr>
          <a:lstStyle/>
          <a:p>
            <a:pPr algn="r" rtl="1">
              <a:lnSpc>
                <a:spcPts val="2799"/>
              </a:lnSpc>
              <a:spcBef>
                <a:spcPct val="0"/>
              </a:spcBef>
            </a:pPr>
            <a:r>
              <a:rPr lang="ar-EG" sz="1999" b="1">
                <a:solidFill>
                  <a:srgbClr val="0031BB"/>
                </a:solidFill>
                <a:latin typeface="Segoe UI" panose="020B0502040204020203" pitchFamily="34" charset="0"/>
                <a:ea typeface="Playfair Display Bold"/>
                <a:cs typeface="Segoe UI" panose="020B0502040204020203" pitchFamily="34" charset="0"/>
                <a:sym typeface="Playfair Display Bold"/>
                <a:rtl/>
              </a:rPr>
              <a:t>صفحة  </a:t>
            </a:r>
            <a:r>
              <a:rPr lang="en-US" sz="1999" b="1">
                <a:solidFill>
                  <a:srgbClr val="0031BB"/>
                </a:solidFill>
                <a:latin typeface="Segoe UI" panose="020B0502040204020203" pitchFamily="34" charset="0"/>
                <a:ea typeface="Playfair Display Bold"/>
                <a:cs typeface="Segoe UI" panose="020B0502040204020203" pitchFamily="34" charset="0"/>
                <a:sym typeface="Playfair Display Bold"/>
              </a:rPr>
              <a:t>10</a:t>
            </a:r>
          </a:p>
        </p:txBody>
      </p:sp>
      <p:grpSp>
        <p:nvGrpSpPr>
          <p:cNvPr id="13" name="Group 13"/>
          <p:cNvGrpSpPr/>
          <p:nvPr/>
        </p:nvGrpSpPr>
        <p:grpSpPr>
          <a:xfrm>
            <a:off x="7467421" y="1819199"/>
            <a:ext cx="10132201" cy="1694243"/>
            <a:chOff x="0" y="0"/>
            <a:chExt cx="2668563" cy="446220"/>
          </a:xfrm>
        </p:grpSpPr>
        <p:sp>
          <p:nvSpPr>
            <p:cNvPr id="14" name="Freeform 14"/>
            <p:cNvSpPr/>
            <p:nvPr/>
          </p:nvSpPr>
          <p:spPr>
            <a:xfrm>
              <a:off x="0" y="0"/>
              <a:ext cx="2668563" cy="446220"/>
            </a:xfrm>
            <a:custGeom>
              <a:avLst/>
              <a:gdLst/>
              <a:ahLst/>
              <a:cxnLst/>
              <a:rect l="l" t="t" r="r" b="b"/>
              <a:pathLst>
                <a:path w="2668563" h="446220">
                  <a:moveTo>
                    <a:pt x="30564" y="0"/>
                  </a:moveTo>
                  <a:lnTo>
                    <a:pt x="2637999" y="0"/>
                  </a:lnTo>
                  <a:cubicBezTo>
                    <a:pt x="2646105" y="0"/>
                    <a:pt x="2653879" y="3220"/>
                    <a:pt x="2659611" y="8952"/>
                  </a:cubicBezTo>
                  <a:cubicBezTo>
                    <a:pt x="2665343" y="14684"/>
                    <a:pt x="2668563" y="22458"/>
                    <a:pt x="2668563" y="30564"/>
                  </a:cubicBezTo>
                  <a:lnTo>
                    <a:pt x="2668563" y="415657"/>
                  </a:lnTo>
                  <a:cubicBezTo>
                    <a:pt x="2668563" y="423763"/>
                    <a:pt x="2665343" y="431537"/>
                    <a:pt x="2659611" y="437268"/>
                  </a:cubicBezTo>
                  <a:cubicBezTo>
                    <a:pt x="2653879" y="443000"/>
                    <a:pt x="2646105" y="446220"/>
                    <a:pt x="2637999" y="446220"/>
                  </a:cubicBezTo>
                  <a:lnTo>
                    <a:pt x="30564" y="446220"/>
                  </a:lnTo>
                  <a:cubicBezTo>
                    <a:pt x="22458" y="446220"/>
                    <a:pt x="14684" y="443000"/>
                    <a:pt x="8952" y="437268"/>
                  </a:cubicBezTo>
                  <a:cubicBezTo>
                    <a:pt x="3220" y="431537"/>
                    <a:pt x="0" y="423763"/>
                    <a:pt x="0" y="415657"/>
                  </a:cubicBezTo>
                  <a:lnTo>
                    <a:pt x="0" y="30564"/>
                  </a:lnTo>
                  <a:cubicBezTo>
                    <a:pt x="0" y="22458"/>
                    <a:pt x="3220" y="14684"/>
                    <a:pt x="8952" y="8952"/>
                  </a:cubicBezTo>
                  <a:cubicBezTo>
                    <a:pt x="14684" y="3220"/>
                    <a:pt x="22458" y="0"/>
                    <a:pt x="30564" y="0"/>
                  </a:cubicBezTo>
                  <a:close/>
                </a:path>
              </a:pathLst>
            </a:custGeom>
            <a:solidFill>
              <a:srgbClr val="0031BB"/>
            </a:solidFill>
          </p:spPr>
          <p:txBody>
            <a:bodyPr/>
            <a:lstStyle/>
            <a:p>
              <a:endParaRPr lang="en-US">
                <a:latin typeface="Segoe UI" panose="020B0502040204020203" pitchFamily="34" charset="0"/>
                <a:cs typeface="Segoe UI" panose="020B0502040204020203" pitchFamily="34" charset="0"/>
              </a:endParaRPr>
            </a:p>
          </p:txBody>
        </p:sp>
        <p:sp>
          <p:nvSpPr>
            <p:cNvPr id="15" name="TextBox 15"/>
            <p:cNvSpPr txBox="1"/>
            <p:nvPr/>
          </p:nvSpPr>
          <p:spPr>
            <a:xfrm>
              <a:off x="0" y="-47625"/>
              <a:ext cx="2668563" cy="493845"/>
            </a:xfrm>
            <a:prstGeom prst="rect">
              <a:avLst/>
            </a:prstGeom>
          </p:spPr>
          <p:txBody>
            <a:bodyPr lIns="50800" tIns="50800" rIns="50800" bIns="50800" rtlCol="0" anchor="ctr"/>
            <a:lstStyle/>
            <a:p>
              <a:pPr algn="ctr" rtl="1">
                <a:lnSpc>
                  <a:spcPts val="3639"/>
                </a:lnSpc>
              </a:pPr>
              <a:r>
                <a:rPr lang="ar-EG" sz="2599">
                  <a:solidFill>
                    <a:srgbClr val="F0F0F0"/>
                  </a:solidFill>
                  <a:latin typeface="Segoe UI" panose="020B0502040204020203" pitchFamily="34" charset="0"/>
                  <a:ea typeface="Playfair Display"/>
                  <a:cs typeface="Segoe UI" panose="020B0502040204020203" pitchFamily="34" charset="0"/>
                  <a:sym typeface="Playfair Display"/>
                  <a:rtl/>
                </a:rPr>
                <a:t>فرق_المنهجية = [كمية المياة منهجية حديثة] - [كمية المياة منهجية قديمة]</a:t>
              </a:r>
            </a:p>
            <a:p>
              <a:pPr algn="ctr">
                <a:lnSpc>
                  <a:spcPts val="4059"/>
                </a:lnSpc>
              </a:pPr>
              <a:endParaRPr lang="ar-EG" sz="2599">
                <a:solidFill>
                  <a:srgbClr val="F0F0F0"/>
                </a:solidFill>
                <a:latin typeface="Segoe UI" panose="020B0502040204020203" pitchFamily="34" charset="0"/>
                <a:ea typeface="Playfair Display"/>
                <a:cs typeface="Segoe UI" panose="020B0502040204020203" pitchFamily="34" charset="0"/>
                <a:sym typeface="Playfair Display"/>
                <a:rtl/>
              </a:endParaRPr>
            </a:p>
          </p:txBody>
        </p:sp>
      </p:grpSp>
      <p:grpSp>
        <p:nvGrpSpPr>
          <p:cNvPr id="16" name="Group 16"/>
          <p:cNvGrpSpPr/>
          <p:nvPr/>
        </p:nvGrpSpPr>
        <p:grpSpPr>
          <a:xfrm>
            <a:off x="-80623" y="8127207"/>
            <a:ext cx="17680245" cy="2731292"/>
            <a:chOff x="0" y="-38100"/>
            <a:chExt cx="4656525" cy="971364"/>
          </a:xfrm>
        </p:grpSpPr>
        <p:sp>
          <p:nvSpPr>
            <p:cNvPr id="17" name="Freeform 17"/>
            <p:cNvSpPr/>
            <p:nvPr/>
          </p:nvSpPr>
          <p:spPr>
            <a:xfrm>
              <a:off x="0" y="0"/>
              <a:ext cx="4656525" cy="730015"/>
            </a:xfrm>
            <a:custGeom>
              <a:avLst/>
              <a:gdLst/>
              <a:ahLst/>
              <a:cxnLst/>
              <a:rect l="l" t="t" r="r" b="b"/>
              <a:pathLst>
                <a:path w="4656525" h="730015">
                  <a:moveTo>
                    <a:pt x="17515" y="0"/>
                  </a:moveTo>
                  <a:lnTo>
                    <a:pt x="4639010" y="0"/>
                  </a:lnTo>
                  <a:cubicBezTo>
                    <a:pt x="4643655" y="0"/>
                    <a:pt x="4648110" y="1845"/>
                    <a:pt x="4651395" y="5130"/>
                  </a:cubicBezTo>
                  <a:cubicBezTo>
                    <a:pt x="4654680" y="8415"/>
                    <a:pt x="4656525" y="12870"/>
                    <a:pt x="4656525" y="17515"/>
                  </a:cubicBezTo>
                  <a:lnTo>
                    <a:pt x="4656525" y="712499"/>
                  </a:lnTo>
                  <a:cubicBezTo>
                    <a:pt x="4656525" y="722173"/>
                    <a:pt x="4648684" y="730015"/>
                    <a:pt x="4639010" y="730015"/>
                  </a:cubicBezTo>
                  <a:lnTo>
                    <a:pt x="17515" y="730015"/>
                  </a:lnTo>
                  <a:cubicBezTo>
                    <a:pt x="7842" y="730015"/>
                    <a:pt x="0" y="722173"/>
                    <a:pt x="0" y="712499"/>
                  </a:cubicBezTo>
                  <a:lnTo>
                    <a:pt x="0" y="17515"/>
                  </a:lnTo>
                  <a:cubicBezTo>
                    <a:pt x="0" y="7842"/>
                    <a:pt x="7842" y="0"/>
                    <a:pt x="17515" y="0"/>
                  </a:cubicBezTo>
                  <a:close/>
                </a:path>
              </a:pathLst>
            </a:custGeom>
            <a:solidFill>
              <a:srgbClr val="0031BB"/>
            </a:solidFill>
          </p:spPr>
          <p:txBody>
            <a:bodyPr/>
            <a:lstStyle/>
            <a:p>
              <a:endParaRPr lang="en-US">
                <a:latin typeface="Segoe UI" panose="020B0502040204020203" pitchFamily="34" charset="0"/>
                <a:cs typeface="Segoe UI" panose="020B0502040204020203" pitchFamily="34" charset="0"/>
              </a:endParaRPr>
            </a:p>
          </p:txBody>
        </p:sp>
        <p:sp>
          <p:nvSpPr>
            <p:cNvPr id="18" name="TextBox 18"/>
            <p:cNvSpPr txBox="1"/>
            <p:nvPr/>
          </p:nvSpPr>
          <p:spPr>
            <a:xfrm>
              <a:off x="0" y="-38100"/>
              <a:ext cx="4656525" cy="971364"/>
            </a:xfrm>
            <a:prstGeom prst="rect">
              <a:avLst/>
            </a:prstGeom>
          </p:spPr>
          <p:txBody>
            <a:bodyPr lIns="50800" tIns="50800" rIns="50800" bIns="50800" rtlCol="0" anchor="ctr"/>
            <a:lstStyle/>
            <a:p>
              <a:pPr algn="ctr" rtl="1">
                <a:lnSpc>
                  <a:spcPts val="3499"/>
                </a:lnSpc>
              </a:pPr>
              <a:r>
                <a:rPr lang="ar-EG" sz="2499" dirty="0">
                  <a:solidFill>
                    <a:srgbClr val="F0F0F0"/>
                  </a:solidFill>
                  <a:latin typeface="Segoe UI" panose="020B0502040204020203" pitchFamily="34" charset="0"/>
                  <a:ea typeface="Playfair Display"/>
                  <a:cs typeface="Segoe UI" panose="020B0502040204020203" pitchFamily="34" charset="0"/>
                  <a:sym typeface="Playfair Display"/>
                  <a:rtl/>
                </a:rPr>
                <a:t>متوسط جودة مياة النيل = </a:t>
              </a:r>
            </a:p>
            <a:p>
              <a:pPr algn="ctr">
                <a:lnSpc>
                  <a:spcPts val="3499"/>
                </a:lnSpc>
              </a:pPr>
              <a:r>
                <a:rPr lang="en-US" sz="2499" dirty="0">
                  <a:solidFill>
                    <a:srgbClr val="F0F0F0"/>
                  </a:solidFill>
                  <a:latin typeface="Segoe UI" panose="020B0502040204020203" pitchFamily="34" charset="0"/>
                  <a:ea typeface="Playfair Display"/>
                  <a:cs typeface="Segoe UI" panose="020B0502040204020203" pitchFamily="34" charset="0"/>
                  <a:sym typeface="Playfair Display"/>
                </a:rPr>
                <a:t>AVERAGEX(</a:t>
              </a:r>
            </a:p>
            <a:p>
              <a:pPr algn="ctr">
                <a:lnSpc>
                  <a:spcPts val="3499"/>
                </a:lnSpc>
              </a:pPr>
              <a:r>
                <a:rPr lang="en-US" sz="2499" dirty="0">
                  <a:solidFill>
                    <a:srgbClr val="F0F0F0"/>
                  </a:solidFill>
                  <a:latin typeface="Segoe UI" panose="020B0502040204020203" pitchFamily="34" charset="0"/>
                  <a:ea typeface="Playfair Display"/>
                  <a:cs typeface="Segoe UI" panose="020B0502040204020203" pitchFamily="34" charset="0"/>
                  <a:sym typeface="Playfair Display"/>
                </a:rPr>
                <a:t>  'quality of </a:t>
              </a:r>
              <a:r>
                <a:rPr lang="en-US" sz="2499" dirty="0" err="1">
                  <a:solidFill>
                    <a:srgbClr val="F0F0F0"/>
                  </a:solidFill>
                  <a:latin typeface="Segoe UI" panose="020B0502040204020203" pitchFamily="34" charset="0"/>
                  <a:ea typeface="Playfair Display"/>
                  <a:cs typeface="Segoe UI" panose="020B0502040204020203" pitchFamily="34" charset="0"/>
                  <a:sym typeface="Playfair Display"/>
                </a:rPr>
                <a:t>nile</a:t>
              </a:r>
              <a:r>
                <a:rPr lang="en-US" sz="2499" dirty="0">
                  <a:solidFill>
                    <a:srgbClr val="F0F0F0"/>
                  </a:solidFill>
                  <a:latin typeface="Segoe UI" panose="020B0502040204020203" pitchFamily="34" charset="0"/>
                  <a:ea typeface="Playfair Display"/>
                  <a:cs typeface="Segoe UI" panose="020B0502040204020203" pitchFamily="34" charset="0"/>
                  <a:sym typeface="Playfair Display"/>
                </a:rPr>
                <a:t>',</a:t>
              </a:r>
            </a:p>
            <a:p>
              <a:pPr algn="ctr">
                <a:lnSpc>
                  <a:spcPts val="3499"/>
                </a:lnSpc>
              </a:pPr>
              <a:r>
                <a:rPr lang="en-US" sz="2499" dirty="0">
                  <a:solidFill>
                    <a:srgbClr val="F0F0F0"/>
                  </a:solidFill>
                  <a:latin typeface="Segoe UI" panose="020B0502040204020203" pitchFamily="34" charset="0"/>
                  <a:ea typeface="Playfair Display"/>
                  <a:cs typeface="Segoe UI" panose="020B0502040204020203" pitchFamily="34" charset="0"/>
                  <a:sym typeface="Playfair Display"/>
                </a:rPr>
                <a:t>  ('quality of </a:t>
              </a:r>
              <a:r>
                <a:rPr lang="en-US" sz="2499" dirty="0" err="1">
                  <a:solidFill>
                    <a:srgbClr val="F0F0F0"/>
                  </a:solidFill>
                  <a:latin typeface="Segoe UI" panose="020B0502040204020203" pitchFamily="34" charset="0"/>
                  <a:ea typeface="Playfair Display"/>
                  <a:cs typeface="Segoe UI" panose="020B0502040204020203" pitchFamily="34" charset="0"/>
                  <a:sym typeface="Playfair Display"/>
                </a:rPr>
                <a:t>nile</a:t>
              </a:r>
              <a:r>
                <a:rPr lang="en-US" sz="2499" dirty="0">
                  <a:solidFill>
                    <a:srgbClr val="F0F0F0"/>
                  </a:solidFill>
                  <a:latin typeface="Segoe UI" panose="020B0502040204020203" pitchFamily="34" charset="0"/>
                  <a:ea typeface="Playfair Display"/>
                  <a:cs typeface="Segoe UI" panose="020B0502040204020203" pitchFamily="34" charset="0"/>
                  <a:sym typeface="Playfair Display"/>
                </a:rPr>
                <a:t>'[2018] + 'quality of </a:t>
              </a:r>
              <a:r>
                <a:rPr lang="en-US" sz="2499" dirty="0" err="1">
                  <a:solidFill>
                    <a:srgbClr val="F0F0F0"/>
                  </a:solidFill>
                  <a:latin typeface="Segoe UI" panose="020B0502040204020203" pitchFamily="34" charset="0"/>
                  <a:ea typeface="Playfair Display"/>
                  <a:cs typeface="Segoe UI" panose="020B0502040204020203" pitchFamily="34" charset="0"/>
                  <a:sym typeface="Playfair Display"/>
                </a:rPr>
                <a:t>nile</a:t>
              </a:r>
              <a:r>
                <a:rPr lang="en-US" sz="2499" dirty="0">
                  <a:solidFill>
                    <a:srgbClr val="F0F0F0"/>
                  </a:solidFill>
                  <a:latin typeface="Segoe UI" panose="020B0502040204020203" pitchFamily="34" charset="0"/>
                  <a:ea typeface="Playfair Display"/>
                  <a:cs typeface="Segoe UI" panose="020B0502040204020203" pitchFamily="34" charset="0"/>
                  <a:sym typeface="Playfair Display"/>
                </a:rPr>
                <a:t>'[2019] + 'quality of </a:t>
              </a:r>
              <a:r>
                <a:rPr lang="en-US" sz="2499" dirty="0" err="1">
                  <a:solidFill>
                    <a:srgbClr val="F0F0F0"/>
                  </a:solidFill>
                  <a:latin typeface="Segoe UI" panose="020B0502040204020203" pitchFamily="34" charset="0"/>
                  <a:ea typeface="Playfair Display"/>
                  <a:cs typeface="Segoe UI" panose="020B0502040204020203" pitchFamily="34" charset="0"/>
                  <a:sym typeface="Playfair Display"/>
                </a:rPr>
                <a:t>nile</a:t>
              </a:r>
              <a:r>
                <a:rPr lang="en-US" sz="2499" dirty="0">
                  <a:solidFill>
                    <a:srgbClr val="F0F0F0"/>
                  </a:solidFill>
                  <a:latin typeface="Segoe UI" panose="020B0502040204020203" pitchFamily="34" charset="0"/>
                  <a:ea typeface="Playfair Display"/>
                  <a:cs typeface="Segoe UI" panose="020B0502040204020203" pitchFamily="34" charset="0"/>
                  <a:sym typeface="Playfair Display"/>
                </a:rPr>
                <a:t>'[2020] + 'quality of </a:t>
              </a:r>
              <a:r>
                <a:rPr lang="en-US" sz="2499" dirty="0" err="1">
                  <a:solidFill>
                    <a:srgbClr val="F0F0F0"/>
                  </a:solidFill>
                  <a:latin typeface="Segoe UI" panose="020B0502040204020203" pitchFamily="34" charset="0"/>
                  <a:ea typeface="Playfair Display"/>
                  <a:cs typeface="Segoe UI" panose="020B0502040204020203" pitchFamily="34" charset="0"/>
                  <a:sym typeface="Playfair Display"/>
                </a:rPr>
                <a:t>nile</a:t>
              </a:r>
              <a:r>
                <a:rPr lang="en-US" sz="2499" dirty="0">
                  <a:solidFill>
                    <a:srgbClr val="F0F0F0"/>
                  </a:solidFill>
                  <a:latin typeface="Segoe UI" panose="020B0502040204020203" pitchFamily="34" charset="0"/>
                  <a:ea typeface="Playfair Display"/>
                  <a:cs typeface="Segoe UI" panose="020B0502040204020203" pitchFamily="34" charset="0"/>
                  <a:sym typeface="Playfair Display"/>
                </a:rPr>
                <a:t>'[2021] + 'quality of </a:t>
              </a:r>
              <a:r>
                <a:rPr lang="en-US" sz="2499" dirty="0" err="1">
                  <a:solidFill>
                    <a:srgbClr val="F0F0F0"/>
                  </a:solidFill>
                  <a:latin typeface="Segoe UI" panose="020B0502040204020203" pitchFamily="34" charset="0"/>
                  <a:ea typeface="Playfair Display"/>
                  <a:cs typeface="Segoe UI" panose="020B0502040204020203" pitchFamily="34" charset="0"/>
                  <a:sym typeface="Playfair Display"/>
                </a:rPr>
                <a:t>nile</a:t>
              </a:r>
              <a:r>
                <a:rPr lang="en-US" sz="2499" dirty="0">
                  <a:solidFill>
                    <a:srgbClr val="F0F0F0"/>
                  </a:solidFill>
                  <a:latin typeface="Segoe UI" panose="020B0502040204020203" pitchFamily="34" charset="0"/>
                  <a:ea typeface="Playfair Display"/>
                  <a:cs typeface="Segoe UI" panose="020B0502040204020203" pitchFamily="34" charset="0"/>
                  <a:sym typeface="Playfair Display"/>
                </a:rPr>
                <a:t>'[2022]) / 5</a:t>
              </a:r>
            </a:p>
            <a:p>
              <a:pPr algn="ctr">
                <a:lnSpc>
                  <a:spcPts val="3499"/>
                </a:lnSpc>
              </a:pPr>
              <a:r>
                <a:rPr lang="en-US" sz="2499" dirty="0">
                  <a:solidFill>
                    <a:srgbClr val="F0F0F0"/>
                  </a:solidFill>
                  <a:latin typeface="Segoe UI" panose="020B0502040204020203" pitchFamily="34" charset="0"/>
                  <a:ea typeface="Playfair Display"/>
                  <a:cs typeface="Segoe UI" panose="020B0502040204020203" pitchFamily="34" charset="0"/>
                  <a:sym typeface="Playfair Display"/>
                </a:rPr>
                <a:t>)</a:t>
              </a:r>
            </a:p>
            <a:p>
              <a:pPr algn="ctr">
                <a:lnSpc>
                  <a:spcPts val="3499"/>
                </a:lnSpc>
              </a:pPr>
              <a:endParaRPr lang="en-US" sz="2499" dirty="0">
                <a:solidFill>
                  <a:srgbClr val="F0F0F0"/>
                </a:solidFill>
                <a:latin typeface="Segoe UI" panose="020B0502040204020203" pitchFamily="34" charset="0"/>
                <a:ea typeface="Playfair Display"/>
                <a:cs typeface="Segoe UI" panose="020B0502040204020203" pitchFamily="34" charset="0"/>
                <a:sym typeface="Playfair Display"/>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0F0F0"/>
        </a:solidFill>
        <a:effectLst/>
      </p:bgPr>
    </p:bg>
    <p:spTree>
      <p:nvGrpSpPr>
        <p:cNvPr id="1" name=""/>
        <p:cNvGrpSpPr/>
        <p:nvPr/>
      </p:nvGrpSpPr>
      <p:grpSpPr>
        <a:xfrm>
          <a:off x="0" y="0"/>
          <a:ext cx="0" cy="0"/>
          <a:chOff x="0" y="0"/>
          <a:chExt cx="0" cy="0"/>
        </a:xfrm>
      </p:grpSpPr>
      <p:grpSp>
        <p:nvGrpSpPr>
          <p:cNvPr id="2" name="Group 2"/>
          <p:cNvGrpSpPr/>
          <p:nvPr/>
        </p:nvGrpSpPr>
        <p:grpSpPr>
          <a:xfrm>
            <a:off x="0" y="7557012"/>
            <a:ext cx="8781578" cy="2401888"/>
            <a:chOff x="0" y="0"/>
            <a:chExt cx="2873974" cy="786073"/>
          </a:xfrm>
        </p:grpSpPr>
        <p:sp>
          <p:nvSpPr>
            <p:cNvPr id="3" name="Freeform 3"/>
            <p:cNvSpPr/>
            <p:nvPr/>
          </p:nvSpPr>
          <p:spPr>
            <a:xfrm>
              <a:off x="0" y="0"/>
              <a:ext cx="2873974" cy="786073"/>
            </a:xfrm>
            <a:custGeom>
              <a:avLst/>
              <a:gdLst/>
              <a:ahLst/>
              <a:cxnLst/>
              <a:rect l="l" t="t" r="r" b="b"/>
              <a:pathLst>
                <a:path w="2873974" h="786073">
                  <a:moveTo>
                    <a:pt x="34383" y="0"/>
                  </a:moveTo>
                  <a:lnTo>
                    <a:pt x="2839591" y="0"/>
                  </a:lnTo>
                  <a:cubicBezTo>
                    <a:pt x="2848710" y="0"/>
                    <a:pt x="2857455" y="3622"/>
                    <a:pt x="2863903" y="10070"/>
                  </a:cubicBezTo>
                  <a:cubicBezTo>
                    <a:pt x="2870351" y="16518"/>
                    <a:pt x="2873974" y="25264"/>
                    <a:pt x="2873974" y="34383"/>
                  </a:cubicBezTo>
                  <a:lnTo>
                    <a:pt x="2873974" y="751690"/>
                  </a:lnTo>
                  <a:cubicBezTo>
                    <a:pt x="2873974" y="760809"/>
                    <a:pt x="2870351" y="769555"/>
                    <a:pt x="2863903" y="776003"/>
                  </a:cubicBezTo>
                  <a:cubicBezTo>
                    <a:pt x="2857455" y="782451"/>
                    <a:pt x="2848710" y="786073"/>
                    <a:pt x="2839591" y="786073"/>
                  </a:cubicBezTo>
                  <a:lnTo>
                    <a:pt x="34383" y="786073"/>
                  </a:lnTo>
                  <a:cubicBezTo>
                    <a:pt x="25264" y="786073"/>
                    <a:pt x="16518" y="782451"/>
                    <a:pt x="10070" y="776003"/>
                  </a:cubicBezTo>
                  <a:cubicBezTo>
                    <a:pt x="3622" y="769555"/>
                    <a:pt x="0" y="760809"/>
                    <a:pt x="0" y="751690"/>
                  </a:cubicBezTo>
                  <a:lnTo>
                    <a:pt x="0" y="34383"/>
                  </a:lnTo>
                  <a:cubicBezTo>
                    <a:pt x="0" y="25264"/>
                    <a:pt x="3622" y="16518"/>
                    <a:pt x="10070" y="10070"/>
                  </a:cubicBezTo>
                  <a:cubicBezTo>
                    <a:pt x="16518" y="3622"/>
                    <a:pt x="25264" y="0"/>
                    <a:pt x="34383" y="0"/>
                  </a:cubicBezTo>
                  <a:close/>
                </a:path>
              </a:pathLst>
            </a:custGeom>
            <a:solidFill>
              <a:srgbClr val="000000">
                <a:alpha val="0"/>
              </a:srgbClr>
            </a:solidFill>
            <a:ln w="38100" cap="rnd">
              <a:solidFill>
                <a:srgbClr val="0031BB"/>
              </a:solidFill>
              <a:prstDash val="solid"/>
              <a:round/>
            </a:ln>
          </p:spPr>
          <p:txBody>
            <a:bodyPr/>
            <a:lstStyle/>
            <a:p>
              <a:endParaRPr lang="en-US">
                <a:latin typeface="Segoe UI" panose="020B0502040204020203" pitchFamily="34" charset="0"/>
                <a:cs typeface="Segoe UI" panose="020B0502040204020203" pitchFamily="34" charset="0"/>
              </a:endParaRPr>
            </a:p>
          </p:txBody>
        </p:sp>
        <p:sp>
          <p:nvSpPr>
            <p:cNvPr id="4" name="TextBox 4"/>
            <p:cNvSpPr txBox="1"/>
            <p:nvPr/>
          </p:nvSpPr>
          <p:spPr>
            <a:xfrm>
              <a:off x="0" y="-38100"/>
              <a:ext cx="2873974" cy="824173"/>
            </a:xfrm>
            <a:prstGeom prst="rect">
              <a:avLst/>
            </a:prstGeom>
          </p:spPr>
          <p:txBody>
            <a:bodyPr lIns="50800" tIns="50800" rIns="50800" bIns="50800" rtlCol="0" anchor="ctr"/>
            <a:lstStyle/>
            <a:p>
              <a:pPr algn="r" rtl="1">
                <a:lnSpc>
                  <a:spcPts val="3360"/>
                </a:lnSpc>
              </a:pPr>
              <a:r>
                <a:rPr lang="en-US" sz="2400">
                  <a:solidFill>
                    <a:srgbClr val="212121"/>
                  </a:solidFill>
                  <a:latin typeface="Segoe UI" panose="020B0502040204020203" pitchFamily="34" charset="0"/>
                  <a:ea typeface="Garet"/>
                  <a:cs typeface="Segoe UI" panose="020B0502040204020203" pitchFamily="34" charset="0"/>
                  <a:sym typeface="Garet"/>
                </a:rPr>
                <a:t>1</a:t>
              </a:r>
              <a:r>
                <a:rPr lang="ar-EG" sz="2400">
                  <a:solidFill>
                    <a:srgbClr val="212121"/>
                  </a:solidFill>
                  <a:latin typeface="Segoe UI" panose="020B0502040204020203" pitchFamily="34" charset="0"/>
                  <a:ea typeface="Garet"/>
                  <a:cs typeface="Segoe UI" panose="020B0502040204020203" pitchFamily="34" charset="0"/>
                  <a:sym typeface="Garet"/>
                  <a:rtl/>
                </a:rPr>
                <a:t>- الموارد المائية حسب الاستخدام</a:t>
              </a:r>
            </a:p>
            <a:p>
              <a:pPr algn="ctr" rtl="1">
                <a:lnSpc>
                  <a:spcPts val="3500"/>
                </a:lnSpc>
              </a:pPr>
              <a:r>
                <a:rPr lang="ar-EG" sz="2500">
                  <a:solidFill>
                    <a:srgbClr val="212121"/>
                  </a:solidFill>
                  <a:latin typeface="Segoe UI" panose="020B0502040204020203" pitchFamily="34" charset="0"/>
                  <a:ea typeface="Garet"/>
                  <a:cs typeface="Segoe UI" panose="020B0502040204020203" pitchFamily="34" charset="0"/>
                  <a:sym typeface="Garet"/>
                  <a:rtl/>
                </a:rPr>
                <a:t>   يظهر الرسم البياني أن الاستخدام الزراعي للمياه يتصدر بفارق كبير عن باقي الاستخدامات عبر الثلاث سنوات مثل مياه الشرب والصناعة والمياه البحرية، مما يعكس التركيز الأكبر على القطاع الزراعي في استهلاك الموارد المائي</a:t>
              </a:r>
            </a:p>
          </p:txBody>
        </p:sp>
      </p:grpSp>
      <p:sp>
        <p:nvSpPr>
          <p:cNvPr id="5" name="Freeform 5"/>
          <p:cNvSpPr/>
          <p:nvPr/>
        </p:nvSpPr>
        <p:spPr>
          <a:xfrm>
            <a:off x="1028700" y="1028700"/>
            <a:ext cx="764652" cy="790499"/>
          </a:xfrm>
          <a:custGeom>
            <a:avLst/>
            <a:gdLst/>
            <a:ahLst/>
            <a:cxnLst/>
            <a:rect l="l" t="t" r="r" b="b"/>
            <a:pathLst>
              <a:path w="764652" h="790499">
                <a:moveTo>
                  <a:pt x="0" y="0"/>
                </a:moveTo>
                <a:lnTo>
                  <a:pt x="764652" y="0"/>
                </a:lnTo>
                <a:lnTo>
                  <a:pt x="764652" y="790499"/>
                </a:lnTo>
                <a:lnTo>
                  <a:pt x="0" y="79049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latin typeface="Segoe UI" panose="020B0502040204020203" pitchFamily="34" charset="0"/>
              <a:cs typeface="Segoe UI" panose="020B0502040204020203" pitchFamily="34" charset="0"/>
            </a:endParaRPr>
          </a:p>
        </p:txBody>
      </p:sp>
      <p:sp>
        <p:nvSpPr>
          <p:cNvPr id="6" name="Freeform 6"/>
          <p:cNvSpPr/>
          <p:nvPr/>
        </p:nvSpPr>
        <p:spPr>
          <a:xfrm>
            <a:off x="420708" y="2440667"/>
            <a:ext cx="8360870" cy="4962739"/>
          </a:xfrm>
          <a:custGeom>
            <a:avLst/>
            <a:gdLst/>
            <a:ahLst/>
            <a:cxnLst/>
            <a:rect l="l" t="t" r="r" b="b"/>
            <a:pathLst>
              <a:path w="8360870" h="4962739">
                <a:moveTo>
                  <a:pt x="0" y="0"/>
                </a:moveTo>
                <a:lnTo>
                  <a:pt x="8360870" y="0"/>
                </a:lnTo>
                <a:lnTo>
                  <a:pt x="8360870" y="4962739"/>
                </a:lnTo>
                <a:lnTo>
                  <a:pt x="0" y="4962739"/>
                </a:lnTo>
                <a:lnTo>
                  <a:pt x="0" y="0"/>
                </a:lnTo>
                <a:close/>
              </a:path>
            </a:pathLst>
          </a:custGeom>
          <a:blipFill>
            <a:blip r:embed="rId4"/>
            <a:stretch>
              <a:fillRect/>
            </a:stretch>
          </a:blipFill>
        </p:spPr>
        <p:txBody>
          <a:bodyPr/>
          <a:lstStyle/>
          <a:p>
            <a:endParaRPr lang="en-US">
              <a:latin typeface="Segoe UI" panose="020B0502040204020203" pitchFamily="34" charset="0"/>
              <a:cs typeface="Segoe UI" panose="020B0502040204020203" pitchFamily="34" charset="0"/>
            </a:endParaRPr>
          </a:p>
        </p:txBody>
      </p:sp>
      <p:sp>
        <p:nvSpPr>
          <p:cNvPr id="7" name="Freeform 7"/>
          <p:cNvSpPr/>
          <p:nvPr/>
        </p:nvSpPr>
        <p:spPr>
          <a:xfrm>
            <a:off x="9144000" y="2440667"/>
            <a:ext cx="8879616" cy="4962739"/>
          </a:xfrm>
          <a:custGeom>
            <a:avLst/>
            <a:gdLst/>
            <a:ahLst/>
            <a:cxnLst/>
            <a:rect l="l" t="t" r="r" b="b"/>
            <a:pathLst>
              <a:path w="8879616" h="4962739">
                <a:moveTo>
                  <a:pt x="0" y="0"/>
                </a:moveTo>
                <a:lnTo>
                  <a:pt x="8879616" y="0"/>
                </a:lnTo>
                <a:lnTo>
                  <a:pt x="8879616" y="4962739"/>
                </a:lnTo>
                <a:lnTo>
                  <a:pt x="0" y="4962739"/>
                </a:lnTo>
                <a:lnTo>
                  <a:pt x="0" y="0"/>
                </a:lnTo>
                <a:close/>
              </a:path>
            </a:pathLst>
          </a:custGeom>
          <a:blipFill>
            <a:blip r:embed="rId5"/>
            <a:stretch>
              <a:fillRect l="-8500" r="-16123"/>
            </a:stretch>
          </a:blipFill>
        </p:spPr>
        <p:txBody>
          <a:bodyPr/>
          <a:lstStyle/>
          <a:p>
            <a:endParaRPr lang="en-US">
              <a:latin typeface="Segoe UI" panose="020B0502040204020203" pitchFamily="34" charset="0"/>
              <a:cs typeface="Segoe UI" panose="020B0502040204020203" pitchFamily="34" charset="0"/>
            </a:endParaRPr>
          </a:p>
        </p:txBody>
      </p:sp>
      <p:sp>
        <p:nvSpPr>
          <p:cNvPr id="8" name="TextBox 8"/>
          <p:cNvSpPr txBox="1"/>
          <p:nvPr/>
        </p:nvSpPr>
        <p:spPr>
          <a:xfrm>
            <a:off x="4189957" y="826135"/>
            <a:ext cx="9183241" cy="865622"/>
          </a:xfrm>
          <a:prstGeom prst="rect">
            <a:avLst/>
          </a:prstGeom>
        </p:spPr>
        <p:txBody>
          <a:bodyPr lIns="0" tIns="0" rIns="0" bIns="0" rtlCol="0" anchor="t">
            <a:spAutoFit/>
          </a:bodyPr>
          <a:lstStyle/>
          <a:p>
            <a:pPr algn="ctr" rtl="1">
              <a:lnSpc>
                <a:spcPts val="7420"/>
              </a:lnSpc>
            </a:pPr>
            <a:r>
              <a:rPr lang="en-US" sz="5300" b="1">
                <a:solidFill>
                  <a:srgbClr val="0031BB"/>
                </a:solidFill>
                <a:latin typeface="Segoe UI" panose="020B0502040204020203" pitchFamily="34" charset="0"/>
                <a:ea typeface="Playfair Display Bold"/>
                <a:cs typeface="Segoe UI" panose="020B0502040204020203" pitchFamily="34" charset="0"/>
                <a:sym typeface="Playfair Display Bold"/>
              </a:rPr>
              <a:t>4</a:t>
            </a:r>
            <a:r>
              <a:rPr lang="ar-EG" sz="5300" b="1">
                <a:solidFill>
                  <a:srgbClr val="0031BB"/>
                </a:solidFill>
                <a:latin typeface="Segoe UI" panose="020B0502040204020203" pitchFamily="34" charset="0"/>
                <a:ea typeface="Playfair Display Bold"/>
                <a:cs typeface="Segoe UI" panose="020B0502040204020203" pitchFamily="34" charset="0"/>
                <a:sym typeface="Playfair Display Bold"/>
                <a:rtl/>
              </a:rPr>
              <a:t>- النتائج وال </a:t>
            </a:r>
            <a:r>
              <a:rPr lang="en-US" sz="5300" b="1">
                <a:solidFill>
                  <a:srgbClr val="0031BB"/>
                </a:solidFill>
                <a:latin typeface="Segoe UI" panose="020B0502040204020203" pitchFamily="34" charset="0"/>
                <a:ea typeface="Playfair Display Bold"/>
                <a:cs typeface="Segoe UI" panose="020B0502040204020203" pitchFamily="34" charset="0"/>
                <a:sym typeface="Playfair Display Bold"/>
              </a:rPr>
              <a:t>visuals</a:t>
            </a:r>
            <a:r>
              <a:rPr lang="ar-EG" sz="5300" b="1">
                <a:solidFill>
                  <a:srgbClr val="0031BB"/>
                </a:solidFill>
                <a:latin typeface="Segoe UI" panose="020B0502040204020203" pitchFamily="34" charset="0"/>
                <a:ea typeface="Playfair Display Bold"/>
                <a:cs typeface="Segoe UI" panose="020B0502040204020203" pitchFamily="34" charset="0"/>
                <a:sym typeface="Playfair Display Bold"/>
                <a:rtl/>
              </a:rPr>
              <a:t> </a:t>
            </a:r>
          </a:p>
        </p:txBody>
      </p:sp>
      <p:sp>
        <p:nvSpPr>
          <p:cNvPr id="9" name="TextBox 9"/>
          <p:cNvSpPr txBox="1"/>
          <p:nvPr/>
        </p:nvSpPr>
        <p:spPr>
          <a:xfrm>
            <a:off x="13635474" y="1000125"/>
            <a:ext cx="3623826" cy="330200"/>
          </a:xfrm>
          <a:prstGeom prst="rect">
            <a:avLst/>
          </a:prstGeom>
        </p:spPr>
        <p:txBody>
          <a:bodyPr lIns="0" tIns="0" rIns="0" bIns="0" rtlCol="0" anchor="t">
            <a:spAutoFit/>
          </a:bodyPr>
          <a:lstStyle/>
          <a:p>
            <a:pPr algn="r" rtl="1">
              <a:lnSpc>
                <a:spcPts val="2799"/>
              </a:lnSpc>
              <a:spcBef>
                <a:spcPct val="0"/>
              </a:spcBef>
            </a:pPr>
            <a:r>
              <a:rPr lang="ar-EG" sz="1999" b="1">
                <a:solidFill>
                  <a:srgbClr val="0031BB"/>
                </a:solidFill>
                <a:latin typeface="Segoe UI" panose="020B0502040204020203" pitchFamily="34" charset="0"/>
                <a:ea typeface="Playfair Display Bold"/>
                <a:cs typeface="Segoe UI" panose="020B0502040204020203" pitchFamily="34" charset="0"/>
                <a:sym typeface="Playfair Display Bold"/>
                <a:rtl/>
              </a:rPr>
              <a:t>صفحة  </a:t>
            </a:r>
            <a:r>
              <a:rPr lang="en-US" sz="1999" b="1">
                <a:solidFill>
                  <a:srgbClr val="0031BB"/>
                </a:solidFill>
                <a:latin typeface="Segoe UI" panose="020B0502040204020203" pitchFamily="34" charset="0"/>
                <a:ea typeface="Playfair Display Bold"/>
                <a:cs typeface="Segoe UI" panose="020B0502040204020203" pitchFamily="34" charset="0"/>
                <a:sym typeface="Playfair Display Bold"/>
              </a:rPr>
              <a:t>11</a:t>
            </a:r>
          </a:p>
        </p:txBody>
      </p:sp>
      <p:grpSp>
        <p:nvGrpSpPr>
          <p:cNvPr id="10" name="Group 10"/>
          <p:cNvGrpSpPr/>
          <p:nvPr/>
        </p:nvGrpSpPr>
        <p:grpSpPr>
          <a:xfrm>
            <a:off x="9144000" y="7557012"/>
            <a:ext cx="8879616" cy="2344738"/>
            <a:chOff x="0" y="0"/>
            <a:chExt cx="2906059" cy="767369"/>
          </a:xfrm>
        </p:grpSpPr>
        <p:sp>
          <p:nvSpPr>
            <p:cNvPr id="11" name="Freeform 11"/>
            <p:cNvSpPr/>
            <p:nvPr/>
          </p:nvSpPr>
          <p:spPr>
            <a:xfrm>
              <a:off x="0" y="0"/>
              <a:ext cx="2906059" cy="767369"/>
            </a:xfrm>
            <a:custGeom>
              <a:avLst/>
              <a:gdLst/>
              <a:ahLst/>
              <a:cxnLst/>
              <a:rect l="l" t="t" r="r" b="b"/>
              <a:pathLst>
                <a:path w="2906059" h="767369">
                  <a:moveTo>
                    <a:pt x="34003" y="0"/>
                  </a:moveTo>
                  <a:lnTo>
                    <a:pt x="2872056" y="0"/>
                  </a:lnTo>
                  <a:cubicBezTo>
                    <a:pt x="2890835" y="0"/>
                    <a:pt x="2906059" y="15224"/>
                    <a:pt x="2906059" y="34003"/>
                  </a:cubicBezTo>
                  <a:lnTo>
                    <a:pt x="2906059" y="733366"/>
                  </a:lnTo>
                  <a:cubicBezTo>
                    <a:pt x="2906059" y="742384"/>
                    <a:pt x="2902476" y="751033"/>
                    <a:pt x="2896100" y="757410"/>
                  </a:cubicBezTo>
                  <a:cubicBezTo>
                    <a:pt x="2889723" y="763787"/>
                    <a:pt x="2881074" y="767369"/>
                    <a:pt x="2872056" y="767369"/>
                  </a:cubicBezTo>
                  <a:lnTo>
                    <a:pt x="34003" y="767369"/>
                  </a:lnTo>
                  <a:cubicBezTo>
                    <a:pt x="24985" y="767369"/>
                    <a:pt x="16336" y="763787"/>
                    <a:pt x="9959" y="757410"/>
                  </a:cubicBezTo>
                  <a:cubicBezTo>
                    <a:pt x="3582" y="751033"/>
                    <a:pt x="0" y="742384"/>
                    <a:pt x="0" y="733366"/>
                  </a:cubicBezTo>
                  <a:lnTo>
                    <a:pt x="0" y="34003"/>
                  </a:lnTo>
                  <a:cubicBezTo>
                    <a:pt x="0" y="24985"/>
                    <a:pt x="3582" y="16336"/>
                    <a:pt x="9959" y="9959"/>
                  </a:cubicBezTo>
                  <a:cubicBezTo>
                    <a:pt x="16336" y="3582"/>
                    <a:pt x="24985" y="0"/>
                    <a:pt x="34003" y="0"/>
                  </a:cubicBezTo>
                  <a:close/>
                </a:path>
              </a:pathLst>
            </a:custGeom>
            <a:solidFill>
              <a:srgbClr val="000000">
                <a:alpha val="0"/>
              </a:srgbClr>
            </a:solidFill>
            <a:ln w="38100" cap="rnd">
              <a:solidFill>
                <a:srgbClr val="0031BB"/>
              </a:solidFill>
              <a:prstDash val="solid"/>
              <a:round/>
            </a:ln>
          </p:spPr>
          <p:txBody>
            <a:bodyPr/>
            <a:lstStyle/>
            <a:p>
              <a:endParaRPr lang="en-US">
                <a:latin typeface="Segoe UI" panose="020B0502040204020203" pitchFamily="34" charset="0"/>
                <a:cs typeface="Segoe UI" panose="020B0502040204020203" pitchFamily="34" charset="0"/>
              </a:endParaRPr>
            </a:p>
          </p:txBody>
        </p:sp>
        <p:sp>
          <p:nvSpPr>
            <p:cNvPr id="12" name="TextBox 12"/>
            <p:cNvSpPr txBox="1"/>
            <p:nvPr/>
          </p:nvSpPr>
          <p:spPr>
            <a:xfrm>
              <a:off x="0" y="-38100"/>
              <a:ext cx="2906059" cy="805469"/>
            </a:xfrm>
            <a:prstGeom prst="rect">
              <a:avLst/>
            </a:prstGeom>
          </p:spPr>
          <p:txBody>
            <a:bodyPr lIns="50800" tIns="50800" rIns="50800" bIns="50800" rtlCol="0" anchor="ctr"/>
            <a:lstStyle/>
            <a:p>
              <a:pPr algn="r" rtl="1">
                <a:lnSpc>
                  <a:spcPts val="3360"/>
                </a:lnSpc>
              </a:pPr>
              <a:r>
                <a:rPr lang="ar-EG" sz="2400">
                  <a:solidFill>
                    <a:srgbClr val="212121"/>
                  </a:solidFill>
                  <a:latin typeface="Segoe UI" panose="020B0502040204020203" pitchFamily="34" charset="0"/>
                  <a:ea typeface="Garet"/>
                  <a:cs typeface="Segoe UI" panose="020B0502040204020203" pitchFamily="34" charset="0"/>
                  <a:sym typeface="Garet"/>
                  <a:rtl/>
                </a:rPr>
                <a:t> </a:t>
              </a:r>
              <a:r>
                <a:rPr lang="en-US" sz="2400">
                  <a:solidFill>
                    <a:srgbClr val="212121"/>
                  </a:solidFill>
                  <a:latin typeface="Segoe UI" panose="020B0502040204020203" pitchFamily="34" charset="0"/>
                  <a:ea typeface="Garet"/>
                  <a:cs typeface="Segoe UI" panose="020B0502040204020203" pitchFamily="34" charset="0"/>
                  <a:sym typeface="Garet"/>
                </a:rPr>
                <a:t>2</a:t>
              </a:r>
              <a:r>
                <a:rPr lang="ar-EG" sz="2400">
                  <a:solidFill>
                    <a:srgbClr val="212121"/>
                  </a:solidFill>
                  <a:latin typeface="Segoe UI" panose="020B0502040204020203" pitchFamily="34" charset="0"/>
                  <a:ea typeface="Garet"/>
                  <a:cs typeface="Segoe UI" panose="020B0502040204020203" pitchFamily="34" charset="0"/>
                  <a:sym typeface="Garet"/>
                  <a:rtl/>
                </a:rPr>
                <a:t>- الموارد المائية حسب المصدر </a:t>
              </a:r>
            </a:p>
            <a:p>
              <a:pPr algn="r" rtl="1">
                <a:lnSpc>
                  <a:spcPts val="3360"/>
                </a:lnSpc>
              </a:pPr>
              <a:r>
                <a:rPr lang="ar-EG" sz="2400">
                  <a:solidFill>
                    <a:srgbClr val="212121"/>
                  </a:solidFill>
                  <a:latin typeface="Segoe UI" panose="020B0502040204020203" pitchFamily="34" charset="0"/>
                  <a:ea typeface="Garet"/>
                  <a:cs typeface="Segoe UI" panose="020B0502040204020203" pitchFamily="34" charset="0"/>
                  <a:sym typeface="Garet"/>
                  <a:rtl/>
                </a:rPr>
                <a:t>   يبين الرسم أن مياه نهر النيل تمثل المصدر الرئيسي للمياه عبر السنوات الثلاث، تليها الموارد غير التقليدية وإعادة استخدام مياه الصرف، بينما تبقى مساهمات التحلية والمياه الجوفية العميقة والأمطار محدودة نسبيًا.</a:t>
              </a:r>
            </a:p>
            <a:p>
              <a:pPr algn="ctr" rtl="1">
                <a:lnSpc>
                  <a:spcPts val="3500"/>
                </a:lnSpc>
              </a:pPr>
              <a:endParaRPr lang="ar-EG" sz="2400">
                <a:solidFill>
                  <a:srgbClr val="212121"/>
                </a:solidFill>
                <a:latin typeface="Segoe UI" panose="020B0502040204020203" pitchFamily="34" charset="0"/>
                <a:ea typeface="Garet"/>
                <a:cs typeface="Segoe UI" panose="020B0502040204020203" pitchFamily="34" charset="0"/>
                <a:sym typeface="Garet"/>
                <a:rtl/>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0F0F0"/>
        </a:solidFill>
        <a:effectLst/>
      </p:bgPr>
    </p:bg>
    <p:spTree>
      <p:nvGrpSpPr>
        <p:cNvPr id="1" name=""/>
        <p:cNvGrpSpPr/>
        <p:nvPr/>
      </p:nvGrpSpPr>
      <p:grpSpPr>
        <a:xfrm>
          <a:off x="0" y="0"/>
          <a:ext cx="0" cy="0"/>
          <a:chOff x="0" y="0"/>
          <a:chExt cx="0" cy="0"/>
        </a:xfrm>
      </p:grpSpPr>
      <p:grpSp>
        <p:nvGrpSpPr>
          <p:cNvPr id="2" name="Group 2"/>
          <p:cNvGrpSpPr/>
          <p:nvPr/>
        </p:nvGrpSpPr>
        <p:grpSpPr>
          <a:xfrm>
            <a:off x="420708" y="7557012"/>
            <a:ext cx="8360870" cy="2344738"/>
            <a:chOff x="0" y="0"/>
            <a:chExt cx="2736287" cy="767369"/>
          </a:xfrm>
        </p:grpSpPr>
        <p:sp>
          <p:nvSpPr>
            <p:cNvPr id="3" name="Freeform 3"/>
            <p:cNvSpPr/>
            <p:nvPr/>
          </p:nvSpPr>
          <p:spPr>
            <a:xfrm>
              <a:off x="0" y="0"/>
              <a:ext cx="2736287" cy="767369"/>
            </a:xfrm>
            <a:custGeom>
              <a:avLst/>
              <a:gdLst/>
              <a:ahLst/>
              <a:cxnLst/>
              <a:rect l="l" t="t" r="r" b="b"/>
              <a:pathLst>
                <a:path w="2736287" h="767369">
                  <a:moveTo>
                    <a:pt x="36113" y="0"/>
                  </a:moveTo>
                  <a:lnTo>
                    <a:pt x="2700174" y="0"/>
                  </a:lnTo>
                  <a:cubicBezTo>
                    <a:pt x="2709752" y="0"/>
                    <a:pt x="2718938" y="3805"/>
                    <a:pt x="2725710" y="10577"/>
                  </a:cubicBezTo>
                  <a:cubicBezTo>
                    <a:pt x="2732482" y="17350"/>
                    <a:pt x="2736287" y="26535"/>
                    <a:pt x="2736287" y="36113"/>
                  </a:cubicBezTo>
                  <a:lnTo>
                    <a:pt x="2736287" y="731257"/>
                  </a:lnTo>
                  <a:cubicBezTo>
                    <a:pt x="2736287" y="751201"/>
                    <a:pt x="2720119" y="767369"/>
                    <a:pt x="2700174" y="767369"/>
                  </a:cubicBezTo>
                  <a:lnTo>
                    <a:pt x="36113" y="767369"/>
                  </a:lnTo>
                  <a:cubicBezTo>
                    <a:pt x="16168" y="767369"/>
                    <a:pt x="0" y="751201"/>
                    <a:pt x="0" y="731257"/>
                  </a:cubicBezTo>
                  <a:lnTo>
                    <a:pt x="0" y="36113"/>
                  </a:lnTo>
                  <a:cubicBezTo>
                    <a:pt x="0" y="16168"/>
                    <a:pt x="16168" y="0"/>
                    <a:pt x="36113" y="0"/>
                  </a:cubicBezTo>
                  <a:close/>
                </a:path>
              </a:pathLst>
            </a:custGeom>
            <a:solidFill>
              <a:srgbClr val="000000">
                <a:alpha val="0"/>
              </a:srgbClr>
            </a:solidFill>
            <a:ln w="38100" cap="rnd">
              <a:solidFill>
                <a:srgbClr val="0031BB"/>
              </a:solidFill>
              <a:prstDash val="solid"/>
              <a:round/>
            </a:ln>
          </p:spPr>
          <p:txBody>
            <a:bodyPr/>
            <a:lstStyle/>
            <a:p>
              <a:endParaRPr lang="en-US">
                <a:latin typeface="Segoe UI" panose="020B0502040204020203" pitchFamily="34" charset="0"/>
                <a:cs typeface="Segoe UI" panose="020B0502040204020203" pitchFamily="34" charset="0"/>
              </a:endParaRPr>
            </a:p>
          </p:txBody>
        </p:sp>
        <p:sp>
          <p:nvSpPr>
            <p:cNvPr id="4" name="TextBox 4"/>
            <p:cNvSpPr txBox="1"/>
            <p:nvPr/>
          </p:nvSpPr>
          <p:spPr>
            <a:xfrm>
              <a:off x="0" y="-38100"/>
              <a:ext cx="2736287" cy="805469"/>
            </a:xfrm>
            <a:prstGeom prst="rect">
              <a:avLst/>
            </a:prstGeom>
          </p:spPr>
          <p:txBody>
            <a:bodyPr lIns="50800" tIns="50800" rIns="50800" bIns="50800" rtlCol="0" anchor="ctr"/>
            <a:lstStyle/>
            <a:p>
              <a:pPr algn="r" rtl="1">
                <a:lnSpc>
                  <a:spcPts val="3360"/>
                </a:lnSpc>
              </a:pPr>
              <a:r>
                <a:rPr lang="en-US" sz="2400" dirty="0">
                  <a:solidFill>
                    <a:srgbClr val="212121"/>
                  </a:solidFill>
                  <a:latin typeface="Segoe UI" panose="020B0502040204020203" pitchFamily="34" charset="0"/>
                  <a:ea typeface="Garet"/>
                  <a:cs typeface="Segoe UI" panose="020B0502040204020203" pitchFamily="34" charset="0"/>
                  <a:sym typeface="Garet"/>
                  <a:rtl/>
                </a:rPr>
                <a:t>3</a:t>
              </a:r>
              <a:r>
                <a:rPr lang="ar-EG" sz="2400" dirty="0">
                  <a:solidFill>
                    <a:srgbClr val="212121"/>
                  </a:solidFill>
                  <a:latin typeface="Segoe UI" panose="020B0502040204020203" pitchFamily="34" charset="0"/>
                  <a:ea typeface="Garet"/>
                  <a:cs typeface="Segoe UI" panose="020B0502040204020203" pitchFamily="34" charset="0"/>
                  <a:sym typeface="Garet"/>
                  <a:rtl/>
                </a:rPr>
                <a:t>- عدد محطات الصرف الصحي </a:t>
              </a:r>
            </a:p>
            <a:p>
              <a:pPr algn="r" rtl="1">
                <a:lnSpc>
                  <a:spcPts val="3360"/>
                </a:lnSpc>
              </a:pPr>
              <a:r>
                <a:rPr lang="ar-EG" sz="2400" dirty="0">
                  <a:solidFill>
                    <a:srgbClr val="212121"/>
                  </a:solidFill>
                  <a:latin typeface="Segoe UI" panose="020B0502040204020203" pitchFamily="34" charset="0"/>
                  <a:ea typeface="Garet"/>
                  <a:cs typeface="Segoe UI" panose="020B0502040204020203" pitchFamily="34" charset="0"/>
                  <a:sym typeface="Garet"/>
                  <a:rtl/>
                </a:rPr>
                <a:t>   يوضح الرسم البياني استقرار عدد محطات الصرف الصحي خلال الفترات </a:t>
              </a:r>
              <a:r>
                <a:rPr lang="en-US" sz="2400" dirty="0">
                  <a:solidFill>
                    <a:srgbClr val="212121"/>
                  </a:solidFill>
                  <a:latin typeface="Segoe UI" panose="020B0502040204020203" pitchFamily="34" charset="0"/>
                  <a:ea typeface="Garet"/>
                  <a:cs typeface="Segoe UI" panose="020B0502040204020203" pitchFamily="34" charset="0"/>
                  <a:sym typeface="Garet"/>
                </a:rPr>
                <a:t>2018/2019</a:t>
              </a:r>
              <a:r>
                <a:rPr lang="ar-EG" sz="2400" dirty="0">
                  <a:solidFill>
                    <a:srgbClr val="212121"/>
                  </a:solidFill>
                  <a:latin typeface="Segoe UI" panose="020B0502040204020203" pitchFamily="34" charset="0"/>
                  <a:ea typeface="Garet"/>
                  <a:cs typeface="Segoe UI" panose="020B0502040204020203" pitchFamily="34" charset="0"/>
                  <a:sym typeface="Garet"/>
                  <a:rtl/>
                </a:rPr>
                <a:t> حتى </a:t>
              </a:r>
              <a:r>
                <a:rPr lang="en-US" sz="2400" dirty="0">
                  <a:solidFill>
                    <a:srgbClr val="212121"/>
                  </a:solidFill>
                  <a:latin typeface="Segoe UI" panose="020B0502040204020203" pitchFamily="34" charset="0"/>
                  <a:ea typeface="Garet"/>
                  <a:cs typeface="Segoe UI" panose="020B0502040204020203" pitchFamily="34" charset="0"/>
                  <a:sym typeface="Garet"/>
                </a:rPr>
                <a:t>2021/2022</a:t>
              </a:r>
              <a:r>
                <a:rPr lang="ar-EG" sz="2400" dirty="0">
                  <a:solidFill>
                    <a:srgbClr val="212121"/>
                  </a:solidFill>
                  <a:latin typeface="Segoe UI" panose="020B0502040204020203" pitchFamily="34" charset="0"/>
                  <a:ea typeface="Garet"/>
                  <a:cs typeface="Segoe UI" panose="020B0502040204020203" pitchFamily="34" charset="0"/>
                  <a:sym typeface="Garet"/>
                  <a:rtl/>
                </a:rPr>
                <a:t>، مما يشير إلى ثبات نسبي في البنية التحتية الخاصة بمعالجة مياه الصرف.</a:t>
              </a:r>
            </a:p>
          </p:txBody>
        </p:sp>
      </p:grpSp>
      <p:sp>
        <p:nvSpPr>
          <p:cNvPr id="5" name="Freeform 5"/>
          <p:cNvSpPr/>
          <p:nvPr/>
        </p:nvSpPr>
        <p:spPr>
          <a:xfrm>
            <a:off x="1028699" y="408708"/>
            <a:ext cx="764652" cy="790499"/>
          </a:xfrm>
          <a:custGeom>
            <a:avLst/>
            <a:gdLst/>
            <a:ahLst/>
            <a:cxnLst/>
            <a:rect l="l" t="t" r="r" b="b"/>
            <a:pathLst>
              <a:path w="764652" h="790499">
                <a:moveTo>
                  <a:pt x="0" y="0"/>
                </a:moveTo>
                <a:lnTo>
                  <a:pt x="764652" y="0"/>
                </a:lnTo>
                <a:lnTo>
                  <a:pt x="764652" y="790499"/>
                </a:lnTo>
                <a:lnTo>
                  <a:pt x="0" y="79049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latin typeface="Segoe UI" panose="020B0502040204020203" pitchFamily="34" charset="0"/>
              <a:cs typeface="Segoe UI" panose="020B0502040204020203" pitchFamily="34" charset="0"/>
            </a:endParaRPr>
          </a:p>
        </p:txBody>
      </p:sp>
      <p:sp>
        <p:nvSpPr>
          <p:cNvPr id="6" name="Freeform 6"/>
          <p:cNvSpPr/>
          <p:nvPr/>
        </p:nvSpPr>
        <p:spPr>
          <a:xfrm>
            <a:off x="420708" y="2129933"/>
            <a:ext cx="8360870" cy="5116345"/>
          </a:xfrm>
          <a:custGeom>
            <a:avLst/>
            <a:gdLst/>
            <a:ahLst/>
            <a:cxnLst/>
            <a:rect l="l" t="t" r="r" b="b"/>
            <a:pathLst>
              <a:path w="8360870" h="5116345">
                <a:moveTo>
                  <a:pt x="0" y="0"/>
                </a:moveTo>
                <a:lnTo>
                  <a:pt x="8360870" y="0"/>
                </a:lnTo>
                <a:lnTo>
                  <a:pt x="8360870" y="5116345"/>
                </a:lnTo>
                <a:lnTo>
                  <a:pt x="0" y="5116345"/>
                </a:lnTo>
                <a:lnTo>
                  <a:pt x="0" y="0"/>
                </a:lnTo>
                <a:close/>
              </a:path>
            </a:pathLst>
          </a:custGeom>
          <a:blipFill>
            <a:blip r:embed="rId4"/>
            <a:stretch>
              <a:fillRect t="-3032" b="-30"/>
            </a:stretch>
          </a:blipFill>
        </p:spPr>
        <p:txBody>
          <a:bodyPr/>
          <a:lstStyle/>
          <a:p>
            <a:endParaRPr lang="en-US">
              <a:latin typeface="Segoe UI" panose="020B0502040204020203" pitchFamily="34" charset="0"/>
              <a:cs typeface="Segoe UI" panose="020B0502040204020203" pitchFamily="34" charset="0"/>
            </a:endParaRPr>
          </a:p>
        </p:txBody>
      </p:sp>
      <p:sp>
        <p:nvSpPr>
          <p:cNvPr id="7" name="Freeform 7"/>
          <p:cNvSpPr/>
          <p:nvPr/>
        </p:nvSpPr>
        <p:spPr>
          <a:xfrm>
            <a:off x="10693529" y="1972806"/>
            <a:ext cx="5780557" cy="5273472"/>
          </a:xfrm>
          <a:custGeom>
            <a:avLst/>
            <a:gdLst/>
            <a:ahLst/>
            <a:cxnLst/>
            <a:rect l="l" t="t" r="r" b="b"/>
            <a:pathLst>
              <a:path w="5780557" h="5273472">
                <a:moveTo>
                  <a:pt x="0" y="0"/>
                </a:moveTo>
                <a:lnTo>
                  <a:pt x="5780558" y="0"/>
                </a:lnTo>
                <a:lnTo>
                  <a:pt x="5780558" y="5273472"/>
                </a:lnTo>
                <a:lnTo>
                  <a:pt x="0" y="5273472"/>
                </a:lnTo>
                <a:lnTo>
                  <a:pt x="0" y="0"/>
                </a:lnTo>
                <a:close/>
              </a:path>
            </a:pathLst>
          </a:custGeom>
          <a:blipFill>
            <a:blip r:embed="rId5"/>
            <a:stretch>
              <a:fillRect l="-70" r="-9501" b="-32872"/>
            </a:stretch>
          </a:blipFill>
        </p:spPr>
        <p:txBody>
          <a:bodyPr/>
          <a:lstStyle/>
          <a:p>
            <a:endParaRPr lang="en-US">
              <a:latin typeface="Segoe UI" panose="020B0502040204020203" pitchFamily="34" charset="0"/>
              <a:cs typeface="Segoe UI" panose="020B0502040204020203" pitchFamily="34" charset="0"/>
            </a:endParaRPr>
          </a:p>
        </p:txBody>
      </p:sp>
      <p:sp>
        <p:nvSpPr>
          <p:cNvPr id="8" name="TextBox 8"/>
          <p:cNvSpPr txBox="1"/>
          <p:nvPr/>
        </p:nvSpPr>
        <p:spPr>
          <a:xfrm>
            <a:off x="13635475" y="638857"/>
            <a:ext cx="3623826" cy="330200"/>
          </a:xfrm>
          <a:prstGeom prst="rect">
            <a:avLst/>
          </a:prstGeom>
        </p:spPr>
        <p:txBody>
          <a:bodyPr lIns="0" tIns="0" rIns="0" bIns="0" rtlCol="0" anchor="t">
            <a:spAutoFit/>
          </a:bodyPr>
          <a:lstStyle/>
          <a:p>
            <a:pPr algn="r" rtl="1">
              <a:lnSpc>
                <a:spcPts val="2799"/>
              </a:lnSpc>
              <a:spcBef>
                <a:spcPct val="0"/>
              </a:spcBef>
            </a:pPr>
            <a:r>
              <a:rPr lang="ar-EG" sz="1999" b="1" dirty="0">
                <a:solidFill>
                  <a:srgbClr val="0031BB"/>
                </a:solidFill>
                <a:latin typeface="Segoe UI" panose="020B0502040204020203" pitchFamily="34" charset="0"/>
                <a:ea typeface="Playfair Display Bold"/>
                <a:cs typeface="Segoe UI" panose="020B0502040204020203" pitchFamily="34" charset="0"/>
                <a:sym typeface="Playfair Display Bold"/>
                <a:rtl/>
              </a:rPr>
              <a:t>صفحة  </a:t>
            </a:r>
            <a:r>
              <a:rPr lang="en-US" sz="1999" b="1" dirty="0">
                <a:solidFill>
                  <a:srgbClr val="0031BB"/>
                </a:solidFill>
                <a:latin typeface="Segoe UI" panose="020B0502040204020203" pitchFamily="34" charset="0"/>
                <a:ea typeface="Playfair Display Bold"/>
                <a:cs typeface="Segoe UI" panose="020B0502040204020203" pitchFamily="34" charset="0"/>
                <a:sym typeface="Playfair Display Bold"/>
              </a:rPr>
              <a:t>12</a:t>
            </a:r>
          </a:p>
        </p:txBody>
      </p:sp>
      <p:grpSp>
        <p:nvGrpSpPr>
          <p:cNvPr id="9" name="Group 9"/>
          <p:cNvGrpSpPr/>
          <p:nvPr/>
        </p:nvGrpSpPr>
        <p:grpSpPr>
          <a:xfrm>
            <a:off x="9144000" y="7557012"/>
            <a:ext cx="8879616" cy="2303514"/>
            <a:chOff x="0" y="0"/>
            <a:chExt cx="2906059" cy="753878"/>
          </a:xfrm>
        </p:grpSpPr>
        <p:sp>
          <p:nvSpPr>
            <p:cNvPr id="10" name="Freeform 10"/>
            <p:cNvSpPr/>
            <p:nvPr/>
          </p:nvSpPr>
          <p:spPr>
            <a:xfrm>
              <a:off x="0" y="0"/>
              <a:ext cx="2906059" cy="753878"/>
            </a:xfrm>
            <a:custGeom>
              <a:avLst/>
              <a:gdLst/>
              <a:ahLst/>
              <a:cxnLst/>
              <a:rect l="l" t="t" r="r" b="b"/>
              <a:pathLst>
                <a:path w="2906059" h="753878">
                  <a:moveTo>
                    <a:pt x="34003" y="0"/>
                  </a:moveTo>
                  <a:lnTo>
                    <a:pt x="2872056" y="0"/>
                  </a:lnTo>
                  <a:cubicBezTo>
                    <a:pt x="2890835" y="0"/>
                    <a:pt x="2906059" y="15224"/>
                    <a:pt x="2906059" y="34003"/>
                  </a:cubicBezTo>
                  <a:lnTo>
                    <a:pt x="2906059" y="719875"/>
                  </a:lnTo>
                  <a:cubicBezTo>
                    <a:pt x="2906059" y="728893"/>
                    <a:pt x="2902476" y="737542"/>
                    <a:pt x="2896100" y="743919"/>
                  </a:cubicBezTo>
                  <a:cubicBezTo>
                    <a:pt x="2889723" y="750295"/>
                    <a:pt x="2881074" y="753878"/>
                    <a:pt x="2872056" y="753878"/>
                  </a:cubicBezTo>
                  <a:lnTo>
                    <a:pt x="34003" y="753878"/>
                  </a:lnTo>
                  <a:cubicBezTo>
                    <a:pt x="15224" y="753878"/>
                    <a:pt x="0" y="738654"/>
                    <a:pt x="0" y="719875"/>
                  </a:cubicBezTo>
                  <a:lnTo>
                    <a:pt x="0" y="34003"/>
                  </a:lnTo>
                  <a:cubicBezTo>
                    <a:pt x="0" y="24985"/>
                    <a:pt x="3582" y="16336"/>
                    <a:pt x="9959" y="9959"/>
                  </a:cubicBezTo>
                  <a:cubicBezTo>
                    <a:pt x="16336" y="3582"/>
                    <a:pt x="24985" y="0"/>
                    <a:pt x="34003" y="0"/>
                  </a:cubicBezTo>
                  <a:close/>
                </a:path>
              </a:pathLst>
            </a:custGeom>
            <a:solidFill>
              <a:srgbClr val="000000">
                <a:alpha val="0"/>
              </a:srgbClr>
            </a:solidFill>
            <a:ln w="38100" cap="rnd">
              <a:solidFill>
                <a:srgbClr val="0031BB"/>
              </a:solidFill>
              <a:prstDash val="solid"/>
              <a:round/>
            </a:ln>
          </p:spPr>
          <p:txBody>
            <a:bodyPr/>
            <a:lstStyle/>
            <a:p>
              <a:endParaRPr lang="en-US">
                <a:latin typeface="Segoe UI" panose="020B0502040204020203" pitchFamily="34" charset="0"/>
                <a:cs typeface="Segoe UI" panose="020B0502040204020203" pitchFamily="34" charset="0"/>
              </a:endParaRPr>
            </a:p>
          </p:txBody>
        </p:sp>
        <p:sp>
          <p:nvSpPr>
            <p:cNvPr id="11" name="TextBox 11"/>
            <p:cNvSpPr txBox="1"/>
            <p:nvPr/>
          </p:nvSpPr>
          <p:spPr>
            <a:xfrm>
              <a:off x="0" y="-38100"/>
              <a:ext cx="2906059" cy="791978"/>
            </a:xfrm>
            <a:prstGeom prst="rect">
              <a:avLst/>
            </a:prstGeom>
          </p:spPr>
          <p:txBody>
            <a:bodyPr lIns="50800" tIns="50800" rIns="50800" bIns="50800" rtlCol="0" anchor="ctr"/>
            <a:lstStyle/>
            <a:p>
              <a:pPr algn="r" rtl="1">
                <a:lnSpc>
                  <a:spcPts val="3360"/>
                </a:lnSpc>
              </a:pPr>
              <a:r>
                <a:rPr lang="en-US" sz="2400" dirty="0">
                  <a:solidFill>
                    <a:srgbClr val="212121"/>
                  </a:solidFill>
                  <a:latin typeface="Segoe UI" panose="020B0502040204020203" pitchFamily="34" charset="0"/>
                  <a:ea typeface="Garet"/>
                  <a:cs typeface="Segoe UI" panose="020B0502040204020203" pitchFamily="34" charset="0"/>
                  <a:sym typeface="Garet"/>
                  <a:rtl/>
                </a:rPr>
                <a:t>4</a:t>
              </a:r>
              <a:r>
                <a:rPr lang="ar-EG" sz="2400" dirty="0">
                  <a:solidFill>
                    <a:srgbClr val="212121"/>
                  </a:solidFill>
                  <a:latin typeface="Segoe UI" panose="020B0502040204020203" pitchFamily="34" charset="0"/>
                  <a:ea typeface="Garet"/>
                  <a:cs typeface="Segoe UI" panose="020B0502040204020203" pitchFamily="34" charset="0"/>
                  <a:sym typeface="Garet"/>
                  <a:rtl/>
                </a:rPr>
                <a:t>- كمية المياه الزراعية</a:t>
              </a:r>
            </a:p>
            <a:p>
              <a:pPr algn="r" rtl="1">
                <a:lnSpc>
                  <a:spcPts val="3360"/>
                </a:lnSpc>
              </a:pPr>
              <a:r>
                <a:rPr lang="ar-EG" sz="2400" dirty="0">
                  <a:solidFill>
                    <a:srgbClr val="212121"/>
                  </a:solidFill>
                  <a:latin typeface="Segoe UI" panose="020B0502040204020203" pitchFamily="34" charset="0"/>
                  <a:ea typeface="Garet"/>
                  <a:cs typeface="Segoe UI" panose="020B0502040204020203" pitchFamily="34" charset="0"/>
                  <a:sym typeface="Garet"/>
                  <a:rtl/>
                </a:rPr>
                <a:t>يشير مؤشر القياس إلى أن كمية المياه الزراعية بلغت </a:t>
              </a:r>
              <a:r>
                <a:rPr lang="en-US" sz="2400" dirty="0">
                  <a:solidFill>
                    <a:srgbClr val="212121"/>
                  </a:solidFill>
                  <a:latin typeface="Segoe UI" panose="020B0502040204020203" pitchFamily="34" charset="0"/>
                  <a:ea typeface="Garet"/>
                  <a:cs typeface="Segoe UI" panose="020B0502040204020203" pitchFamily="34" charset="0"/>
                  <a:sym typeface="Garet"/>
                </a:rPr>
                <a:t>6545</a:t>
              </a:r>
              <a:r>
                <a:rPr lang="ar-EG" sz="2400" dirty="0">
                  <a:solidFill>
                    <a:srgbClr val="212121"/>
                  </a:solidFill>
                  <a:latin typeface="Segoe UI" panose="020B0502040204020203" pitchFamily="34" charset="0"/>
                  <a:ea typeface="Garet"/>
                  <a:cs typeface="Segoe UI" panose="020B0502040204020203" pitchFamily="34" charset="0"/>
                  <a:sym typeface="Garet"/>
                  <a:rtl/>
                </a:rPr>
                <a:t> من أصل </a:t>
              </a:r>
              <a:r>
                <a:rPr lang="en-US" sz="2400" dirty="0">
                  <a:solidFill>
                    <a:srgbClr val="212121"/>
                  </a:solidFill>
                  <a:latin typeface="Segoe UI" panose="020B0502040204020203" pitchFamily="34" charset="0"/>
                  <a:ea typeface="Garet"/>
                  <a:cs typeface="Segoe UI" panose="020B0502040204020203" pitchFamily="34" charset="0"/>
                  <a:sym typeface="Garet"/>
                </a:rPr>
                <a:t>7211</a:t>
              </a:r>
              <a:r>
                <a:rPr lang="ar-EG" sz="2400" dirty="0">
                  <a:solidFill>
                    <a:srgbClr val="212121"/>
                  </a:solidFill>
                  <a:latin typeface="Segoe UI" panose="020B0502040204020203" pitchFamily="34" charset="0"/>
                  <a:ea typeface="Garet"/>
                  <a:cs typeface="Segoe UI" panose="020B0502040204020203" pitchFamily="34" charset="0"/>
                  <a:sym typeface="Garet"/>
                  <a:rtl/>
                </a:rPr>
                <a:t>، مما يعكس مستوى مرتفع من استهلاك المياه في القطاع الزراعي مقارنة بالحد الأقصى المتاح</a:t>
              </a:r>
            </a:p>
          </p:txBody>
        </p:sp>
      </p:grpSp>
      <p:sp>
        <p:nvSpPr>
          <p:cNvPr id="12" name="TextBox 12"/>
          <p:cNvSpPr txBox="1"/>
          <p:nvPr/>
        </p:nvSpPr>
        <p:spPr>
          <a:xfrm>
            <a:off x="4552379" y="275908"/>
            <a:ext cx="9183241" cy="865622"/>
          </a:xfrm>
          <a:prstGeom prst="rect">
            <a:avLst/>
          </a:prstGeom>
        </p:spPr>
        <p:txBody>
          <a:bodyPr lIns="0" tIns="0" rIns="0" bIns="0" rtlCol="0" anchor="t">
            <a:spAutoFit/>
          </a:bodyPr>
          <a:lstStyle/>
          <a:p>
            <a:pPr algn="ctr" rtl="1">
              <a:lnSpc>
                <a:spcPts val="7420"/>
              </a:lnSpc>
            </a:pPr>
            <a:r>
              <a:rPr lang="en-US" sz="5300" b="1">
                <a:solidFill>
                  <a:srgbClr val="0031BB"/>
                </a:solidFill>
                <a:latin typeface="Segoe UI" panose="020B0502040204020203" pitchFamily="34" charset="0"/>
                <a:ea typeface="Playfair Display Bold"/>
                <a:cs typeface="Segoe UI" panose="020B0502040204020203" pitchFamily="34" charset="0"/>
                <a:sym typeface="Playfair Display Bold"/>
              </a:rPr>
              <a:t>4</a:t>
            </a:r>
            <a:r>
              <a:rPr lang="ar-EG" sz="5300" b="1">
                <a:solidFill>
                  <a:srgbClr val="0031BB"/>
                </a:solidFill>
                <a:latin typeface="Segoe UI" panose="020B0502040204020203" pitchFamily="34" charset="0"/>
                <a:ea typeface="Playfair Display Bold"/>
                <a:cs typeface="Segoe UI" panose="020B0502040204020203" pitchFamily="34" charset="0"/>
                <a:sym typeface="Playfair Display Bold"/>
                <a:rtl/>
              </a:rPr>
              <a:t>- النتائج وال </a:t>
            </a:r>
            <a:r>
              <a:rPr lang="en-US" sz="5300" b="1">
                <a:solidFill>
                  <a:srgbClr val="0031BB"/>
                </a:solidFill>
                <a:latin typeface="Segoe UI" panose="020B0502040204020203" pitchFamily="34" charset="0"/>
                <a:ea typeface="Playfair Display Bold"/>
                <a:cs typeface="Segoe UI" panose="020B0502040204020203" pitchFamily="34" charset="0"/>
                <a:sym typeface="Playfair Display Bold"/>
              </a:rPr>
              <a:t>visuals</a:t>
            </a:r>
            <a:r>
              <a:rPr lang="ar-EG" sz="5300" b="1">
                <a:solidFill>
                  <a:srgbClr val="0031BB"/>
                </a:solidFill>
                <a:latin typeface="Segoe UI" panose="020B0502040204020203" pitchFamily="34" charset="0"/>
                <a:ea typeface="Playfair Display Bold"/>
                <a:cs typeface="Segoe UI" panose="020B0502040204020203" pitchFamily="34" charset="0"/>
                <a:sym typeface="Playfair Display Bold"/>
                <a:rtl/>
              </a:rPr>
              <a:t>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0F0F0"/>
        </a:solidFill>
        <a:effectLst/>
      </p:bgPr>
    </p:bg>
    <p:spTree>
      <p:nvGrpSpPr>
        <p:cNvPr id="1" name=""/>
        <p:cNvGrpSpPr/>
        <p:nvPr/>
      </p:nvGrpSpPr>
      <p:grpSpPr>
        <a:xfrm>
          <a:off x="0" y="0"/>
          <a:ext cx="0" cy="0"/>
          <a:chOff x="0" y="0"/>
          <a:chExt cx="0" cy="0"/>
        </a:xfrm>
      </p:grpSpPr>
      <p:grpSp>
        <p:nvGrpSpPr>
          <p:cNvPr id="2" name="Group 2"/>
          <p:cNvGrpSpPr/>
          <p:nvPr/>
        </p:nvGrpSpPr>
        <p:grpSpPr>
          <a:xfrm>
            <a:off x="420708" y="7557012"/>
            <a:ext cx="8360870" cy="2344738"/>
            <a:chOff x="0" y="0"/>
            <a:chExt cx="2736287" cy="767369"/>
          </a:xfrm>
        </p:grpSpPr>
        <p:sp>
          <p:nvSpPr>
            <p:cNvPr id="3" name="Freeform 3"/>
            <p:cNvSpPr/>
            <p:nvPr/>
          </p:nvSpPr>
          <p:spPr>
            <a:xfrm>
              <a:off x="0" y="0"/>
              <a:ext cx="2736287" cy="767369"/>
            </a:xfrm>
            <a:custGeom>
              <a:avLst/>
              <a:gdLst/>
              <a:ahLst/>
              <a:cxnLst/>
              <a:rect l="l" t="t" r="r" b="b"/>
              <a:pathLst>
                <a:path w="2736287" h="767369">
                  <a:moveTo>
                    <a:pt x="36113" y="0"/>
                  </a:moveTo>
                  <a:lnTo>
                    <a:pt x="2700174" y="0"/>
                  </a:lnTo>
                  <a:cubicBezTo>
                    <a:pt x="2709752" y="0"/>
                    <a:pt x="2718938" y="3805"/>
                    <a:pt x="2725710" y="10577"/>
                  </a:cubicBezTo>
                  <a:cubicBezTo>
                    <a:pt x="2732482" y="17350"/>
                    <a:pt x="2736287" y="26535"/>
                    <a:pt x="2736287" y="36113"/>
                  </a:cubicBezTo>
                  <a:lnTo>
                    <a:pt x="2736287" y="731257"/>
                  </a:lnTo>
                  <a:cubicBezTo>
                    <a:pt x="2736287" y="751201"/>
                    <a:pt x="2720119" y="767369"/>
                    <a:pt x="2700174" y="767369"/>
                  </a:cubicBezTo>
                  <a:lnTo>
                    <a:pt x="36113" y="767369"/>
                  </a:lnTo>
                  <a:cubicBezTo>
                    <a:pt x="16168" y="767369"/>
                    <a:pt x="0" y="751201"/>
                    <a:pt x="0" y="731257"/>
                  </a:cubicBezTo>
                  <a:lnTo>
                    <a:pt x="0" y="36113"/>
                  </a:lnTo>
                  <a:cubicBezTo>
                    <a:pt x="0" y="16168"/>
                    <a:pt x="16168" y="0"/>
                    <a:pt x="36113" y="0"/>
                  </a:cubicBezTo>
                  <a:close/>
                </a:path>
              </a:pathLst>
            </a:custGeom>
            <a:solidFill>
              <a:srgbClr val="000000">
                <a:alpha val="0"/>
              </a:srgbClr>
            </a:solidFill>
            <a:ln w="38100" cap="rnd">
              <a:solidFill>
                <a:srgbClr val="0031BB"/>
              </a:solidFill>
              <a:prstDash val="solid"/>
              <a:round/>
            </a:ln>
          </p:spPr>
          <p:txBody>
            <a:bodyPr/>
            <a:lstStyle/>
            <a:p>
              <a:endParaRPr lang="en-US">
                <a:latin typeface="Segoe UI" panose="020B0502040204020203" pitchFamily="34" charset="0"/>
                <a:cs typeface="Segoe UI" panose="020B0502040204020203" pitchFamily="34" charset="0"/>
              </a:endParaRPr>
            </a:p>
          </p:txBody>
        </p:sp>
        <p:sp>
          <p:nvSpPr>
            <p:cNvPr id="4" name="TextBox 4"/>
            <p:cNvSpPr txBox="1"/>
            <p:nvPr/>
          </p:nvSpPr>
          <p:spPr>
            <a:xfrm>
              <a:off x="0" y="-38100"/>
              <a:ext cx="2736287" cy="805469"/>
            </a:xfrm>
            <a:prstGeom prst="rect">
              <a:avLst/>
            </a:prstGeom>
          </p:spPr>
          <p:txBody>
            <a:bodyPr lIns="50800" tIns="50800" rIns="50800" bIns="50800" rtlCol="0" anchor="ctr"/>
            <a:lstStyle/>
            <a:p>
              <a:pPr algn="r" rtl="1">
                <a:lnSpc>
                  <a:spcPts val="3360"/>
                </a:lnSpc>
              </a:pPr>
              <a:r>
                <a:rPr lang="ar-EG" sz="2400" dirty="0">
                  <a:solidFill>
                    <a:srgbClr val="212121"/>
                  </a:solidFill>
                  <a:latin typeface="Segoe UI" panose="020B0502040204020203" pitchFamily="34" charset="0"/>
                  <a:ea typeface="Garet"/>
                  <a:cs typeface="Segoe UI" panose="020B0502040204020203" pitchFamily="34" charset="0"/>
                  <a:sym typeface="Garet"/>
                  <a:rtl/>
                </a:rPr>
                <a:t>5- عدد محطات رصد جودة البحيرات</a:t>
              </a:r>
            </a:p>
            <a:p>
              <a:pPr algn="r" rtl="1">
                <a:lnSpc>
                  <a:spcPts val="3360"/>
                </a:lnSpc>
              </a:pPr>
              <a:r>
                <a:rPr lang="ar-EG" sz="2400" dirty="0">
                  <a:solidFill>
                    <a:srgbClr val="212121"/>
                  </a:solidFill>
                  <a:latin typeface="Segoe UI" panose="020B0502040204020203" pitchFamily="34" charset="0"/>
                  <a:ea typeface="Garet"/>
                  <a:cs typeface="Segoe UI" panose="020B0502040204020203" pitchFamily="34" charset="0"/>
                  <a:sym typeface="Garet"/>
                  <a:rtl/>
                </a:rPr>
                <a:t>يوضح الرسم التفاعلي أن بحيرة المنزلة وبحيرة البرولوس تمتلكان أكبر عدد من محطات الرصد، بينما تتوزع باقي المحطات على بحيرات أخرى مثل قارون وإدكو والتمساح، مما يدل على التركيز الرقابي في البحيرات الكبرى</a:t>
              </a:r>
            </a:p>
          </p:txBody>
        </p:sp>
      </p:grpSp>
      <p:sp>
        <p:nvSpPr>
          <p:cNvPr id="5" name="Freeform 5"/>
          <p:cNvSpPr/>
          <p:nvPr/>
        </p:nvSpPr>
        <p:spPr>
          <a:xfrm>
            <a:off x="1039586" y="374726"/>
            <a:ext cx="764652" cy="790499"/>
          </a:xfrm>
          <a:custGeom>
            <a:avLst/>
            <a:gdLst/>
            <a:ahLst/>
            <a:cxnLst/>
            <a:rect l="l" t="t" r="r" b="b"/>
            <a:pathLst>
              <a:path w="764652" h="790499">
                <a:moveTo>
                  <a:pt x="0" y="0"/>
                </a:moveTo>
                <a:lnTo>
                  <a:pt x="764652" y="0"/>
                </a:lnTo>
                <a:lnTo>
                  <a:pt x="764652" y="790499"/>
                </a:lnTo>
                <a:lnTo>
                  <a:pt x="0" y="79049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latin typeface="Segoe UI" panose="020B0502040204020203" pitchFamily="34" charset="0"/>
              <a:cs typeface="Segoe UI" panose="020B0502040204020203" pitchFamily="34" charset="0"/>
            </a:endParaRPr>
          </a:p>
        </p:txBody>
      </p:sp>
      <p:sp>
        <p:nvSpPr>
          <p:cNvPr id="6" name="Freeform 6"/>
          <p:cNvSpPr/>
          <p:nvPr/>
        </p:nvSpPr>
        <p:spPr>
          <a:xfrm>
            <a:off x="420708" y="2129933"/>
            <a:ext cx="8360870" cy="5116345"/>
          </a:xfrm>
          <a:custGeom>
            <a:avLst/>
            <a:gdLst/>
            <a:ahLst/>
            <a:cxnLst/>
            <a:rect l="l" t="t" r="r" b="b"/>
            <a:pathLst>
              <a:path w="8360870" h="5116345">
                <a:moveTo>
                  <a:pt x="0" y="0"/>
                </a:moveTo>
                <a:lnTo>
                  <a:pt x="8360870" y="0"/>
                </a:lnTo>
                <a:lnTo>
                  <a:pt x="8360870" y="5116345"/>
                </a:lnTo>
                <a:lnTo>
                  <a:pt x="0" y="5116345"/>
                </a:lnTo>
                <a:lnTo>
                  <a:pt x="0" y="0"/>
                </a:lnTo>
                <a:close/>
              </a:path>
            </a:pathLst>
          </a:custGeom>
          <a:blipFill>
            <a:blip r:embed="rId4"/>
            <a:stretch>
              <a:fillRect l="-6345" r="-6345"/>
            </a:stretch>
          </a:blipFill>
        </p:spPr>
        <p:txBody>
          <a:bodyPr/>
          <a:lstStyle/>
          <a:p>
            <a:endParaRPr lang="en-US">
              <a:latin typeface="Segoe UI" panose="020B0502040204020203" pitchFamily="34" charset="0"/>
              <a:cs typeface="Segoe UI" panose="020B0502040204020203" pitchFamily="34" charset="0"/>
            </a:endParaRPr>
          </a:p>
        </p:txBody>
      </p:sp>
      <p:sp>
        <p:nvSpPr>
          <p:cNvPr id="7" name="Freeform 7"/>
          <p:cNvSpPr/>
          <p:nvPr/>
        </p:nvSpPr>
        <p:spPr>
          <a:xfrm>
            <a:off x="11204226" y="2129933"/>
            <a:ext cx="4243161" cy="5116345"/>
          </a:xfrm>
          <a:custGeom>
            <a:avLst/>
            <a:gdLst/>
            <a:ahLst/>
            <a:cxnLst/>
            <a:rect l="l" t="t" r="r" b="b"/>
            <a:pathLst>
              <a:path w="4243161" h="5116345">
                <a:moveTo>
                  <a:pt x="0" y="0"/>
                </a:moveTo>
                <a:lnTo>
                  <a:pt x="4243161" y="0"/>
                </a:lnTo>
                <a:lnTo>
                  <a:pt x="4243161" y="5116345"/>
                </a:lnTo>
                <a:lnTo>
                  <a:pt x="0" y="5116345"/>
                </a:lnTo>
                <a:lnTo>
                  <a:pt x="0" y="0"/>
                </a:lnTo>
                <a:close/>
              </a:path>
            </a:pathLst>
          </a:custGeom>
          <a:blipFill>
            <a:blip r:embed="rId5"/>
            <a:stretch>
              <a:fillRect l="-3893" r="-1565" b="-1202"/>
            </a:stretch>
          </a:blipFill>
        </p:spPr>
        <p:txBody>
          <a:bodyPr/>
          <a:lstStyle/>
          <a:p>
            <a:endParaRPr lang="en-US">
              <a:latin typeface="Segoe UI" panose="020B0502040204020203" pitchFamily="34" charset="0"/>
              <a:cs typeface="Segoe UI" panose="020B0502040204020203" pitchFamily="34" charset="0"/>
            </a:endParaRPr>
          </a:p>
        </p:txBody>
      </p:sp>
      <p:grpSp>
        <p:nvGrpSpPr>
          <p:cNvPr id="8" name="Group 8"/>
          <p:cNvGrpSpPr/>
          <p:nvPr/>
        </p:nvGrpSpPr>
        <p:grpSpPr>
          <a:xfrm>
            <a:off x="9144000" y="7557012"/>
            <a:ext cx="8931282" cy="2344738"/>
            <a:chOff x="0" y="0"/>
            <a:chExt cx="2922968" cy="767369"/>
          </a:xfrm>
        </p:grpSpPr>
        <p:sp>
          <p:nvSpPr>
            <p:cNvPr id="9" name="Freeform 9"/>
            <p:cNvSpPr/>
            <p:nvPr/>
          </p:nvSpPr>
          <p:spPr>
            <a:xfrm>
              <a:off x="0" y="0"/>
              <a:ext cx="2922968" cy="767369"/>
            </a:xfrm>
            <a:custGeom>
              <a:avLst/>
              <a:gdLst/>
              <a:ahLst/>
              <a:cxnLst/>
              <a:rect l="l" t="t" r="r" b="b"/>
              <a:pathLst>
                <a:path w="2922968" h="767369">
                  <a:moveTo>
                    <a:pt x="33806" y="0"/>
                  </a:moveTo>
                  <a:lnTo>
                    <a:pt x="2889161" y="0"/>
                  </a:lnTo>
                  <a:cubicBezTo>
                    <a:pt x="2907832" y="0"/>
                    <a:pt x="2922968" y="15136"/>
                    <a:pt x="2922968" y="33806"/>
                  </a:cubicBezTo>
                  <a:lnTo>
                    <a:pt x="2922968" y="733563"/>
                  </a:lnTo>
                  <a:cubicBezTo>
                    <a:pt x="2922968" y="752234"/>
                    <a:pt x="2907832" y="767369"/>
                    <a:pt x="2889161" y="767369"/>
                  </a:cubicBezTo>
                  <a:lnTo>
                    <a:pt x="33806" y="767369"/>
                  </a:lnTo>
                  <a:cubicBezTo>
                    <a:pt x="24840" y="767369"/>
                    <a:pt x="16242" y="763808"/>
                    <a:pt x="9902" y="757468"/>
                  </a:cubicBezTo>
                  <a:cubicBezTo>
                    <a:pt x="3562" y="751128"/>
                    <a:pt x="0" y="742529"/>
                    <a:pt x="0" y="733563"/>
                  </a:cubicBezTo>
                  <a:lnTo>
                    <a:pt x="0" y="33806"/>
                  </a:lnTo>
                  <a:cubicBezTo>
                    <a:pt x="0" y="15136"/>
                    <a:pt x="15136" y="0"/>
                    <a:pt x="33806" y="0"/>
                  </a:cubicBezTo>
                  <a:close/>
                </a:path>
              </a:pathLst>
            </a:custGeom>
            <a:solidFill>
              <a:srgbClr val="000000">
                <a:alpha val="0"/>
              </a:srgbClr>
            </a:solidFill>
            <a:ln w="38100" cap="rnd">
              <a:solidFill>
                <a:srgbClr val="0031BB"/>
              </a:solidFill>
              <a:prstDash val="solid"/>
              <a:round/>
            </a:ln>
          </p:spPr>
          <p:txBody>
            <a:bodyPr/>
            <a:lstStyle/>
            <a:p>
              <a:endParaRPr lang="en-US">
                <a:latin typeface="Segoe UI" panose="020B0502040204020203" pitchFamily="34" charset="0"/>
                <a:cs typeface="Segoe UI" panose="020B0502040204020203" pitchFamily="34" charset="0"/>
              </a:endParaRPr>
            </a:p>
          </p:txBody>
        </p:sp>
        <p:sp>
          <p:nvSpPr>
            <p:cNvPr id="10" name="TextBox 10"/>
            <p:cNvSpPr txBox="1"/>
            <p:nvPr/>
          </p:nvSpPr>
          <p:spPr>
            <a:xfrm>
              <a:off x="0" y="-57150"/>
              <a:ext cx="2922968" cy="824519"/>
            </a:xfrm>
            <a:prstGeom prst="rect">
              <a:avLst/>
            </a:prstGeom>
          </p:spPr>
          <p:txBody>
            <a:bodyPr lIns="50800" tIns="50800" rIns="50800" bIns="50800" rtlCol="0" anchor="ctr"/>
            <a:lstStyle/>
            <a:p>
              <a:pPr algn="r" rtl="1">
                <a:lnSpc>
                  <a:spcPts val="3500"/>
                </a:lnSpc>
              </a:pPr>
              <a:r>
                <a:rPr lang="en-US" sz="2000" dirty="0">
                  <a:solidFill>
                    <a:srgbClr val="212121"/>
                  </a:solidFill>
                  <a:latin typeface="Segoe UI" panose="020B0502040204020203" pitchFamily="34" charset="0"/>
                  <a:ea typeface="Garet"/>
                  <a:cs typeface="Segoe UI" panose="020B0502040204020203" pitchFamily="34" charset="0"/>
                  <a:sym typeface="Garet"/>
                  <a:rtl/>
                </a:rPr>
                <a:t>6</a:t>
              </a:r>
              <a:r>
                <a:rPr lang="ar-EG" sz="2000" dirty="0">
                  <a:solidFill>
                    <a:srgbClr val="212121"/>
                  </a:solidFill>
                  <a:latin typeface="Segoe UI" panose="020B0502040204020203" pitchFamily="34" charset="0"/>
                  <a:ea typeface="Garet"/>
                  <a:cs typeface="Segoe UI" panose="020B0502040204020203" pitchFamily="34" charset="0"/>
                  <a:sym typeface="Garet"/>
                  <a:rtl/>
                </a:rPr>
                <a:t>-جودة المياه لمنطقة البحر المتوسط  </a:t>
              </a:r>
            </a:p>
            <a:p>
              <a:pPr algn="r" rtl="1">
                <a:lnSpc>
                  <a:spcPts val="3220"/>
                </a:lnSpc>
              </a:pPr>
              <a:r>
                <a:rPr lang="ar-EG" sz="2000" dirty="0">
                  <a:solidFill>
                    <a:srgbClr val="212121"/>
                  </a:solidFill>
                  <a:latin typeface="Segoe UI" panose="020B0502040204020203" pitchFamily="34" charset="0"/>
                  <a:ea typeface="Garet"/>
                  <a:cs typeface="Segoe UI" panose="020B0502040204020203" pitchFamily="34" charset="0"/>
                  <a:sym typeface="Garet"/>
                  <a:rtl/>
                </a:rPr>
                <a:t>يعرض الرسم الفقاعي تفاوتًا في جودة المياه عبر مواقع مختلفة في منطقة البحر المتوسط، حيث تختلف أحجام الفقاعات لتعكس مستويات الجودة أو التلوث. وتُظهر الفقاعة الأكبر تمثيلًا لمدينة الإسكندرية، مما يشير إلى أهمية موقعها في مراقبة جودة المياه أو إلى حجم البيانات المتوفرة عنها مقارنة بباقي المناطق.</a:t>
              </a:r>
            </a:p>
          </p:txBody>
        </p:sp>
      </p:grpSp>
      <p:sp>
        <p:nvSpPr>
          <p:cNvPr id="11" name="TextBox 11"/>
          <p:cNvSpPr txBox="1"/>
          <p:nvPr/>
        </p:nvSpPr>
        <p:spPr>
          <a:xfrm>
            <a:off x="13646359" y="713422"/>
            <a:ext cx="3623826" cy="330200"/>
          </a:xfrm>
          <a:prstGeom prst="rect">
            <a:avLst/>
          </a:prstGeom>
        </p:spPr>
        <p:txBody>
          <a:bodyPr lIns="0" tIns="0" rIns="0" bIns="0" rtlCol="0" anchor="t">
            <a:spAutoFit/>
          </a:bodyPr>
          <a:lstStyle/>
          <a:p>
            <a:pPr algn="r" rtl="1">
              <a:lnSpc>
                <a:spcPts val="2799"/>
              </a:lnSpc>
              <a:spcBef>
                <a:spcPct val="0"/>
              </a:spcBef>
            </a:pPr>
            <a:r>
              <a:rPr lang="ar-EG" sz="1999" b="1" dirty="0">
                <a:solidFill>
                  <a:srgbClr val="0031BB"/>
                </a:solidFill>
                <a:latin typeface="Segoe UI" panose="020B0502040204020203" pitchFamily="34" charset="0"/>
                <a:ea typeface="Playfair Display Bold"/>
                <a:cs typeface="Segoe UI" panose="020B0502040204020203" pitchFamily="34" charset="0"/>
                <a:sym typeface="Playfair Display Bold"/>
                <a:rtl/>
              </a:rPr>
              <a:t>صفحة  </a:t>
            </a:r>
            <a:r>
              <a:rPr lang="en-US" sz="1999" b="1" dirty="0">
                <a:solidFill>
                  <a:srgbClr val="0031BB"/>
                </a:solidFill>
                <a:latin typeface="Segoe UI" panose="020B0502040204020203" pitchFamily="34" charset="0"/>
                <a:ea typeface="Playfair Display Bold"/>
                <a:cs typeface="Segoe UI" panose="020B0502040204020203" pitchFamily="34" charset="0"/>
                <a:sym typeface="Playfair Display Bold"/>
              </a:rPr>
              <a:t>13</a:t>
            </a:r>
          </a:p>
        </p:txBody>
      </p:sp>
      <p:sp>
        <p:nvSpPr>
          <p:cNvPr id="12" name="TextBox 12"/>
          <p:cNvSpPr txBox="1"/>
          <p:nvPr/>
        </p:nvSpPr>
        <p:spPr>
          <a:xfrm>
            <a:off x="4426400" y="426720"/>
            <a:ext cx="9183241" cy="865622"/>
          </a:xfrm>
          <a:prstGeom prst="rect">
            <a:avLst/>
          </a:prstGeom>
        </p:spPr>
        <p:txBody>
          <a:bodyPr lIns="0" tIns="0" rIns="0" bIns="0" rtlCol="0" anchor="t">
            <a:spAutoFit/>
          </a:bodyPr>
          <a:lstStyle/>
          <a:p>
            <a:pPr algn="ctr" rtl="1">
              <a:lnSpc>
                <a:spcPts val="7420"/>
              </a:lnSpc>
            </a:pPr>
            <a:r>
              <a:rPr lang="en-US" sz="5300" b="1" dirty="0">
                <a:solidFill>
                  <a:srgbClr val="0031BB"/>
                </a:solidFill>
                <a:latin typeface="Segoe UI" panose="020B0502040204020203" pitchFamily="34" charset="0"/>
                <a:ea typeface="Playfair Display Bold"/>
                <a:cs typeface="Segoe UI" panose="020B0502040204020203" pitchFamily="34" charset="0"/>
                <a:sym typeface="Playfair Display Bold"/>
              </a:rPr>
              <a:t>4</a:t>
            </a:r>
            <a:r>
              <a:rPr lang="ar-EG" sz="5300" b="1" dirty="0">
                <a:solidFill>
                  <a:srgbClr val="0031BB"/>
                </a:solidFill>
                <a:latin typeface="Segoe UI" panose="020B0502040204020203" pitchFamily="34" charset="0"/>
                <a:ea typeface="Playfair Display Bold"/>
                <a:cs typeface="Segoe UI" panose="020B0502040204020203" pitchFamily="34" charset="0"/>
                <a:sym typeface="Playfair Display Bold"/>
                <a:rtl/>
              </a:rPr>
              <a:t>- النتائج وال </a:t>
            </a:r>
            <a:r>
              <a:rPr lang="en-US" sz="5300" b="1" dirty="0">
                <a:solidFill>
                  <a:srgbClr val="0031BB"/>
                </a:solidFill>
                <a:latin typeface="Segoe UI" panose="020B0502040204020203" pitchFamily="34" charset="0"/>
                <a:ea typeface="Playfair Display Bold"/>
                <a:cs typeface="Segoe UI" panose="020B0502040204020203" pitchFamily="34" charset="0"/>
                <a:sym typeface="Playfair Display Bold"/>
              </a:rPr>
              <a:t>visuals</a:t>
            </a:r>
            <a:r>
              <a:rPr lang="ar-EG" sz="5300" b="1" dirty="0">
                <a:solidFill>
                  <a:srgbClr val="0031BB"/>
                </a:solidFill>
                <a:latin typeface="Segoe UI" panose="020B0502040204020203" pitchFamily="34" charset="0"/>
                <a:ea typeface="Playfair Display Bold"/>
                <a:cs typeface="Segoe UI" panose="020B0502040204020203" pitchFamily="34" charset="0"/>
                <a:sym typeface="Playfair Display Bold"/>
                <a:rtl/>
              </a:rPr>
              <a:t>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0F0F0"/>
        </a:solidFill>
        <a:effectLst/>
      </p:bgPr>
    </p:bg>
    <p:spTree>
      <p:nvGrpSpPr>
        <p:cNvPr id="1" name=""/>
        <p:cNvGrpSpPr/>
        <p:nvPr/>
      </p:nvGrpSpPr>
      <p:grpSpPr>
        <a:xfrm>
          <a:off x="0" y="0"/>
          <a:ext cx="0" cy="0"/>
          <a:chOff x="0" y="0"/>
          <a:chExt cx="0" cy="0"/>
        </a:xfrm>
      </p:grpSpPr>
      <p:grpSp>
        <p:nvGrpSpPr>
          <p:cNvPr id="2" name="Group 2"/>
          <p:cNvGrpSpPr/>
          <p:nvPr/>
        </p:nvGrpSpPr>
        <p:grpSpPr>
          <a:xfrm>
            <a:off x="248454" y="7731326"/>
            <a:ext cx="17867292" cy="2222500"/>
            <a:chOff x="0" y="0"/>
            <a:chExt cx="5847483" cy="727364"/>
          </a:xfrm>
        </p:grpSpPr>
        <p:sp>
          <p:nvSpPr>
            <p:cNvPr id="3" name="Freeform 3"/>
            <p:cNvSpPr/>
            <p:nvPr/>
          </p:nvSpPr>
          <p:spPr>
            <a:xfrm>
              <a:off x="0" y="0"/>
              <a:ext cx="5847483" cy="727364"/>
            </a:xfrm>
            <a:custGeom>
              <a:avLst/>
              <a:gdLst/>
              <a:ahLst/>
              <a:cxnLst/>
              <a:rect l="l" t="t" r="r" b="b"/>
              <a:pathLst>
                <a:path w="5847483" h="727364">
                  <a:moveTo>
                    <a:pt x="16899" y="0"/>
                  </a:moveTo>
                  <a:lnTo>
                    <a:pt x="5830584" y="0"/>
                  </a:lnTo>
                  <a:cubicBezTo>
                    <a:pt x="5835066" y="0"/>
                    <a:pt x="5839365" y="1780"/>
                    <a:pt x="5842533" y="4950"/>
                  </a:cubicBezTo>
                  <a:cubicBezTo>
                    <a:pt x="5845702" y="8119"/>
                    <a:pt x="5847483" y="12417"/>
                    <a:pt x="5847483" y="16899"/>
                  </a:cubicBezTo>
                  <a:lnTo>
                    <a:pt x="5847483" y="710466"/>
                  </a:lnTo>
                  <a:cubicBezTo>
                    <a:pt x="5847483" y="714947"/>
                    <a:pt x="5845702" y="719246"/>
                    <a:pt x="5842533" y="722415"/>
                  </a:cubicBezTo>
                  <a:cubicBezTo>
                    <a:pt x="5839365" y="725584"/>
                    <a:pt x="5835066" y="727364"/>
                    <a:pt x="5830584" y="727364"/>
                  </a:cubicBezTo>
                  <a:lnTo>
                    <a:pt x="16899" y="727364"/>
                  </a:lnTo>
                  <a:cubicBezTo>
                    <a:pt x="7566" y="727364"/>
                    <a:pt x="0" y="719798"/>
                    <a:pt x="0" y="710466"/>
                  </a:cubicBezTo>
                  <a:lnTo>
                    <a:pt x="0" y="16899"/>
                  </a:lnTo>
                  <a:cubicBezTo>
                    <a:pt x="0" y="12417"/>
                    <a:pt x="1780" y="8119"/>
                    <a:pt x="4950" y="4950"/>
                  </a:cubicBezTo>
                  <a:cubicBezTo>
                    <a:pt x="8119" y="1780"/>
                    <a:pt x="12417" y="0"/>
                    <a:pt x="16899" y="0"/>
                  </a:cubicBezTo>
                  <a:close/>
                </a:path>
              </a:pathLst>
            </a:custGeom>
            <a:solidFill>
              <a:srgbClr val="000000">
                <a:alpha val="0"/>
              </a:srgbClr>
            </a:solidFill>
            <a:ln w="38100" cap="rnd">
              <a:solidFill>
                <a:srgbClr val="0031BB"/>
              </a:solidFill>
              <a:prstDash val="solid"/>
              <a:round/>
            </a:ln>
          </p:spPr>
          <p:txBody>
            <a:bodyPr/>
            <a:lstStyle/>
            <a:p>
              <a:endParaRPr lang="en-US">
                <a:latin typeface="Segoe UI" panose="020B0502040204020203" pitchFamily="34" charset="0"/>
                <a:cs typeface="Segoe UI" panose="020B0502040204020203" pitchFamily="34" charset="0"/>
              </a:endParaRPr>
            </a:p>
          </p:txBody>
        </p:sp>
        <p:sp>
          <p:nvSpPr>
            <p:cNvPr id="4" name="TextBox 4"/>
            <p:cNvSpPr txBox="1"/>
            <p:nvPr/>
          </p:nvSpPr>
          <p:spPr>
            <a:xfrm>
              <a:off x="0" y="-57150"/>
              <a:ext cx="5847483" cy="784514"/>
            </a:xfrm>
            <a:prstGeom prst="rect">
              <a:avLst/>
            </a:prstGeom>
          </p:spPr>
          <p:txBody>
            <a:bodyPr lIns="50800" tIns="50800" rIns="50800" bIns="50800" rtlCol="0" anchor="ctr"/>
            <a:lstStyle/>
            <a:p>
              <a:pPr algn="r" rtl="1">
                <a:lnSpc>
                  <a:spcPts val="3919"/>
                </a:lnSpc>
              </a:pPr>
              <a:r>
                <a:rPr lang="ar-EG" sz="2799" dirty="0">
                  <a:solidFill>
                    <a:srgbClr val="212121"/>
                  </a:solidFill>
                  <a:latin typeface="Segoe UI" panose="020B0502040204020203" pitchFamily="34" charset="0"/>
                  <a:ea typeface="Garet"/>
                  <a:cs typeface="Segoe UI" panose="020B0502040204020203" pitchFamily="34" charset="0"/>
                  <a:sym typeface="Garet"/>
                  <a:rtl/>
                </a:rPr>
                <a:t>7 - كمية مياه الصرف الصحي حسب التوزيع الجغرافي</a:t>
              </a:r>
            </a:p>
            <a:p>
              <a:pPr algn="r" rtl="1">
                <a:lnSpc>
                  <a:spcPts val="3919"/>
                </a:lnSpc>
              </a:pPr>
              <a:r>
                <a:rPr lang="ar-EG" sz="2799" dirty="0">
                  <a:solidFill>
                    <a:srgbClr val="212121"/>
                  </a:solidFill>
                  <a:latin typeface="Segoe UI" panose="020B0502040204020203" pitchFamily="34" charset="0"/>
                  <a:ea typeface="Garet"/>
                  <a:cs typeface="Segoe UI" panose="020B0502040204020203" pitchFamily="34" charset="0"/>
                  <a:sym typeface="Garet"/>
                  <a:rtl/>
                </a:rPr>
                <a:t>   تُظهر الخريطة توزيعًا مكانيًا لكمية مياه الصرف الصحي في مصر، مع تركيز واضح حول القاهرة وعلى امتداد نهر النيل، مما يعكس الكثافة السكانية ومراكز النشاط الصناعي والزراعي.</a:t>
              </a:r>
            </a:p>
            <a:p>
              <a:pPr algn="r" rtl="1">
                <a:lnSpc>
                  <a:spcPts val="3919"/>
                </a:lnSpc>
              </a:pPr>
              <a:endParaRPr lang="ar-EG" sz="2799" dirty="0">
                <a:solidFill>
                  <a:srgbClr val="212121"/>
                </a:solidFill>
                <a:latin typeface="Segoe UI" panose="020B0502040204020203" pitchFamily="34" charset="0"/>
                <a:ea typeface="Garet"/>
                <a:cs typeface="Segoe UI" panose="020B0502040204020203" pitchFamily="34" charset="0"/>
                <a:sym typeface="Garet"/>
                <a:rtl/>
              </a:endParaRPr>
            </a:p>
          </p:txBody>
        </p:sp>
      </p:grpSp>
      <p:sp>
        <p:nvSpPr>
          <p:cNvPr id="5" name="Freeform 5"/>
          <p:cNvSpPr/>
          <p:nvPr/>
        </p:nvSpPr>
        <p:spPr>
          <a:xfrm>
            <a:off x="990600" y="427794"/>
            <a:ext cx="764652" cy="790499"/>
          </a:xfrm>
          <a:custGeom>
            <a:avLst/>
            <a:gdLst/>
            <a:ahLst/>
            <a:cxnLst/>
            <a:rect l="l" t="t" r="r" b="b"/>
            <a:pathLst>
              <a:path w="764652" h="790499">
                <a:moveTo>
                  <a:pt x="0" y="0"/>
                </a:moveTo>
                <a:lnTo>
                  <a:pt x="764652" y="0"/>
                </a:lnTo>
                <a:lnTo>
                  <a:pt x="764652" y="790499"/>
                </a:lnTo>
                <a:lnTo>
                  <a:pt x="0" y="79049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latin typeface="Segoe UI" panose="020B0502040204020203" pitchFamily="34" charset="0"/>
              <a:cs typeface="Segoe UI" panose="020B0502040204020203" pitchFamily="34" charset="0"/>
            </a:endParaRPr>
          </a:p>
        </p:txBody>
      </p:sp>
      <p:sp>
        <p:nvSpPr>
          <p:cNvPr id="6" name="Freeform 6"/>
          <p:cNvSpPr/>
          <p:nvPr/>
        </p:nvSpPr>
        <p:spPr>
          <a:xfrm>
            <a:off x="2912205" y="1633213"/>
            <a:ext cx="12216608" cy="5717113"/>
          </a:xfrm>
          <a:custGeom>
            <a:avLst/>
            <a:gdLst/>
            <a:ahLst/>
            <a:cxnLst/>
            <a:rect l="l" t="t" r="r" b="b"/>
            <a:pathLst>
              <a:path w="12216608" h="5717113">
                <a:moveTo>
                  <a:pt x="0" y="0"/>
                </a:moveTo>
                <a:lnTo>
                  <a:pt x="12216608" y="0"/>
                </a:lnTo>
                <a:lnTo>
                  <a:pt x="12216608" y="5717113"/>
                </a:lnTo>
                <a:lnTo>
                  <a:pt x="0" y="5717113"/>
                </a:lnTo>
                <a:lnTo>
                  <a:pt x="0" y="0"/>
                </a:lnTo>
                <a:close/>
              </a:path>
            </a:pathLst>
          </a:custGeom>
          <a:blipFill>
            <a:blip r:embed="rId4"/>
            <a:stretch>
              <a:fillRect t="-1330" r="-1836" b="-1330"/>
            </a:stretch>
          </a:blipFill>
        </p:spPr>
        <p:txBody>
          <a:bodyPr/>
          <a:lstStyle/>
          <a:p>
            <a:endParaRPr lang="en-US">
              <a:latin typeface="Segoe UI" panose="020B0502040204020203" pitchFamily="34" charset="0"/>
              <a:cs typeface="Segoe UI" panose="020B0502040204020203" pitchFamily="34" charset="0"/>
            </a:endParaRPr>
          </a:p>
        </p:txBody>
      </p:sp>
      <p:sp>
        <p:nvSpPr>
          <p:cNvPr id="7" name="TextBox 7"/>
          <p:cNvSpPr txBox="1"/>
          <p:nvPr/>
        </p:nvSpPr>
        <p:spPr>
          <a:xfrm>
            <a:off x="13673574" y="748015"/>
            <a:ext cx="3623826" cy="330200"/>
          </a:xfrm>
          <a:prstGeom prst="rect">
            <a:avLst/>
          </a:prstGeom>
        </p:spPr>
        <p:txBody>
          <a:bodyPr lIns="0" tIns="0" rIns="0" bIns="0" rtlCol="0" anchor="t">
            <a:spAutoFit/>
          </a:bodyPr>
          <a:lstStyle/>
          <a:p>
            <a:pPr algn="r" rtl="1">
              <a:lnSpc>
                <a:spcPts val="2799"/>
              </a:lnSpc>
              <a:spcBef>
                <a:spcPct val="0"/>
              </a:spcBef>
            </a:pPr>
            <a:r>
              <a:rPr lang="ar-EG" sz="1999" b="1" dirty="0">
                <a:solidFill>
                  <a:srgbClr val="0031BB"/>
                </a:solidFill>
                <a:latin typeface="Segoe UI" panose="020B0502040204020203" pitchFamily="34" charset="0"/>
                <a:ea typeface="Playfair Display Bold"/>
                <a:cs typeface="Segoe UI" panose="020B0502040204020203" pitchFamily="34" charset="0"/>
                <a:sym typeface="Playfair Display Bold"/>
                <a:rtl/>
              </a:rPr>
              <a:t>صفحة  </a:t>
            </a:r>
            <a:r>
              <a:rPr lang="en-US" sz="1999" b="1" dirty="0">
                <a:solidFill>
                  <a:srgbClr val="0031BB"/>
                </a:solidFill>
                <a:latin typeface="Segoe UI" panose="020B0502040204020203" pitchFamily="34" charset="0"/>
                <a:ea typeface="Playfair Display Bold"/>
                <a:cs typeface="Segoe UI" panose="020B0502040204020203" pitchFamily="34" charset="0"/>
                <a:sym typeface="Playfair Display Bold"/>
              </a:rPr>
              <a:t>14</a:t>
            </a:r>
          </a:p>
        </p:txBody>
      </p:sp>
      <p:sp>
        <p:nvSpPr>
          <p:cNvPr id="8" name="TextBox 8"/>
          <p:cNvSpPr txBox="1"/>
          <p:nvPr/>
        </p:nvSpPr>
        <p:spPr>
          <a:xfrm>
            <a:off x="4428889" y="350520"/>
            <a:ext cx="9183241" cy="865622"/>
          </a:xfrm>
          <a:prstGeom prst="rect">
            <a:avLst/>
          </a:prstGeom>
        </p:spPr>
        <p:txBody>
          <a:bodyPr lIns="0" tIns="0" rIns="0" bIns="0" rtlCol="0" anchor="t">
            <a:spAutoFit/>
          </a:bodyPr>
          <a:lstStyle/>
          <a:p>
            <a:pPr algn="ctr" rtl="1">
              <a:lnSpc>
                <a:spcPts val="7420"/>
              </a:lnSpc>
            </a:pPr>
            <a:r>
              <a:rPr lang="en-US" sz="5300" b="1">
                <a:solidFill>
                  <a:srgbClr val="0031BB"/>
                </a:solidFill>
                <a:latin typeface="Segoe UI" panose="020B0502040204020203" pitchFamily="34" charset="0"/>
                <a:ea typeface="Playfair Display Bold"/>
                <a:cs typeface="Segoe UI" panose="020B0502040204020203" pitchFamily="34" charset="0"/>
                <a:sym typeface="Playfair Display Bold"/>
              </a:rPr>
              <a:t>4</a:t>
            </a:r>
            <a:r>
              <a:rPr lang="ar-EG" sz="5300" b="1">
                <a:solidFill>
                  <a:srgbClr val="0031BB"/>
                </a:solidFill>
                <a:latin typeface="Segoe UI" panose="020B0502040204020203" pitchFamily="34" charset="0"/>
                <a:ea typeface="Playfair Display Bold"/>
                <a:cs typeface="Segoe UI" panose="020B0502040204020203" pitchFamily="34" charset="0"/>
                <a:sym typeface="Playfair Display Bold"/>
                <a:rtl/>
              </a:rPr>
              <a:t>- النتائج وال </a:t>
            </a:r>
            <a:r>
              <a:rPr lang="en-US" sz="5300" b="1">
                <a:solidFill>
                  <a:srgbClr val="0031BB"/>
                </a:solidFill>
                <a:latin typeface="Segoe UI" panose="020B0502040204020203" pitchFamily="34" charset="0"/>
                <a:ea typeface="Playfair Display Bold"/>
                <a:cs typeface="Segoe UI" panose="020B0502040204020203" pitchFamily="34" charset="0"/>
                <a:sym typeface="Playfair Display Bold"/>
              </a:rPr>
              <a:t>visuals</a:t>
            </a:r>
            <a:r>
              <a:rPr lang="ar-EG" sz="5300" b="1">
                <a:solidFill>
                  <a:srgbClr val="0031BB"/>
                </a:solidFill>
                <a:latin typeface="Segoe UI" panose="020B0502040204020203" pitchFamily="34" charset="0"/>
                <a:ea typeface="Playfair Display Bold"/>
                <a:cs typeface="Segoe UI" panose="020B0502040204020203" pitchFamily="34" charset="0"/>
                <a:sym typeface="Playfair Display Bold"/>
                <a:rtl/>
              </a:rPr>
              <a:t>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0F0F0"/>
        </a:solidFill>
        <a:effectLst/>
      </p:bgPr>
    </p:bg>
    <p:spTree>
      <p:nvGrpSpPr>
        <p:cNvPr id="1" name=""/>
        <p:cNvGrpSpPr/>
        <p:nvPr/>
      </p:nvGrpSpPr>
      <p:grpSpPr>
        <a:xfrm>
          <a:off x="0" y="0"/>
          <a:ext cx="0" cy="0"/>
          <a:chOff x="0" y="0"/>
          <a:chExt cx="0" cy="0"/>
        </a:xfrm>
      </p:grpSpPr>
      <p:sp>
        <p:nvSpPr>
          <p:cNvPr id="2" name="TextBox 2"/>
          <p:cNvSpPr txBox="1"/>
          <p:nvPr/>
        </p:nvSpPr>
        <p:spPr>
          <a:xfrm>
            <a:off x="4722518" y="940279"/>
            <a:ext cx="9183241" cy="865622"/>
          </a:xfrm>
          <a:prstGeom prst="rect">
            <a:avLst/>
          </a:prstGeom>
        </p:spPr>
        <p:txBody>
          <a:bodyPr lIns="0" tIns="0" rIns="0" bIns="0" rtlCol="0" anchor="t">
            <a:spAutoFit/>
          </a:bodyPr>
          <a:lstStyle/>
          <a:p>
            <a:pPr algn="ctr" rtl="1">
              <a:lnSpc>
                <a:spcPts val="7420"/>
              </a:lnSpc>
            </a:pPr>
            <a:r>
              <a:rPr lang="ar-EG" sz="5300" b="1" dirty="0">
                <a:solidFill>
                  <a:srgbClr val="0031BB"/>
                </a:solidFill>
                <a:latin typeface="Segoe UI" panose="020B0502040204020203" pitchFamily="34" charset="0"/>
                <a:ea typeface="Playfair Display Bold"/>
                <a:cs typeface="Segoe UI" panose="020B0502040204020203" pitchFamily="34" charset="0"/>
                <a:sym typeface="Playfair Display Bold"/>
                <a:rtl/>
              </a:rPr>
              <a:t>التوصيات والاقتراحات </a:t>
            </a:r>
          </a:p>
        </p:txBody>
      </p:sp>
      <p:sp>
        <p:nvSpPr>
          <p:cNvPr id="3" name="Freeform 3"/>
          <p:cNvSpPr/>
          <p:nvPr/>
        </p:nvSpPr>
        <p:spPr>
          <a:xfrm>
            <a:off x="1028700" y="1142940"/>
            <a:ext cx="764652" cy="790499"/>
          </a:xfrm>
          <a:custGeom>
            <a:avLst/>
            <a:gdLst/>
            <a:ahLst/>
            <a:cxnLst/>
            <a:rect l="l" t="t" r="r" b="b"/>
            <a:pathLst>
              <a:path w="764652" h="790499">
                <a:moveTo>
                  <a:pt x="0" y="0"/>
                </a:moveTo>
                <a:lnTo>
                  <a:pt x="764652" y="0"/>
                </a:lnTo>
                <a:lnTo>
                  <a:pt x="764652" y="790499"/>
                </a:lnTo>
                <a:lnTo>
                  <a:pt x="0" y="79049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latin typeface="Segoe UI" panose="020B0502040204020203" pitchFamily="34" charset="0"/>
              <a:cs typeface="Segoe UI" panose="020B0502040204020203" pitchFamily="34" charset="0"/>
            </a:endParaRPr>
          </a:p>
        </p:txBody>
      </p:sp>
      <p:sp>
        <p:nvSpPr>
          <p:cNvPr id="4" name="TextBox 4"/>
          <p:cNvSpPr txBox="1"/>
          <p:nvPr/>
        </p:nvSpPr>
        <p:spPr>
          <a:xfrm>
            <a:off x="13635474" y="1207990"/>
            <a:ext cx="3623826" cy="330200"/>
          </a:xfrm>
          <a:prstGeom prst="rect">
            <a:avLst/>
          </a:prstGeom>
        </p:spPr>
        <p:txBody>
          <a:bodyPr lIns="0" tIns="0" rIns="0" bIns="0" rtlCol="0" anchor="t">
            <a:spAutoFit/>
          </a:bodyPr>
          <a:lstStyle/>
          <a:p>
            <a:pPr algn="r" rtl="1">
              <a:lnSpc>
                <a:spcPts val="2799"/>
              </a:lnSpc>
              <a:spcBef>
                <a:spcPct val="0"/>
              </a:spcBef>
            </a:pPr>
            <a:r>
              <a:rPr lang="ar-EG" sz="1999" b="1" dirty="0">
                <a:solidFill>
                  <a:srgbClr val="0031BB"/>
                </a:solidFill>
                <a:latin typeface="Segoe UI" panose="020B0502040204020203" pitchFamily="34" charset="0"/>
                <a:ea typeface="Playfair Display Bold"/>
                <a:cs typeface="Segoe UI" panose="020B0502040204020203" pitchFamily="34" charset="0"/>
                <a:sym typeface="Playfair Display Bold"/>
                <a:rtl/>
              </a:rPr>
              <a:t>صفحة  </a:t>
            </a:r>
            <a:r>
              <a:rPr lang="en-US" sz="1999" b="1" dirty="0">
                <a:solidFill>
                  <a:srgbClr val="0031BB"/>
                </a:solidFill>
                <a:latin typeface="Segoe UI" panose="020B0502040204020203" pitchFamily="34" charset="0"/>
                <a:ea typeface="Playfair Display Bold"/>
                <a:cs typeface="Segoe UI" panose="020B0502040204020203" pitchFamily="34" charset="0"/>
                <a:sym typeface="Playfair Display Bold"/>
              </a:rPr>
              <a:t>15</a:t>
            </a:r>
            <a:r>
              <a:rPr lang="ar-EG" sz="1999" b="1" dirty="0">
                <a:solidFill>
                  <a:srgbClr val="0031BB"/>
                </a:solidFill>
                <a:latin typeface="Segoe UI" panose="020B0502040204020203" pitchFamily="34" charset="0"/>
                <a:ea typeface="Playfair Display Bold"/>
                <a:cs typeface="Segoe UI" panose="020B0502040204020203" pitchFamily="34" charset="0"/>
                <a:sym typeface="Playfair Display Bold"/>
                <a:rtl/>
              </a:rPr>
              <a:t> </a:t>
            </a:r>
          </a:p>
        </p:txBody>
      </p:sp>
      <p:sp>
        <p:nvSpPr>
          <p:cNvPr id="5" name="TextBox 5"/>
          <p:cNvSpPr txBox="1"/>
          <p:nvPr/>
        </p:nvSpPr>
        <p:spPr>
          <a:xfrm>
            <a:off x="6989802" y="7977248"/>
            <a:ext cx="4309158" cy="471805"/>
          </a:xfrm>
          <a:prstGeom prst="rect">
            <a:avLst/>
          </a:prstGeom>
        </p:spPr>
        <p:txBody>
          <a:bodyPr lIns="0" tIns="0" rIns="0" bIns="0" rtlCol="0" anchor="t">
            <a:spAutoFit/>
          </a:bodyPr>
          <a:lstStyle/>
          <a:p>
            <a:pPr algn="ctr" rtl="1">
              <a:lnSpc>
                <a:spcPts val="3919"/>
              </a:lnSpc>
              <a:spcBef>
                <a:spcPct val="0"/>
              </a:spcBef>
            </a:pPr>
            <a:r>
              <a:rPr lang="ar-EG" sz="2799" b="1">
                <a:solidFill>
                  <a:srgbClr val="F0F0F0"/>
                </a:solidFill>
                <a:latin typeface="Segoe UI" panose="020B0502040204020203" pitchFamily="34" charset="0"/>
                <a:ea typeface="Playfair Display Bold"/>
                <a:cs typeface="Segoe UI" panose="020B0502040204020203" pitchFamily="34" charset="0"/>
                <a:sym typeface="Playfair Display Bold"/>
                <a:rtl/>
              </a:rPr>
              <a:t>منى أحمد الشريف</a:t>
            </a:r>
          </a:p>
        </p:txBody>
      </p:sp>
      <p:sp>
        <p:nvSpPr>
          <p:cNvPr id="6" name="TextBox 6"/>
          <p:cNvSpPr txBox="1"/>
          <p:nvPr/>
        </p:nvSpPr>
        <p:spPr>
          <a:xfrm>
            <a:off x="6989802" y="8482074"/>
            <a:ext cx="4309158" cy="405765"/>
          </a:xfrm>
          <a:prstGeom prst="rect">
            <a:avLst/>
          </a:prstGeom>
        </p:spPr>
        <p:txBody>
          <a:bodyPr lIns="0" tIns="0" rIns="0" bIns="0" rtlCol="0" anchor="t">
            <a:spAutoFit/>
          </a:bodyPr>
          <a:lstStyle/>
          <a:p>
            <a:pPr algn="ctr" rtl="1">
              <a:lnSpc>
                <a:spcPts val="3359"/>
              </a:lnSpc>
              <a:spcBef>
                <a:spcPct val="0"/>
              </a:spcBef>
            </a:pPr>
            <a:r>
              <a:rPr lang="ar-EG" sz="2400">
                <a:solidFill>
                  <a:srgbClr val="F0F0F0"/>
                </a:solidFill>
                <a:latin typeface="Segoe UI" panose="020B0502040204020203" pitchFamily="34" charset="0"/>
                <a:ea typeface="Playfair Display"/>
                <a:cs typeface="Segoe UI" panose="020B0502040204020203" pitchFamily="34" charset="0"/>
                <a:sym typeface="Playfair Display"/>
                <a:rtl/>
              </a:rPr>
              <a:t>المدير التنفيذي</a:t>
            </a:r>
          </a:p>
        </p:txBody>
      </p:sp>
      <p:sp>
        <p:nvSpPr>
          <p:cNvPr id="7" name="TextBox 7"/>
          <p:cNvSpPr txBox="1"/>
          <p:nvPr/>
        </p:nvSpPr>
        <p:spPr>
          <a:xfrm>
            <a:off x="947671" y="2503847"/>
            <a:ext cx="16732936" cy="7947560"/>
          </a:xfrm>
          <a:prstGeom prst="rect">
            <a:avLst/>
          </a:prstGeom>
        </p:spPr>
        <p:txBody>
          <a:bodyPr wrap="square" lIns="0" tIns="0" rIns="0" bIns="0" rtlCol="0" anchor="t">
            <a:spAutoFit/>
          </a:bodyPr>
          <a:lstStyle/>
          <a:p>
            <a:pPr marL="738277" lvl="1" indent="-369138" algn="just" rtl="1">
              <a:lnSpc>
                <a:spcPts val="4787"/>
              </a:lnSpc>
              <a:buFont typeface="Arial"/>
              <a:buChar char="•"/>
            </a:pPr>
            <a:r>
              <a:rPr lang="ar-EG" sz="3419" dirty="0">
                <a:solidFill>
                  <a:srgbClr val="212121"/>
                </a:solidFill>
                <a:latin typeface="Segoe UI" panose="020B0502040204020203" pitchFamily="34" charset="0"/>
                <a:ea typeface="Playfair Display"/>
                <a:cs typeface="Segoe UI" panose="020B0502040204020203" pitchFamily="34" charset="0"/>
                <a:sym typeface="Playfair Display"/>
                <a:rtl/>
              </a:rPr>
              <a:t>زيادة عدد محطات الرصد .</a:t>
            </a:r>
          </a:p>
          <a:p>
            <a:pPr marL="738277" lvl="1" indent="-369138" algn="just" rtl="1">
              <a:lnSpc>
                <a:spcPts val="4787"/>
              </a:lnSpc>
              <a:buFont typeface="Arial"/>
              <a:buChar char="•"/>
            </a:pPr>
            <a:r>
              <a:rPr lang="ar-EG" sz="3419" dirty="0">
                <a:solidFill>
                  <a:srgbClr val="212121"/>
                </a:solidFill>
                <a:latin typeface="Segoe UI" panose="020B0502040204020203" pitchFamily="34" charset="0"/>
                <a:ea typeface="Playfair Display"/>
                <a:cs typeface="Segoe UI" panose="020B0502040204020203" pitchFamily="34" charset="0"/>
                <a:sym typeface="Playfair Display"/>
                <a:rtl/>
              </a:rPr>
              <a:t>توحيد منهجية القياس الحديثة على جميع المحافظات لضمان دقة المقارنات.</a:t>
            </a:r>
          </a:p>
          <a:p>
            <a:pPr marL="738277" lvl="1" indent="-369138" algn="just" rtl="1">
              <a:lnSpc>
                <a:spcPts val="4787"/>
              </a:lnSpc>
              <a:buFont typeface="Arial"/>
              <a:buChar char="•"/>
            </a:pPr>
            <a:r>
              <a:rPr lang="ar-EG" sz="3419" dirty="0">
                <a:solidFill>
                  <a:srgbClr val="212121"/>
                </a:solidFill>
                <a:latin typeface="Segoe UI" panose="020B0502040204020203" pitchFamily="34" charset="0"/>
                <a:ea typeface="Playfair Display"/>
                <a:cs typeface="Segoe UI" panose="020B0502040204020203" pitchFamily="34" charset="0"/>
                <a:sym typeface="Playfair Display"/>
                <a:rtl/>
              </a:rPr>
              <a:t>توفير بيانات سنوية بشكل منتظم لتقليل الفجوات التحليلية.</a:t>
            </a:r>
          </a:p>
          <a:p>
            <a:pPr marL="738277" lvl="1" indent="-369138" algn="just" rtl="1">
              <a:lnSpc>
                <a:spcPts val="4787"/>
              </a:lnSpc>
              <a:buFont typeface="Arial"/>
              <a:buChar char="•"/>
            </a:pPr>
            <a:r>
              <a:rPr lang="ar-EG" sz="3419" dirty="0">
                <a:solidFill>
                  <a:srgbClr val="212121"/>
                </a:solidFill>
                <a:latin typeface="Segoe UI" panose="020B0502040204020203" pitchFamily="34" charset="0"/>
                <a:ea typeface="Playfair Display"/>
                <a:cs typeface="Segoe UI" panose="020B0502040204020203" pitchFamily="34" charset="0"/>
                <a:sym typeface="Playfair Display"/>
                <a:rtl/>
              </a:rPr>
              <a:t>دعم نشر البيانات المفتوحة لتعزيز الشفافية والبحث العلمي. </a:t>
            </a:r>
          </a:p>
          <a:p>
            <a:pPr marL="738277" lvl="1" indent="-369138" algn="just" rtl="1">
              <a:lnSpc>
                <a:spcPts val="4787"/>
              </a:lnSpc>
              <a:buFont typeface="Arial"/>
              <a:buChar char="•"/>
            </a:pPr>
            <a:r>
              <a:rPr lang="ar-EG" sz="3419" dirty="0">
                <a:solidFill>
                  <a:srgbClr val="212121"/>
                </a:solidFill>
                <a:latin typeface="Segoe UI" panose="020B0502040204020203" pitchFamily="34" charset="0"/>
                <a:ea typeface="Playfair Display"/>
                <a:cs typeface="Segoe UI" panose="020B0502040204020203" pitchFamily="34" charset="0"/>
                <a:sym typeface="Playfair Display"/>
                <a:rtl/>
              </a:rPr>
              <a:t>تنويع مصادر المياه مثل الاستثمار في التحلية وحصاد مياه الأمطار لتقليل الاعتماد المفرط على نهر النيل.</a:t>
            </a:r>
          </a:p>
          <a:p>
            <a:pPr marL="738277" lvl="1" indent="-369138" algn="just" rtl="1">
              <a:lnSpc>
                <a:spcPts val="4787"/>
              </a:lnSpc>
              <a:buFont typeface="Arial"/>
              <a:buChar char="•"/>
            </a:pPr>
            <a:r>
              <a:rPr lang="ar-EG" sz="3419" dirty="0">
                <a:solidFill>
                  <a:srgbClr val="212121"/>
                </a:solidFill>
                <a:latin typeface="Segoe UI" panose="020B0502040204020203" pitchFamily="34" charset="0"/>
                <a:ea typeface="Playfair Display"/>
                <a:cs typeface="Segoe UI" panose="020B0502040204020203" pitchFamily="34" charset="0"/>
                <a:sym typeface="Playfair Display"/>
                <a:rtl/>
              </a:rPr>
              <a:t>تحسين كفاءة الري الزراعي عن طريق إدخال تقنيات حديثة مثل الري بالتنقيط لتقليل استهلاك المياه الزراعية.</a:t>
            </a:r>
          </a:p>
          <a:p>
            <a:pPr marL="738277" lvl="1" indent="-369138" algn="just" rtl="1">
              <a:lnSpc>
                <a:spcPts val="4787"/>
              </a:lnSpc>
              <a:buFont typeface="Arial"/>
              <a:buChar char="•"/>
            </a:pPr>
            <a:r>
              <a:rPr lang="ar-EG" sz="3419" dirty="0">
                <a:solidFill>
                  <a:srgbClr val="212121"/>
                </a:solidFill>
                <a:latin typeface="Segoe UI" panose="020B0502040204020203" pitchFamily="34" charset="0"/>
                <a:ea typeface="Playfair Display"/>
                <a:cs typeface="Segoe UI" panose="020B0502040204020203" pitchFamily="34" charset="0"/>
                <a:sym typeface="Playfair Display"/>
                <a:rtl/>
              </a:rPr>
              <a:t>توسيع محطات الصرف الصحي من خلال زيادة عدد المحطات أو تطوير القائم منها لمواكبة النمو السكاني </a:t>
            </a:r>
          </a:p>
          <a:p>
            <a:pPr marL="738277" lvl="1" indent="-369138" algn="just" rtl="1">
              <a:lnSpc>
                <a:spcPts val="4787"/>
              </a:lnSpc>
              <a:buFont typeface="Arial"/>
              <a:buChar char="•"/>
            </a:pPr>
            <a:r>
              <a:rPr lang="ar-EG" sz="3419" dirty="0">
                <a:solidFill>
                  <a:srgbClr val="212121"/>
                </a:solidFill>
                <a:latin typeface="Segoe UI" panose="020B0502040204020203" pitchFamily="34" charset="0"/>
                <a:ea typeface="Playfair Display"/>
                <a:cs typeface="Segoe UI" panose="020B0502040204020203" pitchFamily="34" charset="0"/>
                <a:sym typeface="Playfair Display"/>
                <a:rtl/>
              </a:rPr>
              <a:t>تعزيز إعادة استخدام مياه الصرف لتخفيف الضغط على الموارد الطبيعية.</a:t>
            </a:r>
          </a:p>
          <a:p>
            <a:pPr marL="738277" lvl="1" indent="-369138" algn="just" rtl="1">
              <a:lnSpc>
                <a:spcPts val="4787"/>
              </a:lnSpc>
              <a:buFont typeface="Arial"/>
              <a:buChar char="•"/>
            </a:pPr>
            <a:r>
              <a:rPr lang="ar-EG" sz="3419" dirty="0">
                <a:solidFill>
                  <a:srgbClr val="212121"/>
                </a:solidFill>
                <a:latin typeface="Segoe UI" panose="020B0502040204020203" pitchFamily="34" charset="0"/>
                <a:ea typeface="Playfair Display"/>
                <a:cs typeface="Segoe UI" panose="020B0502040204020203" pitchFamily="34" charset="0"/>
                <a:sym typeface="Playfair Display"/>
                <a:rtl/>
              </a:rPr>
              <a:t>توزيع محطات رصد البحيرات بشكل أكثر توازنًا لضمان متابعة شاملة </a:t>
            </a:r>
          </a:p>
          <a:p>
            <a:pPr algn="just" rtl="1">
              <a:lnSpc>
                <a:spcPts val="4787"/>
              </a:lnSpc>
            </a:pPr>
            <a:endParaRPr lang="ar-EG" sz="3419" dirty="0">
              <a:solidFill>
                <a:srgbClr val="212121"/>
              </a:solidFill>
              <a:latin typeface="Segoe UI" panose="020B0502040204020203" pitchFamily="34" charset="0"/>
              <a:ea typeface="Playfair Display"/>
              <a:cs typeface="Segoe UI" panose="020B0502040204020203" pitchFamily="34" charset="0"/>
              <a:sym typeface="Playfair Display"/>
              <a:rt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0F0F0"/>
        </a:solidFill>
        <a:effectLst/>
      </p:bgPr>
    </p:bg>
    <p:spTree>
      <p:nvGrpSpPr>
        <p:cNvPr id="1" name=""/>
        <p:cNvGrpSpPr/>
        <p:nvPr/>
      </p:nvGrpSpPr>
      <p:grpSpPr>
        <a:xfrm>
          <a:off x="0" y="0"/>
          <a:ext cx="0" cy="0"/>
          <a:chOff x="0" y="0"/>
          <a:chExt cx="0" cy="0"/>
        </a:xfrm>
      </p:grpSpPr>
      <p:grpSp>
        <p:nvGrpSpPr>
          <p:cNvPr id="2" name="Group 2"/>
          <p:cNvGrpSpPr/>
          <p:nvPr/>
        </p:nvGrpSpPr>
        <p:grpSpPr>
          <a:xfrm>
            <a:off x="0" y="1"/>
            <a:ext cx="7010400" cy="10287000"/>
            <a:chOff x="0" y="0"/>
            <a:chExt cx="666644" cy="1067207"/>
          </a:xfrm>
        </p:grpSpPr>
        <p:sp>
          <p:nvSpPr>
            <p:cNvPr id="3" name="Freeform 3"/>
            <p:cNvSpPr/>
            <p:nvPr/>
          </p:nvSpPr>
          <p:spPr>
            <a:xfrm>
              <a:off x="0" y="0"/>
              <a:ext cx="666644" cy="1067207"/>
            </a:xfrm>
            <a:custGeom>
              <a:avLst/>
              <a:gdLst/>
              <a:ahLst/>
              <a:cxnLst/>
              <a:rect l="l" t="t" r="r" b="b"/>
              <a:pathLst>
                <a:path w="666644" h="1067207">
                  <a:moveTo>
                    <a:pt x="57349" y="0"/>
                  </a:moveTo>
                  <a:lnTo>
                    <a:pt x="609295" y="0"/>
                  </a:lnTo>
                  <a:cubicBezTo>
                    <a:pt x="640968" y="0"/>
                    <a:pt x="666644" y="25676"/>
                    <a:pt x="666644" y="57349"/>
                  </a:cubicBezTo>
                  <a:lnTo>
                    <a:pt x="666644" y="1009857"/>
                  </a:lnTo>
                  <a:cubicBezTo>
                    <a:pt x="666644" y="1025067"/>
                    <a:pt x="660602" y="1039654"/>
                    <a:pt x="649847" y="1050409"/>
                  </a:cubicBezTo>
                  <a:cubicBezTo>
                    <a:pt x="639092" y="1061164"/>
                    <a:pt x="624505" y="1067207"/>
                    <a:pt x="609295" y="1067207"/>
                  </a:cubicBezTo>
                  <a:lnTo>
                    <a:pt x="57349" y="1067207"/>
                  </a:lnTo>
                  <a:cubicBezTo>
                    <a:pt x="25676" y="1067207"/>
                    <a:pt x="0" y="1041530"/>
                    <a:pt x="0" y="1009857"/>
                  </a:cubicBezTo>
                  <a:lnTo>
                    <a:pt x="0" y="57349"/>
                  </a:lnTo>
                  <a:cubicBezTo>
                    <a:pt x="0" y="25676"/>
                    <a:pt x="25676" y="0"/>
                    <a:pt x="57349" y="0"/>
                  </a:cubicBezTo>
                  <a:close/>
                </a:path>
              </a:pathLst>
            </a:custGeom>
            <a:blipFill>
              <a:blip r:embed="rId2"/>
              <a:stretch>
                <a:fillRect l="-70283" r="-70283"/>
              </a:stretch>
            </a:blipFill>
          </p:spPr>
          <p:txBody>
            <a:bodyPr/>
            <a:lstStyle/>
            <a:p>
              <a:endParaRPr lang="en-US">
                <a:latin typeface="Segoe UI" panose="020B0502040204020203" pitchFamily="34" charset="0"/>
                <a:cs typeface="Segoe UI" panose="020B0502040204020203" pitchFamily="34" charset="0"/>
              </a:endParaRPr>
            </a:p>
          </p:txBody>
        </p:sp>
      </p:grpSp>
      <p:grpSp>
        <p:nvGrpSpPr>
          <p:cNvPr id="4" name="Group 4"/>
          <p:cNvGrpSpPr/>
          <p:nvPr/>
        </p:nvGrpSpPr>
        <p:grpSpPr>
          <a:xfrm>
            <a:off x="5757131" y="6438581"/>
            <a:ext cx="6238019" cy="1999571"/>
            <a:chOff x="0" y="0"/>
            <a:chExt cx="1642935" cy="526636"/>
          </a:xfrm>
        </p:grpSpPr>
        <p:sp>
          <p:nvSpPr>
            <p:cNvPr id="5" name="Freeform 5"/>
            <p:cNvSpPr/>
            <p:nvPr/>
          </p:nvSpPr>
          <p:spPr>
            <a:xfrm>
              <a:off x="0" y="0"/>
              <a:ext cx="1642935" cy="526636"/>
            </a:xfrm>
            <a:custGeom>
              <a:avLst/>
              <a:gdLst/>
              <a:ahLst/>
              <a:cxnLst/>
              <a:rect l="l" t="t" r="r" b="b"/>
              <a:pathLst>
                <a:path w="1642935" h="526636">
                  <a:moveTo>
                    <a:pt x="62054" y="0"/>
                  </a:moveTo>
                  <a:lnTo>
                    <a:pt x="1580881" y="0"/>
                  </a:lnTo>
                  <a:cubicBezTo>
                    <a:pt x="1597339" y="0"/>
                    <a:pt x="1613122" y="6538"/>
                    <a:pt x="1624760" y="18175"/>
                  </a:cubicBezTo>
                  <a:cubicBezTo>
                    <a:pt x="1636397" y="29813"/>
                    <a:pt x="1642935" y="45596"/>
                    <a:pt x="1642935" y="62054"/>
                  </a:cubicBezTo>
                  <a:lnTo>
                    <a:pt x="1642935" y="464582"/>
                  </a:lnTo>
                  <a:cubicBezTo>
                    <a:pt x="1642935" y="498853"/>
                    <a:pt x="1615152" y="526636"/>
                    <a:pt x="1580881" y="526636"/>
                  </a:cubicBezTo>
                  <a:lnTo>
                    <a:pt x="62054" y="526636"/>
                  </a:lnTo>
                  <a:cubicBezTo>
                    <a:pt x="27783" y="526636"/>
                    <a:pt x="0" y="498853"/>
                    <a:pt x="0" y="464582"/>
                  </a:cubicBezTo>
                  <a:lnTo>
                    <a:pt x="0" y="62054"/>
                  </a:lnTo>
                  <a:cubicBezTo>
                    <a:pt x="0" y="27783"/>
                    <a:pt x="27783" y="0"/>
                    <a:pt x="62054" y="0"/>
                  </a:cubicBezTo>
                  <a:close/>
                </a:path>
              </a:pathLst>
            </a:custGeom>
            <a:solidFill>
              <a:srgbClr val="0031BB"/>
            </a:solidFill>
          </p:spPr>
          <p:txBody>
            <a:bodyPr/>
            <a:lstStyle/>
            <a:p>
              <a:endParaRPr lang="en-US">
                <a:latin typeface="Segoe UI" panose="020B0502040204020203" pitchFamily="34" charset="0"/>
                <a:cs typeface="Segoe UI" panose="020B0502040204020203" pitchFamily="34" charset="0"/>
              </a:endParaRPr>
            </a:p>
          </p:txBody>
        </p:sp>
        <p:sp>
          <p:nvSpPr>
            <p:cNvPr id="6" name="TextBox 6"/>
            <p:cNvSpPr txBox="1"/>
            <p:nvPr/>
          </p:nvSpPr>
          <p:spPr>
            <a:xfrm>
              <a:off x="0" y="-38100"/>
              <a:ext cx="1642935" cy="564736"/>
            </a:xfrm>
            <a:prstGeom prst="rect">
              <a:avLst/>
            </a:prstGeom>
          </p:spPr>
          <p:txBody>
            <a:bodyPr lIns="50800" tIns="50800" rIns="50800" bIns="50800" rtlCol="0" anchor="ctr"/>
            <a:lstStyle/>
            <a:p>
              <a:pPr algn="ctr">
                <a:lnSpc>
                  <a:spcPts val="2659"/>
                </a:lnSpc>
              </a:pPr>
              <a:endParaRPr>
                <a:latin typeface="Segoe UI" panose="020B0502040204020203" pitchFamily="34" charset="0"/>
                <a:cs typeface="Segoe UI" panose="020B0502040204020203" pitchFamily="34" charset="0"/>
              </a:endParaRPr>
            </a:p>
          </p:txBody>
        </p:sp>
      </p:grpSp>
      <p:sp>
        <p:nvSpPr>
          <p:cNvPr id="7" name="TextBox 7"/>
          <p:cNvSpPr txBox="1"/>
          <p:nvPr/>
        </p:nvSpPr>
        <p:spPr>
          <a:xfrm>
            <a:off x="13635474" y="1000125"/>
            <a:ext cx="3623826" cy="330200"/>
          </a:xfrm>
          <a:prstGeom prst="rect">
            <a:avLst/>
          </a:prstGeom>
        </p:spPr>
        <p:txBody>
          <a:bodyPr lIns="0" tIns="0" rIns="0" bIns="0" rtlCol="0" anchor="t">
            <a:spAutoFit/>
          </a:bodyPr>
          <a:lstStyle/>
          <a:p>
            <a:pPr algn="r" rtl="1">
              <a:lnSpc>
                <a:spcPts val="2799"/>
              </a:lnSpc>
              <a:spcBef>
                <a:spcPct val="0"/>
              </a:spcBef>
            </a:pPr>
            <a:r>
              <a:rPr lang="ar-EG" sz="1999" b="1">
                <a:solidFill>
                  <a:srgbClr val="0031BB"/>
                </a:solidFill>
                <a:latin typeface="Segoe UI" panose="020B0502040204020203" pitchFamily="34" charset="0"/>
                <a:ea typeface="Playfair Display Bold"/>
                <a:cs typeface="Segoe UI" panose="020B0502040204020203" pitchFamily="34" charset="0"/>
                <a:sym typeface="Playfair Display Bold"/>
                <a:rtl/>
              </a:rPr>
              <a:t>صفحة  </a:t>
            </a:r>
            <a:r>
              <a:rPr lang="en-US" sz="1999" b="1">
                <a:solidFill>
                  <a:srgbClr val="0031BB"/>
                </a:solidFill>
                <a:latin typeface="Segoe UI" panose="020B0502040204020203" pitchFamily="34" charset="0"/>
                <a:ea typeface="Playfair Display Bold"/>
                <a:cs typeface="Segoe UI" panose="020B0502040204020203" pitchFamily="34" charset="0"/>
                <a:sym typeface="Playfair Display Bold"/>
              </a:rPr>
              <a:t>16</a:t>
            </a:r>
          </a:p>
        </p:txBody>
      </p:sp>
      <p:grpSp>
        <p:nvGrpSpPr>
          <p:cNvPr id="8" name="Group 8"/>
          <p:cNvGrpSpPr/>
          <p:nvPr/>
        </p:nvGrpSpPr>
        <p:grpSpPr>
          <a:xfrm>
            <a:off x="6621697" y="6862874"/>
            <a:ext cx="4508887" cy="1727410"/>
            <a:chOff x="0" y="-104775"/>
            <a:chExt cx="6011849" cy="2303213"/>
          </a:xfrm>
        </p:grpSpPr>
        <p:sp>
          <p:nvSpPr>
            <p:cNvPr id="9" name="TextBox 9"/>
            <p:cNvSpPr txBox="1"/>
            <p:nvPr/>
          </p:nvSpPr>
          <p:spPr>
            <a:xfrm>
              <a:off x="134292" y="-104775"/>
              <a:ext cx="5743264" cy="1168694"/>
            </a:xfrm>
            <a:prstGeom prst="rect">
              <a:avLst/>
            </a:prstGeom>
          </p:spPr>
          <p:txBody>
            <a:bodyPr lIns="0" tIns="0" rIns="0" bIns="0" rtlCol="0" anchor="t">
              <a:spAutoFit/>
            </a:bodyPr>
            <a:lstStyle/>
            <a:p>
              <a:pPr algn="ctr">
                <a:lnSpc>
                  <a:spcPts val="7425"/>
                </a:lnSpc>
                <a:spcBef>
                  <a:spcPct val="0"/>
                </a:spcBef>
              </a:pPr>
              <a:r>
                <a:rPr lang="en-US" sz="5303" b="1">
                  <a:solidFill>
                    <a:srgbClr val="F0F0F0"/>
                  </a:solidFill>
                  <a:latin typeface="Segoe UI" panose="020B0502040204020203" pitchFamily="34" charset="0"/>
                  <a:ea typeface="Playfair Display Bold"/>
                  <a:cs typeface="Segoe UI" panose="020B0502040204020203" pitchFamily="34" charset="0"/>
                  <a:sym typeface="Playfair Display Bold"/>
                </a:rPr>
                <a:t>Q&amp;A</a:t>
              </a:r>
            </a:p>
          </p:txBody>
        </p:sp>
        <p:sp>
          <p:nvSpPr>
            <p:cNvPr id="10" name="TextBox 10"/>
            <p:cNvSpPr txBox="1"/>
            <p:nvPr/>
          </p:nvSpPr>
          <p:spPr>
            <a:xfrm>
              <a:off x="0" y="1256726"/>
              <a:ext cx="6011849" cy="941712"/>
            </a:xfrm>
            <a:prstGeom prst="rect">
              <a:avLst/>
            </a:prstGeom>
          </p:spPr>
          <p:txBody>
            <a:bodyPr lIns="0" tIns="0" rIns="0" bIns="0" rtlCol="0" anchor="t">
              <a:spAutoFit/>
            </a:bodyPr>
            <a:lstStyle/>
            <a:p>
              <a:pPr algn="ctr">
                <a:lnSpc>
                  <a:spcPts val="6848"/>
                </a:lnSpc>
                <a:spcBef>
                  <a:spcPct val="0"/>
                </a:spcBef>
              </a:pPr>
              <a:endParaRPr>
                <a:latin typeface="Segoe UI" panose="020B0502040204020203" pitchFamily="34" charset="0"/>
                <a:cs typeface="Segoe UI" panose="020B0502040204020203" pitchFamily="34" charset="0"/>
              </a:endParaRPr>
            </a:p>
          </p:txBody>
        </p:sp>
      </p:grpSp>
      <p:sp>
        <p:nvSpPr>
          <p:cNvPr id="11" name="TextBox 11"/>
          <p:cNvSpPr txBox="1"/>
          <p:nvPr/>
        </p:nvSpPr>
        <p:spPr>
          <a:xfrm>
            <a:off x="8340736" y="2856441"/>
            <a:ext cx="8931558" cy="1813175"/>
          </a:xfrm>
          <a:prstGeom prst="rect">
            <a:avLst/>
          </a:prstGeom>
        </p:spPr>
        <p:txBody>
          <a:bodyPr lIns="0" tIns="0" rIns="0" bIns="0" rtlCol="0" anchor="t">
            <a:spAutoFit/>
          </a:bodyPr>
          <a:lstStyle/>
          <a:p>
            <a:pPr algn="r" rtl="1">
              <a:lnSpc>
                <a:spcPts val="13802"/>
              </a:lnSpc>
            </a:pPr>
            <a:r>
              <a:rPr lang="ar-EG" sz="12899" b="1">
                <a:solidFill>
                  <a:srgbClr val="0031BB"/>
                </a:solidFill>
                <a:latin typeface="Segoe UI" panose="020B0502040204020203" pitchFamily="34" charset="0"/>
                <a:ea typeface="Playfair Display Bold"/>
                <a:cs typeface="Segoe UI" panose="020B0502040204020203" pitchFamily="34" charset="0"/>
                <a:sym typeface="Playfair Display Bold"/>
                <a:rtl/>
              </a:rPr>
              <a:t>شكرًا جزيلًا</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TotalTime>
  <Words>1234</Words>
  <Application>Microsoft Office PowerPoint</Application>
  <PresentationFormat>Custom</PresentationFormat>
  <Paragraphs>117</Paragraphs>
  <Slides>16</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16</vt:i4>
      </vt:variant>
    </vt:vector>
  </HeadingPairs>
  <TitlesOfParts>
    <vt:vector size="25" baseType="lpstr">
      <vt:lpstr>Segoe UI Semibold</vt:lpstr>
      <vt:lpstr>Calibri</vt:lpstr>
      <vt:lpstr>Playfair Display Medium</vt:lpstr>
      <vt:lpstr>Arial</vt:lpstr>
      <vt:lpstr>Dubai</vt:lpstr>
      <vt:lpstr>Playfair Display Bold</vt:lpstr>
      <vt:lpstr>Segoe UI</vt:lpstr>
      <vt:lpstr>Playfair Display</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عرض تقديمي ازرق وابيض تصميم احترافي وحديث لخطة تسويق</dc:title>
  <cp:lastModifiedBy>Heba fouad</cp:lastModifiedBy>
  <cp:revision>4</cp:revision>
  <dcterms:created xsi:type="dcterms:W3CDTF">2006-08-16T00:00:00Z</dcterms:created>
  <dcterms:modified xsi:type="dcterms:W3CDTF">2025-12-04T20:50:41Z</dcterms:modified>
  <dc:identifier>DAG6kFQujYI</dc:identifier>
</cp:coreProperties>
</file>